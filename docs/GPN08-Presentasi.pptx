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Perkenalkan GPN 08 sebagai organisasi kemasyarakatan berjenjang, lalu sampaikan bahwa hari ini kita memperlihatkan platform digital yang menyatukan data organisasi, peta titik layanan CPSS, dan alur persetujuan dalam satu sistem. Demo dapat dibuka langsung di ahyo.github.io/gpn08.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alur presentasi: masalah, organisasi, produk, alur kerja, teknologi, dan langkah berikutnya.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empat masalah. Hindari menyebut angka yang belum diverifikasi; fokus pada kebutuhan akan jejak status, satu peta resmi, dan kewenangan yang tegas.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Bacakan visi, lalu empat pilar. Ingatkan audiens bahwa konten profil di demo adalah contoh yang akan diganti dengan dokumen resmi AD/ART.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pembagian peran. Kalimat kunci: DPD mengusulkan, DPW memverifikasi, DPP menyetujui. Struktur ini yang nanti ditegakkan oleh sistem.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modul dalam satu aplikasi dan satu basis data. Sebutkan bahwa hak akses menyesuaikan jenjang pengguna.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inti presentasi. Buka halaman /cpss secara langsung jika memungkinkan. Kalimat kunci: tidak ada satu pun titik yang bisa tampil di sini tanpa verifikasi DPW dan persetujuan DPP.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Peragakan: klik penanda untuk membuka popup, pilih pulau Jawa, lalu ganti ke peta satelit.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kunci. Jelaskan empat tahap dan status di tiap tahap. Tekankan bahwa aturan ditegakkan dua lapis: menu disembunyikan di antarmuka, dan server menolak tindakan di luar kewenangan.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Masuk sebagai kota@gpn08.id. Tunjukkan sidebar DPD tidak memiliki menu verifikasi maupun persetujuan. Isi formulir dan klik peta untuk menentukan koordinat.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Masuk sebagai provinsi@gpn08.id lalu pusat@gpn08.id. Tunjukkan lencana notifikasi, buka detail titik, dan setujui. Setelah itu buka /cpss: titik sudah tampil.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Hubungkan dengan demo: menu yang tidak berwenang tidak muncul, dan server juga menolak tindakan tersebut.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validasi dengan menekan Lanjutkan saat kolom kosong. Pendaftaran tidak dipungut biaya.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Jika sempat, buka demo langsung dari ponsel audiens melalui tautan ahyo.github.io/gpn08.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Sederhanakan untuk audiens non-teknis: saat ini demo berjalan tanpa server. Untuk dipakai sungguhan, backend dan database yang sudah dibuat tinggal dinyalakan.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Angka di slide ini adalah hasil pengujian nyata terhadap aplikasi, bukan data ilustrasi.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Minta keputusan: kapan tahap produksi dimulai, siapa admin di DPP dan DPW, serta kesiapan data resmi pengurus dan titik.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tiga kata kunci: satu data, satu peta, satu alur persetujuan. Bagikan tautan demo dan akun untuk dicoba audiens.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A36"/>
        </a:solidFill>
        <a:effectLst/>
      </p:bgPr>
    </p:bg>
    <p:spTree>
      <p:nvGrpSpPr>
        <p:cNvPr id="1" name=""/>
        <p:cNvGrpSpPr/>
        <p:nvPr/>
      </p:nvGrpSpPr>
      <p:grpSpPr/>
      <p:sp>
        <p:nvSpPr>
          <p:cNvPr id="2" name="Oval 1"/>
          <p:cNvSpPr/>
          <p:nvPr/>
        </p:nvSpPr>
        <p:spPr>
          <a:xfrm>
            <a:off x="-1651000" y="-1905000"/>
            <a:ext cx="5715000" cy="5715000"/>
          </a:xfrm>
          <a:prstGeom prst="ellipse">
            <a:avLst/>
          </a:prstGeom>
          <a:solidFill>
            <a:srgbClr val="E0172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763000" y="3937000"/>
            <a:ext cx="5080000" cy="5080000"/>
          </a:xfrm>
          <a:prstGeom prst="ellipse">
            <a:avLst/>
          </a:prstGeom>
          <a:solidFill>
            <a:srgbClr val="0EA5E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reeform 3"/>
          <p:cNvSpPr/>
          <p:nvPr/>
        </p:nvSpPr>
        <p:spPr>
          <a:xfrm>
            <a:off x="660400" y="558800"/>
            <a:ext cx="304800" cy="355600"/>
          </a:xfrm>
          <a:custGeom>
            <a:avLst/>
            <a:gdLst/>
            <a:ahLst/>
            <a:cxnLst/>
            <a:rect l="l" t="t" r="r" b="b"/>
            <a:pathLst>
              <a:path w="304800" h="355600">
                <a:moveTo>
                  <a:pt x="152400" y="0"/>
                </a:moveTo>
                <a:lnTo>
                  <a:pt x="304800" y="55880"/>
                </a:lnTo>
                <a:lnTo>
                  <a:pt x="304800" y="165100"/>
                </a:lnTo>
                <a:lnTo>
                  <a:pt x="287867" y="237067"/>
                </a:lnTo>
                <a:lnTo>
                  <a:pt x="237067" y="304800"/>
                </a:lnTo>
                <a:lnTo>
                  <a:pt x="152400" y="355600"/>
                </a:lnTo>
                <a:lnTo>
                  <a:pt x="67733" y="304800"/>
                </a:lnTo>
                <a:lnTo>
                  <a:pt x="16933" y="237067"/>
                </a:lnTo>
                <a:lnTo>
                  <a:pt x="0" y="165100"/>
                </a:lnTo>
                <a:lnTo>
                  <a:pt x="0" y="55880"/>
                </a:lnTo>
                <a:close/>
              </a:path>
            </a:pathLst>
          </a:cu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753533" y="639233"/>
            <a:ext cx="116840" cy="194734"/>
          </a:xfrm>
          <a:custGeom>
            <a:avLst/>
            <a:gdLst/>
            <a:ahLst/>
            <a:cxnLst/>
            <a:rect l="l" t="t" r="r" b="b"/>
            <a:pathLst>
              <a:path w="116840" h="194734">
                <a:moveTo>
                  <a:pt x="75354" y="0"/>
                </a:moveTo>
                <a:lnTo>
                  <a:pt x="0" y="115994"/>
                </a:lnTo>
                <a:lnTo>
                  <a:pt x="49954" y="115994"/>
                </a:lnTo>
                <a:lnTo>
                  <a:pt x="39794" y="194734"/>
                </a:lnTo>
                <a:lnTo>
                  <a:pt x="116840" y="74507"/>
                </a:lnTo>
                <a:lnTo>
                  <a:pt x="64347" y="74507"/>
                </a:lnTo>
                <a:close/>
              </a:path>
            </a:pathLst>
          </a:cu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17600" y="571500"/>
            <a:ext cx="25400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FFFFFF"/>
                </a:solidFill>
                <a:latin typeface="Arial"/>
              </a:rPr>
              <a:t>GPN 08</a:t>
            </a:r>
          </a:p>
        </p:txBody>
      </p:sp>
      <p:sp>
        <p:nvSpPr>
          <p:cNvPr id="7" name="TextBox 6"/>
          <p:cNvSpPr txBox="1"/>
          <p:nvPr/>
        </p:nvSpPr>
        <p:spPr>
          <a:xfrm>
            <a:off x="1117600" y="812800"/>
            <a:ext cx="3175000" cy="168275"/>
          </a:xfrm>
          <a:prstGeom prst="rect">
            <a:avLst/>
          </a:prstGeom>
          <a:noFill/>
        </p:spPr>
        <p:txBody>
          <a:bodyPr wrap="none" anchor="t" lIns="0" rIns="0" tIns="0" bIns="0">
            <a:noAutofit/>
          </a:bodyPr>
          <a:lstStyle/>
          <a:p>
            <a:pPr algn="l">
              <a:lnSpc>
                <a:spcPts val="1125"/>
              </a:lnSpc>
              <a:spcBef>
                <a:spcPts val="0"/>
              </a:spcBef>
              <a:spcAft>
                <a:spcPts val="0"/>
              </a:spcAft>
            </a:pPr>
            <a:r>
              <a:rPr sz="900" b="1">
                <a:solidFill>
                  <a:srgbClr val="8A9AB5"/>
                </a:solidFill>
                <a:latin typeface="Arial"/>
              </a:rPr>
              <a:t>GERAKAN PERSATUAN NASIONAL</a:t>
            </a:r>
          </a:p>
        </p:txBody>
      </p:sp>
      <p:sp>
        <p:nvSpPr>
          <p:cNvPr id="8" name="Rounded Rectangle 7"/>
          <p:cNvSpPr/>
          <p:nvPr/>
        </p:nvSpPr>
        <p:spPr>
          <a:xfrm>
            <a:off x="609600" y="1905000"/>
            <a:ext cx="2270621" cy="215900"/>
          </a:xfrm>
          <a:prstGeom prst="roundRect">
            <a:avLst>
              <a:gd name="adj" fmla="val 50000"/>
            </a:avLst>
          </a:prstGeom>
          <a:solidFill>
            <a:srgbClr val="1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1933575"/>
            <a:ext cx="2270621" cy="184150"/>
          </a:xfrm>
          <a:prstGeom prst="rect">
            <a:avLst/>
          </a:prstGeom>
          <a:noFill/>
        </p:spPr>
        <p:txBody>
          <a:bodyPr wrap="none" anchor="t" lIns="0" rIns="0" tIns="0" bIns="0">
            <a:noAutofit/>
          </a:bodyPr>
          <a:lstStyle/>
          <a:p>
            <a:pPr algn="ctr">
              <a:lnSpc>
                <a:spcPts val="1250"/>
              </a:lnSpc>
              <a:spcBef>
                <a:spcPts val="0"/>
              </a:spcBef>
              <a:spcAft>
                <a:spcPts val="0"/>
              </a:spcAft>
            </a:pPr>
            <a:r>
              <a:rPr sz="1000" b="1">
                <a:solidFill>
                  <a:srgbClr val="F5C451"/>
                </a:solidFill>
                <a:latin typeface="Arial"/>
              </a:rPr>
              <a:t>PRESENTASI PLATFORM DIGITAL</a:t>
            </a:r>
          </a:p>
        </p:txBody>
      </p:sp>
      <p:sp>
        <p:nvSpPr>
          <p:cNvPr id="10" name="TextBox 9"/>
          <p:cNvSpPr txBox="1"/>
          <p:nvPr/>
        </p:nvSpPr>
        <p:spPr>
          <a:xfrm>
            <a:off x="609600" y="2362200"/>
            <a:ext cx="5588000" cy="640080"/>
          </a:xfrm>
          <a:prstGeom prst="rect">
            <a:avLst/>
          </a:prstGeom>
          <a:noFill/>
        </p:spPr>
        <p:txBody>
          <a:bodyPr wrap="none" anchor="t" lIns="0" rIns="0" tIns="0" bIns="0">
            <a:noAutofit/>
          </a:bodyPr>
          <a:lstStyle/>
          <a:p>
            <a:pPr algn="l">
              <a:lnSpc>
                <a:spcPts val="4840"/>
              </a:lnSpc>
              <a:spcBef>
                <a:spcPts val="0"/>
              </a:spcBef>
              <a:spcAft>
                <a:spcPts val="0"/>
              </a:spcAft>
            </a:pPr>
            <a:r>
              <a:rPr sz="4400" b="1">
                <a:solidFill>
                  <a:srgbClr val="FFFFFF"/>
                </a:solidFill>
                <a:latin typeface="Arial"/>
              </a:rPr>
              <a:t>Satu Gerakan,</a:t>
            </a:r>
          </a:p>
        </p:txBody>
      </p:sp>
      <p:sp>
        <p:nvSpPr>
          <p:cNvPr id="11" name="TextBox 10"/>
          <p:cNvSpPr txBox="1"/>
          <p:nvPr/>
        </p:nvSpPr>
        <p:spPr>
          <a:xfrm>
            <a:off x="609600" y="2978150"/>
            <a:ext cx="5588000" cy="640080"/>
          </a:xfrm>
          <a:prstGeom prst="rect">
            <a:avLst/>
          </a:prstGeom>
          <a:noFill/>
        </p:spPr>
        <p:txBody>
          <a:bodyPr wrap="none" anchor="t" lIns="0" rIns="0" tIns="0" bIns="0">
            <a:noAutofit/>
          </a:bodyPr>
          <a:lstStyle/>
          <a:p>
            <a:pPr algn="l">
              <a:lnSpc>
                <a:spcPts val="4840"/>
              </a:lnSpc>
              <a:spcBef>
                <a:spcPts val="0"/>
              </a:spcBef>
              <a:spcAft>
                <a:spcPts val="0"/>
              </a:spcAft>
            </a:pPr>
            <a:r>
              <a:rPr sz="4400" b="1">
                <a:solidFill>
                  <a:srgbClr val="FFFFFF"/>
                </a:solidFill>
                <a:latin typeface="Arial"/>
              </a:rPr>
              <a:t>Satu Data,</a:t>
            </a:r>
          </a:p>
        </p:txBody>
      </p:sp>
      <p:sp>
        <p:nvSpPr>
          <p:cNvPr id="12" name="TextBox 11"/>
          <p:cNvSpPr txBox="1"/>
          <p:nvPr/>
        </p:nvSpPr>
        <p:spPr>
          <a:xfrm>
            <a:off x="609600" y="3594100"/>
            <a:ext cx="5588000" cy="640080"/>
          </a:xfrm>
          <a:prstGeom prst="rect">
            <a:avLst/>
          </a:prstGeom>
          <a:noFill/>
        </p:spPr>
        <p:txBody>
          <a:bodyPr wrap="none" anchor="t" lIns="0" rIns="0" tIns="0" bIns="0">
            <a:noAutofit/>
          </a:bodyPr>
          <a:lstStyle/>
          <a:p>
            <a:pPr algn="l">
              <a:lnSpc>
                <a:spcPts val="4840"/>
              </a:lnSpc>
              <a:spcBef>
                <a:spcPts val="0"/>
              </a:spcBef>
              <a:spcAft>
                <a:spcPts val="0"/>
              </a:spcAft>
            </a:pPr>
            <a:r>
              <a:rPr sz="4400" b="1">
                <a:solidFill>
                  <a:srgbClr val="E01729"/>
                </a:solidFill>
                <a:latin typeface="Arial"/>
              </a:rPr>
              <a:t>Satu Peta Nasional.</a:t>
            </a:r>
          </a:p>
        </p:txBody>
      </p:sp>
      <p:sp>
        <p:nvSpPr>
          <p:cNvPr id="13" name="TextBox 12"/>
          <p:cNvSpPr txBox="1"/>
          <p:nvPr/>
        </p:nvSpPr>
        <p:spPr>
          <a:xfrm>
            <a:off x="609600" y="4470400"/>
            <a:ext cx="5080000" cy="878840"/>
          </a:xfrm>
          <a:prstGeom prst="rect">
            <a:avLst/>
          </a:prstGeom>
          <a:noFill/>
        </p:spPr>
        <p:txBody>
          <a:bodyPr wrap="none" anchor="t" lIns="0" rIns="0" tIns="0" bIns="0">
            <a:noAutofit/>
          </a:bodyPr>
          <a:lstStyle/>
          <a:p>
            <a:pPr algn="l">
              <a:lnSpc>
                <a:spcPts val="2240"/>
              </a:lnSpc>
              <a:spcBef>
                <a:spcPts val="0"/>
              </a:spcBef>
              <a:spcAft>
                <a:spcPts val="0"/>
              </a:spcAft>
            </a:pPr>
            <a:r>
              <a:rPr sz="1600" b="0">
                <a:solidFill>
                  <a:srgbClr val="B8C4D8"/>
                </a:solidFill>
                <a:latin typeface="Arial"/>
              </a:rPr>
              <a:t>Portal organisasi dan Dashboard Charging Point</a:t>
            </a:r>
          </a:p>
          <a:p>
            <a:pPr algn="l">
              <a:lnSpc>
                <a:spcPts val="2240"/>
              </a:lnSpc>
              <a:spcBef>
                <a:spcPts val="0"/>
              </a:spcBef>
              <a:spcAft>
                <a:spcPts val="0"/>
              </a:spcAft>
            </a:pPr>
            <a:r>
              <a:rPr sz="1600" b="0">
                <a:solidFill>
                  <a:srgbClr val="B8C4D8"/>
                </a:solidFill>
                <a:latin typeface="Arial"/>
              </a:rPr>
              <a:t>Service System (CPSS) dengan persetujuan</a:t>
            </a:r>
          </a:p>
          <a:p>
            <a:pPr algn="l">
              <a:lnSpc>
                <a:spcPts val="2240"/>
              </a:lnSpc>
              <a:spcBef>
                <a:spcPts val="0"/>
              </a:spcBef>
              <a:spcAft>
                <a:spcPts val="0"/>
              </a:spcAft>
            </a:pPr>
            <a:r>
              <a:rPr sz="1600" b="0">
                <a:solidFill>
                  <a:srgbClr val="B8C4D8"/>
                </a:solidFill>
                <a:latin typeface="Arial"/>
              </a:rPr>
              <a:t>berjenjang DPD → DPW → DPP.</a:t>
            </a:r>
          </a:p>
        </p:txBody>
      </p:sp>
      <p:cxnSp>
        <p:nvCxnSpPr>
          <p:cNvPr id="14" name="Connector 13"/>
          <p:cNvCxnSpPr/>
          <p:nvPr/>
        </p:nvCxnSpPr>
        <p:spPr>
          <a:xfrm>
            <a:off x="609600" y="5588000"/>
            <a:ext cx="4953000" cy="0"/>
          </a:xfrm>
          <a:prstGeom prst="line">
            <a:avLst/>
          </a:prstGeom>
          <a:ln w="12700">
            <a:solidFill>
              <a:srgbClr val="1D3B6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600" y="5740400"/>
            <a:ext cx="3175000" cy="184150"/>
          </a:xfrm>
          <a:prstGeom prst="rect">
            <a:avLst/>
          </a:prstGeom>
          <a:noFill/>
        </p:spPr>
        <p:txBody>
          <a:bodyPr wrap="none" anchor="t" lIns="0" rIns="0" tIns="0" bIns="0">
            <a:noAutofit/>
          </a:bodyPr>
          <a:lstStyle/>
          <a:p>
            <a:pPr algn="l">
              <a:lnSpc>
                <a:spcPts val="1250"/>
              </a:lnSpc>
              <a:spcBef>
                <a:spcPts val="0"/>
              </a:spcBef>
              <a:spcAft>
                <a:spcPts val="0"/>
              </a:spcAft>
            </a:pPr>
            <a:r>
              <a:rPr sz="1000" b="0">
                <a:solidFill>
                  <a:srgbClr val="8A9AB5"/>
                </a:solidFill>
                <a:latin typeface="Arial"/>
              </a:rPr>
              <a:t>Demo langsung</a:t>
            </a:r>
          </a:p>
        </p:txBody>
      </p:sp>
      <p:sp>
        <p:nvSpPr>
          <p:cNvPr id="16" name="TextBox 15"/>
          <p:cNvSpPr txBox="1"/>
          <p:nvPr/>
        </p:nvSpPr>
        <p:spPr>
          <a:xfrm>
            <a:off x="609600" y="5918200"/>
            <a:ext cx="3175000" cy="263525"/>
          </a:xfrm>
          <a:prstGeom prst="rect">
            <a:avLst/>
          </a:prstGeom>
          <a:noFill/>
        </p:spPr>
        <p:txBody>
          <a:bodyPr wrap="none" anchor="t" lIns="0" rIns="0" tIns="0" bIns="0">
            <a:noAutofit/>
          </a:bodyPr>
          <a:lstStyle/>
          <a:p>
            <a:pPr algn="l">
              <a:lnSpc>
                <a:spcPts val="1875"/>
              </a:lnSpc>
              <a:spcBef>
                <a:spcPts val="0"/>
              </a:spcBef>
              <a:spcAft>
                <a:spcPts val="0"/>
              </a:spcAft>
            </a:pPr>
            <a:r>
              <a:rPr sz="1500" b="1">
                <a:solidFill>
                  <a:srgbClr val="FFFFFF"/>
                </a:solidFill>
                <a:latin typeface="Arial"/>
              </a:rPr>
              <a:t>ahyo.github.io/gpn08</a:t>
            </a:r>
          </a:p>
        </p:txBody>
      </p:sp>
      <p:sp>
        <p:nvSpPr>
          <p:cNvPr id="17" name="TextBox 16"/>
          <p:cNvSpPr txBox="1"/>
          <p:nvPr/>
        </p:nvSpPr>
        <p:spPr>
          <a:xfrm>
            <a:off x="3403600" y="5740400"/>
            <a:ext cx="2667000" cy="184150"/>
          </a:xfrm>
          <a:prstGeom prst="rect">
            <a:avLst/>
          </a:prstGeom>
          <a:noFill/>
        </p:spPr>
        <p:txBody>
          <a:bodyPr wrap="none" anchor="t" lIns="0" rIns="0" tIns="0" bIns="0">
            <a:noAutofit/>
          </a:bodyPr>
          <a:lstStyle/>
          <a:p>
            <a:pPr algn="l">
              <a:lnSpc>
                <a:spcPts val="1250"/>
              </a:lnSpc>
              <a:spcBef>
                <a:spcPts val="0"/>
              </a:spcBef>
              <a:spcAft>
                <a:spcPts val="0"/>
              </a:spcAft>
            </a:pPr>
            <a:r>
              <a:rPr sz="1000" b="0">
                <a:solidFill>
                  <a:srgbClr val="8A9AB5"/>
                </a:solidFill>
                <a:latin typeface="Arial"/>
              </a:rPr>
              <a:t>Versi</a:t>
            </a:r>
          </a:p>
        </p:txBody>
      </p:sp>
      <p:sp>
        <p:nvSpPr>
          <p:cNvPr id="18" name="TextBox 17"/>
          <p:cNvSpPr txBox="1"/>
          <p:nvPr/>
        </p:nvSpPr>
        <p:spPr>
          <a:xfrm>
            <a:off x="3403600" y="5918200"/>
            <a:ext cx="2667000" cy="263525"/>
          </a:xfrm>
          <a:prstGeom prst="rect">
            <a:avLst/>
          </a:prstGeom>
          <a:noFill/>
        </p:spPr>
        <p:txBody>
          <a:bodyPr wrap="none" anchor="t" lIns="0" rIns="0" tIns="0" bIns="0">
            <a:noAutofit/>
          </a:bodyPr>
          <a:lstStyle/>
          <a:p>
            <a:pPr algn="l">
              <a:lnSpc>
                <a:spcPts val="1875"/>
              </a:lnSpc>
              <a:spcBef>
                <a:spcPts val="0"/>
              </a:spcBef>
              <a:spcAft>
                <a:spcPts val="0"/>
              </a:spcAft>
            </a:pPr>
            <a:r>
              <a:rPr sz="1500" b="1">
                <a:solidFill>
                  <a:srgbClr val="FFFFFF"/>
                </a:solidFill>
                <a:latin typeface="Arial"/>
              </a:rPr>
              <a:t>Demo · September 2026</a:t>
            </a:r>
          </a:p>
        </p:txBody>
      </p:sp>
      <p:sp>
        <p:nvSpPr>
          <p:cNvPr id="19" name="Rounded Rectangle 18"/>
          <p:cNvSpPr/>
          <p:nvPr/>
        </p:nvSpPr>
        <p:spPr>
          <a:xfrm>
            <a:off x="6407150" y="1454150"/>
            <a:ext cx="5181600" cy="3441700"/>
          </a:xfrm>
          <a:prstGeom prst="roundRect">
            <a:avLst>
              <a:gd name="adj" fmla="val 2583"/>
            </a:avLst>
          </a:prstGeom>
          <a:solidFill>
            <a:srgbClr val="1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13500" y="1460500"/>
            <a:ext cx="5168900" cy="304800"/>
          </a:xfrm>
          <a:prstGeom prst="roundRect">
            <a:avLst>
              <a:gd name="adj" fmla="val 27083"/>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13500" y="1663700"/>
            <a:ext cx="5168900" cy="101600"/>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515100" y="1536700"/>
            <a:ext cx="63500" cy="63500"/>
          </a:xfrm>
          <a:prstGeom prst="ellipse">
            <a:avLst/>
          </a:prstGeom>
          <a:solidFill>
            <a:srgbClr val="FF6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629400" y="1536700"/>
            <a:ext cx="63500" cy="635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743700" y="1536700"/>
            <a:ext cx="63500" cy="63500"/>
          </a:xfrm>
          <a:prstGeom prst="ellipse">
            <a:avLst/>
          </a:prstGeom>
          <a:solidFill>
            <a:srgbClr val="28C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59600" y="1504950"/>
            <a:ext cx="2286000" cy="127000"/>
          </a:xfrm>
          <a:prstGeom prst="roundRect">
            <a:avLst>
              <a:gd name="adj" fmla="val 50000"/>
            </a:avLst>
          </a:prstGeom>
          <a:solidFill>
            <a:srgbClr val="1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35800" y="1517650"/>
            <a:ext cx="2159000" cy="144462"/>
          </a:xfrm>
          <a:prstGeom prst="rect">
            <a:avLst/>
          </a:prstGeom>
          <a:noFill/>
        </p:spPr>
        <p:txBody>
          <a:bodyPr wrap="none" anchor="t" lIns="0" rIns="0" tIns="0" bIns="0">
            <a:noAutofit/>
          </a:bodyPr>
          <a:lstStyle/>
          <a:p>
            <a:pPr algn="l">
              <a:lnSpc>
                <a:spcPts val="937"/>
              </a:lnSpc>
              <a:spcBef>
                <a:spcPts val="0"/>
              </a:spcBef>
              <a:spcAft>
                <a:spcPts val="0"/>
              </a:spcAft>
            </a:pPr>
            <a:r>
              <a:rPr sz="750" b="0">
                <a:solidFill>
                  <a:srgbClr val="8A9AB5"/>
                </a:solidFill>
                <a:latin typeface="Arial"/>
              </a:rPr>
              <a:t>ahyo.github.io/gpn08</a:t>
            </a:r>
          </a:p>
        </p:txBody>
      </p:sp>
      <p:pic>
        <p:nvPicPr>
          <p:cNvPr id="27" name="Picture 26" descr="home_814x506_None_-0-5-0-0-.jpg"/>
          <p:cNvPicPr>
            <a:picLocks noChangeAspect="1"/>
          </p:cNvPicPr>
          <p:nvPr/>
        </p:nvPicPr>
        <p:blipFill>
          <a:blip r:embed="rId2"/>
          <a:stretch>
            <a:fillRect/>
          </a:stretch>
        </p:blipFill>
        <p:spPr>
          <a:xfrm>
            <a:off x="6413500" y="1676400"/>
            <a:ext cx="5168900" cy="32131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AGENDA</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02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Yang akan kita bahas</a:t>
            </a:r>
          </a:p>
        </p:txBody>
      </p:sp>
      <p:sp>
        <p:nvSpPr>
          <p:cNvPr id="7" name="Rounded Rectangle 6"/>
          <p:cNvSpPr/>
          <p:nvPr/>
        </p:nvSpPr>
        <p:spPr>
          <a:xfrm>
            <a:off x="609600" y="1714500"/>
            <a:ext cx="5359400" cy="1206500"/>
          </a:xfrm>
          <a:prstGeom prst="roundRect">
            <a:avLst>
              <a:gd name="adj" fmla="val 9473"/>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3600" y="1993900"/>
            <a:ext cx="698500" cy="596900"/>
          </a:xfrm>
          <a:prstGeom prst="rect">
            <a:avLst/>
          </a:prstGeom>
          <a:noFill/>
        </p:spPr>
        <p:txBody>
          <a:bodyPr wrap="none" anchor="t" lIns="0" rIns="0" tIns="0" bIns="0">
            <a:noAutofit/>
          </a:bodyPr>
          <a:lstStyle/>
          <a:p>
            <a:pPr algn="l">
              <a:lnSpc>
                <a:spcPts val="4500"/>
              </a:lnSpc>
              <a:spcBef>
                <a:spcPts val="0"/>
              </a:spcBef>
              <a:spcAft>
                <a:spcPts val="0"/>
              </a:spcAft>
            </a:pPr>
            <a:r>
              <a:rPr sz="3600" b="1">
                <a:solidFill>
                  <a:srgbClr val="E01729"/>
                </a:solidFill>
                <a:latin typeface="Arial"/>
              </a:rPr>
              <a:t>01</a:t>
            </a:r>
          </a:p>
        </p:txBody>
      </p:sp>
      <p:sp>
        <p:nvSpPr>
          <p:cNvPr id="9" name="TextBox 8"/>
          <p:cNvSpPr txBox="1"/>
          <p:nvPr/>
        </p:nvSpPr>
        <p:spPr>
          <a:xfrm>
            <a:off x="1689100" y="2044700"/>
            <a:ext cx="40259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Tantangan</a:t>
            </a:r>
          </a:p>
        </p:txBody>
      </p:sp>
      <p:sp>
        <p:nvSpPr>
          <p:cNvPr id="10" name="TextBox 9"/>
          <p:cNvSpPr txBox="1"/>
          <p:nvPr/>
        </p:nvSpPr>
        <p:spPr>
          <a:xfrm>
            <a:off x="1689100" y="2362200"/>
            <a:ext cx="4025900" cy="438150"/>
          </a:xfrm>
          <a:prstGeom prst="rect">
            <a:avLst/>
          </a:prstGeom>
          <a:noFill/>
        </p:spPr>
        <p:txBody>
          <a:bodyPr wrap="none" anchor="t" lIns="0" rIns="0" tIns="0" bIns="0">
            <a:noAutofit/>
          </a:bodyPr>
          <a:lstStyle/>
          <a:p>
            <a:pPr algn="l">
              <a:lnSpc>
                <a:spcPts val="1625"/>
              </a:lnSpc>
              <a:spcBef>
                <a:spcPts val="0"/>
              </a:spcBef>
              <a:spcAft>
                <a:spcPts val="0"/>
              </a:spcAft>
            </a:pPr>
            <a:r>
              <a:rPr sz="1300" b="0">
                <a:solidFill>
                  <a:srgbClr val="5B6B85"/>
                </a:solidFill>
                <a:latin typeface="Arial"/>
              </a:rPr>
              <a:t>Mengapa organisasi membutuhkan satu platform</a:t>
            </a:r>
          </a:p>
          <a:p>
            <a:pPr algn="l">
              <a:lnSpc>
                <a:spcPts val="1625"/>
              </a:lnSpc>
              <a:spcBef>
                <a:spcPts val="0"/>
              </a:spcBef>
              <a:spcAft>
                <a:spcPts val="0"/>
              </a:spcAft>
            </a:pPr>
            <a:r>
              <a:rPr sz="1300" b="0">
                <a:solidFill>
                  <a:srgbClr val="5B6B85"/>
                </a:solidFill>
                <a:latin typeface="Arial"/>
              </a:rPr>
              <a:t>terpadu</a:t>
            </a:r>
          </a:p>
        </p:txBody>
      </p:sp>
      <p:sp>
        <p:nvSpPr>
          <p:cNvPr id="11" name="Rounded Rectangle 10"/>
          <p:cNvSpPr/>
          <p:nvPr/>
        </p:nvSpPr>
        <p:spPr>
          <a:xfrm>
            <a:off x="6223000" y="1714500"/>
            <a:ext cx="5359400" cy="1206500"/>
          </a:xfrm>
          <a:prstGeom prst="roundRect">
            <a:avLst>
              <a:gd name="adj" fmla="val 9473"/>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77000" y="1993900"/>
            <a:ext cx="698500" cy="596900"/>
          </a:xfrm>
          <a:prstGeom prst="rect">
            <a:avLst/>
          </a:prstGeom>
          <a:noFill/>
        </p:spPr>
        <p:txBody>
          <a:bodyPr wrap="none" anchor="t" lIns="0" rIns="0" tIns="0" bIns="0">
            <a:noAutofit/>
          </a:bodyPr>
          <a:lstStyle/>
          <a:p>
            <a:pPr algn="l">
              <a:lnSpc>
                <a:spcPts val="4500"/>
              </a:lnSpc>
              <a:spcBef>
                <a:spcPts val="0"/>
              </a:spcBef>
              <a:spcAft>
                <a:spcPts val="0"/>
              </a:spcAft>
            </a:pPr>
            <a:r>
              <a:rPr sz="3600" b="1">
                <a:solidFill>
                  <a:srgbClr val="E01729"/>
                </a:solidFill>
                <a:latin typeface="Arial"/>
              </a:rPr>
              <a:t>02</a:t>
            </a:r>
          </a:p>
        </p:txBody>
      </p:sp>
      <p:sp>
        <p:nvSpPr>
          <p:cNvPr id="13" name="TextBox 12"/>
          <p:cNvSpPr txBox="1"/>
          <p:nvPr/>
        </p:nvSpPr>
        <p:spPr>
          <a:xfrm>
            <a:off x="7302500" y="2044700"/>
            <a:ext cx="40259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Profil &amp; struktur</a:t>
            </a:r>
          </a:p>
        </p:txBody>
      </p:sp>
      <p:sp>
        <p:nvSpPr>
          <p:cNvPr id="14" name="TextBox 13"/>
          <p:cNvSpPr txBox="1"/>
          <p:nvPr/>
        </p:nvSpPr>
        <p:spPr>
          <a:xfrm>
            <a:off x="7302500" y="2362200"/>
            <a:ext cx="4025900" cy="231775"/>
          </a:xfrm>
          <a:prstGeom prst="rect">
            <a:avLst/>
          </a:prstGeom>
          <a:noFill/>
        </p:spPr>
        <p:txBody>
          <a:bodyPr wrap="none" anchor="t" lIns="0" rIns="0" tIns="0" bIns="0">
            <a:noAutofit/>
          </a:bodyPr>
          <a:lstStyle/>
          <a:p>
            <a:pPr algn="l">
              <a:lnSpc>
                <a:spcPts val="1625"/>
              </a:lnSpc>
              <a:spcBef>
                <a:spcPts val="0"/>
              </a:spcBef>
              <a:spcAft>
                <a:spcPts val="0"/>
              </a:spcAft>
            </a:pPr>
            <a:r>
              <a:rPr sz="1300" b="0">
                <a:solidFill>
                  <a:srgbClr val="5B6B85"/>
                </a:solidFill>
                <a:latin typeface="Arial"/>
              </a:rPr>
              <a:t>GPN 08 Pusat, Provinsi, dan Kota/Kabupaten</a:t>
            </a:r>
          </a:p>
        </p:txBody>
      </p:sp>
      <p:sp>
        <p:nvSpPr>
          <p:cNvPr id="15" name="Rounded Rectangle 14"/>
          <p:cNvSpPr/>
          <p:nvPr/>
        </p:nvSpPr>
        <p:spPr>
          <a:xfrm>
            <a:off x="609600" y="3098800"/>
            <a:ext cx="5359400" cy="1206500"/>
          </a:xfrm>
          <a:prstGeom prst="roundRect">
            <a:avLst>
              <a:gd name="adj" fmla="val 9473"/>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3600" y="3378200"/>
            <a:ext cx="698500" cy="596900"/>
          </a:xfrm>
          <a:prstGeom prst="rect">
            <a:avLst/>
          </a:prstGeom>
          <a:noFill/>
        </p:spPr>
        <p:txBody>
          <a:bodyPr wrap="none" anchor="t" lIns="0" rIns="0" tIns="0" bIns="0">
            <a:noAutofit/>
          </a:bodyPr>
          <a:lstStyle/>
          <a:p>
            <a:pPr algn="l">
              <a:lnSpc>
                <a:spcPts val="4500"/>
              </a:lnSpc>
              <a:spcBef>
                <a:spcPts val="0"/>
              </a:spcBef>
              <a:spcAft>
                <a:spcPts val="0"/>
              </a:spcAft>
            </a:pPr>
            <a:r>
              <a:rPr sz="3600" b="1">
                <a:solidFill>
                  <a:srgbClr val="E01729"/>
                </a:solidFill>
                <a:latin typeface="Arial"/>
              </a:rPr>
              <a:t>03</a:t>
            </a:r>
          </a:p>
        </p:txBody>
      </p:sp>
      <p:sp>
        <p:nvSpPr>
          <p:cNvPr id="17" name="TextBox 16"/>
          <p:cNvSpPr txBox="1"/>
          <p:nvPr/>
        </p:nvSpPr>
        <p:spPr>
          <a:xfrm>
            <a:off x="1689100" y="3429000"/>
            <a:ext cx="40259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Dashboard CPSS</a:t>
            </a:r>
          </a:p>
        </p:txBody>
      </p:sp>
      <p:sp>
        <p:nvSpPr>
          <p:cNvPr id="18" name="TextBox 17"/>
          <p:cNvSpPr txBox="1"/>
          <p:nvPr/>
        </p:nvSpPr>
        <p:spPr>
          <a:xfrm>
            <a:off x="1689100" y="3746500"/>
            <a:ext cx="4025900" cy="231775"/>
          </a:xfrm>
          <a:prstGeom prst="rect">
            <a:avLst/>
          </a:prstGeom>
          <a:noFill/>
        </p:spPr>
        <p:txBody>
          <a:bodyPr wrap="none" anchor="t" lIns="0" rIns="0" tIns="0" bIns="0">
            <a:noAutofit/>
          </a:bodyPr>
          <a:lstStyle/>
          <a:p>
            <a:pPr algn="l">
              <a:lnSpc>
                <a:spcPts val="1625"/>
              </a:lnSpc>
              <a:spcBef>
                <a:spcPts val="0"/>
              </a:spcBef>
              <a:spcAft>
                <a:spcPts val="0"/>
              </a:spcAft>
            </a:pPr>
            <a:r>
              <a:rPr sz="1300" b="0">
                <a:solidFill>
                  <a:srgbClr val="5B6B85"/>
                </a:solidFill>
                <a:latin typeface="Arial"/>
              </a:rPr>
              <a:t>Peta nasional titik Charging Point Service System</a:t>
            </a:r>
          </a:p>
        </p:txBody>
      </p:sp>
      <p:sp>
        <p:nvSpPr>
          <p:cNvPr id="19" name="Rounded Rectangle 18"/>
          <p:cNvSpPr/>
          <p:nvPr/>
        </p:nvSpPr>
        <p:spPr>
          <a:xfrm>
            <a:off x="6223000" y="3098800"/>
            <a:ext cx="5359400" cy="1206500"/>
          </a:xfrm>
          <a:prstGeom prst="roundRect">
            <a:avLst>
              <a:gd name="adj" fmla="val 9473"/>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77000" y="3378200"/>
            <a:ext cx="698500" cy="596900"/>
          </a:xfrm>
          <a:prstGeom prst="rect">
            <a:avLst/>
          </a:prstGeom>
          <a:noFill/>
        </p:spPr>
        <p:txBody>
          <a:bodyPr wrap="none" anchor="t" lIns="0" rIns="0" tIns="0" bIns="0">
            <a:noAutofit/>
          </a:bodyPr>
          <a:lstStyle/>
          <a:p>
            <a:pPr algn="l">
              <a:lnSpc>
                <a:spcPts val="4500"/>
              </a:lnSpc>
              <a:spcBef>
                <a:spcPts val="0"/>
              </a:spcBef>
              <a:spcAft>
                <a:spcPts val="0"/>
              </a:spcAft>
            </a:pPr>
            <a:r>
              <a:rPr sz="3600" b="1">
                <a:solidFill>
                  <a:srgbClr val="E01729"/>
                </a:solidFill>
                <a:latin typeface="Arial"/>
              </a:rPr>
              <a:t>04</a:t>
            </a:r>
          </a:p>
        </p:txBody>
      </p:sp>
      <p:sp>
        <p:nvSpPr>
          <p:cNvPr id="21" name="TextBox 20"/>
          <p:cNvSpPr txBox="1"/>
          <p:nvPr/>
        </p:nvSpPr>
        <p:spPr>
          <a:xfrm>
            <a:off x="7302500" y="3429000"/>
            <a:ext cx="40259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Alur persetujuan</a:t>
            </a:r>
          </a:p>
        </p:txBody>
      </p:sp>
      <p:sp>
        <p:nvSpPr>
          <p:cNvPr id="22" name="TextBox 21"/>
          <p:cNvSpPr txBox="1"/>
          <p:nvPr/>
        </p:nvSpPr>
        <p:spPr>
          <a:xfrm>
            <a:off x="7302500" y="3746500"/>
            <a:ext cx="4025900" cy="438150"/>
          </a:xfrm>
          <a:prstGeom prst="rect">
            <a:avLst/>
          </a:prstGeom>
          <a:noFill/>
        </p:spPr>
        <p:txBody>
          <a:bodyPr wrap="none" anchor="t" lIns="0" rIns="0" tIns="0" bIns="0">
            <a:noAutofit/>
          </a:bodyPr>
          <a:lstStyle/>
          <a:p>
            <a:pPr algn="l">
              <a:lnSpc>
                <a:spcPts val="1625"/>
              </a:lnSpc>
              <a:spcBef>
                <a:spcPts val="0"/>
              </a:spcBef>
              <a:spcAft>
                <a:spcPts val="0"/>
              </a:spcAft>
            </a:pPr>
            <a:r>
              <a:rPr sz="1300" b="0">
                <a:solidFill>
                  <a:srgbClr val="5B6B85"/>
                </a:solidFill>
                <a:latin typeface="Arial"/>
              </a:rPr>
              <a:t>Dari usulan lapangan sampai tayang di peta</a:t>
            </a:r>
          </a:p>
          <a:p>
            <a:pPr algn="l">
              <a:lnSpc>
                <a:spcPts val="1625"/>
              </a:lnSpc>
              <a:spcBef>
                <a:spcPts val="0"/>
              </a:spcBef>
              <a:spcAft>
                <a:spcPts val="0"/>
              </a:spcAft>
            </a:pPr>
            <a:r>
              <a:rPr sz="1300" b="0">
                <a:solidFill>
                  <a:srgbClr val="5B6B85"/>
                </a:solidFill>
                <a:latin typeface="Arial"/>
              </a:rPr>
              <a:t>nasional</a:t>
            </a:r>
          </a:p>
        </p:txBody>
      </p:sp>
      <p:sp>
        <p:nvSpPr>
          <p:cNvPr id="23" name="Rounded Rectangle 22"/>
          <p:cNvSpPr/>
          <p:nvPr/>
        </p:nvSpPr>
        <p:spPr>
          <a:xfrm>
            <a:off x="609600" y="4483100"/>
            <a:ext cx="5359400" cy="1206500"/>
          </a:xfrm>
          <a:prstGeom prst="roundRect">
            <a:avLst>
              <a:gd name="adj" fmla="val 9473"/>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3600" y="4762500"/>
            <a:ext cx="698500" cy="596900"/>
          </a:xfrm>
          <a:prstGeom prst="rect">
            <a:avLst/>
          </a:prstGeom>
          <a:noFill/>
        </p:spPr>
        <p:txBody>
          <a:bodyPr wrap="none" anchor="t" lIns="0" rIns="0" tIns="0" bIns="0">
            <a:noAutofit/>
          </a:bodyPr>
          <a:lstStyle/>
          <a:p>
            <a:pPr algn="l">
              <a:lnSpc>
                <a:spcPts val="4500"/>
              </a:lnSpc>
              <a:spcBef>
                <a:spcPts val="0"/>
              </a:spcBef>
              <a:spcAft>
                <a:spcPts val="0"/>
              </a:spcAft>
            </a:pPr>
            <a:r>
              <a:rPr sz="3600" b="1">
                <a:solidFill>
                  <a:srgbClr val="E01729"/>
                </a:solidFill>
                <a:latin typeface="Arial"/>
              </a:rPr>
              <a:t>05</a:t>
            </a:r>
          </a:p>
        </p:txBody>
      </p:sp>
      <p:sp>
        <p:nvSpPr>
          <p:cNvPr id="25" name="TextBox 24"/>
          <p:cNvSpPr txBox="1"/>
          <p:nvPr/>
        </p:nvSpPr>
        <p:spPr>
          <a:xfrm>
            <a:off x="1689100" y="4813300"/>
            <a:ext cx="40259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Teknologi &amp; kesiapan</a:t>
            </a:r>
          </a:p>
        </p:txBody>
      </p:sp>
      <p:sp>
        <p:nvSpPr>
          <p:cNvPr id="26" name="TextBox 25"/>
          <p:cNvSpPr txBox="1"/>
          <p:nvPr/>
        </p:nvSpPr>
        <p:spPr>
          <a:xfrm>
            <a:off x="1689100" y="5130800"/>
            <a:ext cx="4025900" cy="231775"/>
          </a:xfrm>
          <a:prstGeom prst="rect">
            <a:avLst/>
          </a:prstGeom>
          <a:noFill/>
        </p:spPr>
        <p:txBody>
          <a:bodyPr wrap="none" anchor="t" lIns="0" rIns="0" tIns="0" bIns="0">
            <a:noAutofit/>
          </a:bodyPr>
          <a:lstStyle/>
          <a:p>
            <a:pPr algn="l">
              <a:lnSpc>
                <a:spcPts val="1625"/>
              </a:lnSpc>
              <a:spcBef>
                <a:spcPts val="0"/>
              </a:spcBef>
              <a:spcAft>
                <a:spcPts val="0"/>
              </a:spcAft>
            </a:pPr>
            <a:r>
              <a:rPr sz="1300" b="0">
                <a:solidFill>
                  <a:srgbClr val="5B6B85"/>
                </a:solidFill>
                <a:latin typeface="Arial"/>
              </a:rPr>
              <a:t>Arsitektur, pengujian, dan akses demo</a:t>
            </a:r>
          </a:p>
        </p:txBody>
      </p:sp>
      <p:sp>
        <p:nvSpPr>
          <p:cNvPr id="27" name="Rounded Rectangle 26"/>
          <p:cNvSpPr/>
          <p:nvPr/>
        </p:nvSpPr>
        <p:spPr>
          <a:xfrm>
            <a:off x="6223000" y="4483100"/>
            <a:ext cx="5359400" cy="1206500"/>
          </a:xfrm>
          <a:prstGeom prst="roundRect">
            <a:avLst>
              <a:gd name="adj" fmla="val 9473"/>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77000" y="4762500"/>
            <a:ext cx="698500" cy="596900"/>
          </a:xfrm>
          <a:prstGeom prst="rect">
            <a:avLst/>
          </a:prstGeom>
          <a:noFill/>
        </p:spPr>
        <p:txBody>
          <a:bodyPr wrap="none" anchor="t" lIns="0" rIns="0" tIns="0" bIns="0">
            <a:noAutofit/>
          </a:bodyPr>
          <a:lstStyle/>
          <a:p>
            <a:pPr algn="l">
              <a:lnSpc>
                <a:spcPts val="4500"/>
              </a:lnSpc>
              <a:spcBef>
                <a:spcPts val="0"/>
              </a:spcBef>
              <a:spcAft>
                <a:spcPts val="0"/>
              </a:spcAft>
            </a:pPr>
            <a:r>
              <a:rPr sz="3600" b="1">
                <a:solidFill>
                  <a:srgbClr val="E01729"/>
                </a:solidFill>
                <a:latin typeface="Arial"/>
              </a:rPr>
              <a:t>06</a:t>
            </a:r>
          </a:p>
        </p:txBody>
      </p:sp>
      <p:sp>
        <p:nvSpPr>
          <p:cNvPr id="29" name="TextBox 28"/>
          <p:cNvSpPr txBox="1"/>
          <p:nvPr/>
        </p:nvSpPr>
        <p:spPr>
          <a:xfrm>
            <a:off x="7302500" y="4813300"/>
            <a:ext cx="40259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Peta jalan</a:t>
            </a:r>
          </a:p>
        </p:txBody>
      </p:sp>
      <p:sp>
        <p:nvSpPr>
          <p:cNvPr id="30" name="TextBox 29"/>
          <p:cNvSpPr txBox="1"/>
          <p:nvPr/>
        </p:nvSpPr>
        <p:spPr>
          <a:xfrm>
            <a:off x="7302500" y="5130800"/>
            <a:ext cx="4025900" cy="231775"/>
          </a:xfrm>
          <a:prstGeom prst="rect">
            <a:avLst/>
          </a:prstGeom>
          <a:noFill/>
        </p:spPr>
        <p:txBody>
          <a:bodyPr wrap="none" anchor="t" lIns="0" rIns="0" tIns="0" bIns="0">
            <a:noAutofit/>
          </a:bodyPr>
          <a:lstStyle/>
          <a:p>
            <a:pPr algn="l">
              <a:lnSpc>
                <a:spcPts val="1625"/>
              </a:lnSpc>
              <a:spcBef>
                <a:spcPts val="0"/>
              </a:spcBef>
              <a:spcAft>
                <a:spcPts val="0"/>
              </a:spcAft>
            </a:pPr>
            <a:r>
              <a:rPr sz="1300" b="0">
                <a:solidFill>
                  <a:srgbClr val="5B6B85"/>
                </a:solidFill>
                <a:latin typeface="Arial"/>
              </a:rPr>
              <a:t>Langkah menuju penggunaan produksi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LATAR BELAKANG</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03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Tantangan yang ingin diselesaikan</a:t>
            </a:r>
          </a:p>
        </p:txBody>
      </p:sp>
      <p:sp>
        <p:nvSpPr>
          <p:cNvPr id="7" name="TextBox 6"/>
          <p:cNvSpPr txBox="1"/>
          <p:nvPr/>
        </p:nvSpPr>
        <p:spPr>
          <a:xfrm>
            <a:off x="609600" y="1333500"/>
            <a:ext cx="7620000" cy="558800"/>
          </a:xfrm>
          <a:prstGeom prst="rect">
            <a:avLst/>
          </a:prstGeom>
          <a:noFill/>
        </p:spPr>
        <p:txBody>
          <a:bodyPr wrap="none" anchor="t" lIns="0" rIns="0" tIns="0" bIns="0">
            <a:noAutofit/>
          </a:bodyPr>
          <a:lstStyle/>
          <a:p>
            <a:pPr algn="l">
              <a:lnSpc>
                <a:spcPts val="2100"/>
              </a:lnSpc>
              <a:spcBef>
                <a:spcPts val="0"/>
              </a:spcBef>
              <a:spcAft>
                <a:spcPts val="0"/>
              </a:spcAft>
            </a:pPr>
            <a:r>
              <a:rPr sz="1500" b="0">
                <a:solidFill>
                  <a:srgbClr val="5B6B85"/>
                </a:solidFill>
                <a:latin typeface="Arial"/>
              </a:rPr>
              <a:t>Organisasi berjenjang di banyak provinsi membutuhkan cara kerja yang tercatat,</a:t>
            </a:r>
          </a:p>
          <a:p>
            <a:pPr algn="l">
              <a:lnSpc>
                <a:spcPts val="2100"/>
              </a:lnSpc>
              <a:spcBef>
                <a:spcPts val="0"/>
              </a:spcBef>
              <a:spcAft>
                <a:spcPts val="0"/>
              </a:spcAft>
            </a:pPr>
            <a:r>
              <a:rPr sz="1500" b="0">
                <a:solidFill>
                  <a:srgbClr val="5B6B85"/>
                </a:solidFill>
                <a:latin typeface="Arial"/>
              </a:rPr>
              <a:t>cepat, dan dapat dipertanggungjawabkan.</a:t>
            </a:r>
          </a:p>
        </p:txBody>
      </p:sp>
      <p:sp>
        <p:nvSpPr>
          <p:cNvPr id="8" name="Rounded Rectangle 7"/>
          <p:cNvSpPr/>
          <p:nvPr/>
        </p:nvSpPr>
        <p:spPr>
          <a:xfrm>
            <a:off x="609600" y="2095500"/>
            <a:ext cx="2609850" cy="2540000"/>
          </a:xfrm>
          <a:prstGeom prst="roundRect">
            <a:avLst>
              <a:gd name="adj" fmla="val 45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38200" y="2349500"/>
            <a:ext cx="406400" cy="406400"/>
          </a:xfrm>
          <a:prstGeom prst="ellipse">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8200" y="2444750"/>
            <a:ext cx="406400" cy="311150"/>
          </a:xfrm>
          <a:prstGeom prst="rect">
            <a:avLst/>
          </a:prstGeom>
          <a:noFill/>
        </p:spPr>
        <p:txBody>
          <a:bodyPr wrap="none" anchor="t" lIns="0" rIns="0" tIns="0" bIns="0">
            <a:noAutofit/>
          </a:bodyPr>
          <a:lstStyle/>
          <a:p>
            <a:pPr algn="ctr">
              <a:lnSpc>
                <a:spcPts val="2250"/>
              </a:lnSpc>
              <a:spcBef>
                <a:spcPts val="0"/>
              </a:spcBef>
              <a:spcAft>
                <a:spcPts val="0"/>
              </a:spcAft>
            </a:pPr>
            <a:r>
              <a:rPr sz="1800" b="1">
                <a:solidFill>
                  <a:srgbClr val="E01729"/>
                </a:solidFill>
                <a:latin typeface="Arial"/>
              </a:rPr>
              <a:t>1</a:t>
            </a:r>
          </a:p>
        </p:txBody>
      </p:sp>
      <p:sp>
        <p:nvSpPr>
          <p:cNvPr id="11" name="TextBox 10"/>
          <p:cNvSpPr txBox="1"/>
          <p:nvPr/>
        </p:nvSpPr>
        <p:spPr>
          <a:xfrm>
            <a:off x="838200" y="2984500"/>
            <a:ext cx="2152650" cy="314960"/>
          </a:xfrm>
          <a:prstGeom prst="rect">
            <a:avLst/>
          </a:prstGeom>
          <a:noFill/>
        </p:spPr>
        <p:txBody>
          <a:bodyPr wrap="none" anchor="t" lIns="0" rIns="0" tIns="0" bIns="0">
            <a:noAutofit/>
          </a:bodyPr>
          <a:lstStyle/>
          <a:p>
            <a:pPr algn="l">
              <a:lnSpc>
                <a:spcPts val="2280"/>
              </a:lnSpc>
              <a:spcBef>
                <a:spcPts val="0"/>
              </a:spcBef>
              <a:spcAft>
                <a:spcPts val="0"/>
              </a:spcAft>
            </a:pPr>
            <a:r>
              <a:rPr sz="1900" b="1">
                <a:solidFill>
                  <a:srgbClr val="071A36"/>
                </a:solidFill>
                <a:latin typeface="Arial"/>
              </a:rPr>
              <a:t>Data tercecer</a:t>
            </a:r>
          </a:p>
        </p:txBody>
      </p:sp>
      <p:sp>
        <p:nvSpPr>
          <p:cNvPr id="12" name="TextBox 11"/>
          <p:cNvSpPr txBox="1"/>
          <p:nvPr/>
        </p:nvSpPr>
        <p:spPr>
          <a:xfrm>
            <a:off x="838200" y="3619500"/>
            <a:ext cx="2152650" cy="982980"/>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5B6B85"/>
                </a:solidFill>
                <a:latin typeface="Arial"/>
              </a:rPr>
              <a:t>Data anggota dan titik</a:t>
            </a:r>
          </a:p>
          <a:p>
            <a:pPr algn="l">
              <a:lnSpc>
                <a:spcPts val="1884"/>
              </a:lnSpc>
              <a:spcBef>
                <a:spcPts val="0"/>
              </a:spcBef>
              <a:spcAft>
                <a:spcPts val="0"/>
              </a:spcAft>
            </a:pPr>
            <a:r>
              <a:rPr sz="1300" b="0">
                <a:solidFill>
                  <a:srgbClr val="5B6B85"/>
                </a:solidFill>
                <a:latin typeface="Arial"/>
              </a:rPr>
              <a:t>layanan tersebar di banyak</a:t>
            </a:r>
          </a:p>
          <a:p>
            <a:pPr algn="l">
              <a:lnSpc>
                <a:spcPts val="1884"/>
              </a:lnSpc>
              <a:spcBef>
                <a:spcPts val="0"/>
              </a:spcBef>
              <a:spcAft>
                <a:spcPts val="0"/>
              </a:spcAft>
            </a:pPr>
            <a:r>
              <a:rPr sz="1300" b="0">
                <a:solidFill>
                  <a:srgbClr val="5B6B85"/>
                </a:solidFill>
                <a:latin typeface="Arial"/>
              </a:rPr>
              <a:t>berkas dan kanal, sulit</a:t>
            </a:r>
          </a:p>
          <a:p>
            <a:pPr algn="l">
              <a:lnSpc>
                <a:spcPts val="1884"/>
              </a:lnSpc>
              <a:spcBef>
                <a:spcPts val="0"/>
              </a:spcBef>
              <a:spcAft>
                <a:spcPts val="0"/>
              </a:spcAft>
            </a:pPr>
            <a:r>
              <a:rPr sz="1300" b="0">
                <a:solidFill>
                  <a:srgbClr val="5B6B85"/>
                </a:solidFill>
                <a:latin typeface="Arial"/>
              </a:rPr>
              <a:t>direkap secara nasional.</a:t>
            </a:r>
          </a:p>
        </p:txBody>
      </p:sp>
      <p:sp>
        <p:nvSpPr>
          <p:cNvPr id="13" name="Rounded Rectangle 12"/>
          <p:cNvSpPr/>
          <p:nvPr/>
        </p:nvSpPr>
        <p:spPr>
          <a:xfrm>
            <a:off x="3397250" y="2095500"/>
            <a:ext cx="2609850" cy="2540000"/>
          </a:xfrm>
          <a:prstGeom prst="roundRect">
            <a:avLst>
              <a:gd name="adj" fmla="val 45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625850" y="2349500"/>
            <a:ext cx="406400" cy="406400"/>
          </a:xfrm>
          <a:prstGeom prst="ellipse">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25850" y="2444750"/>
            <a:ext cx="406400" cy="311150"/>
          </a:xfrm>
          <a:prstGeom prst="rect">
            <a:avLst/>
          </a:prstGeom>
          <a:noFill/>
        </p:spPr>
        <p:txBody>
          <a:bodyPr wrap="none" anchor="t" lIns="0" rIns="0" tIns="0" bIns="0">
            <a:noAutofit/>
          </a:bodyPr>
          <a:lstStyle/>
          <a:p>
            <a:pPr algn="ctr">
              <a:lnSpc>
                <a:spcPts val="2250"/>
              </a:lnSpc>
              <a:spcBef>
                <a:spcPts val="0"/>
              </a:spcBef>
              <a:spcAft>
                <a:spcPts val="0"/>
              </a:spcAft>
            </a:pPr>
            <a:r>
              <a:rPr sz="1800" b="1">
                <a:solidFill>
                  <a:srgbClr val="E01729"/>
                </a:solidFill>
                <a:latin typeface="Arial"/>
              </a:rPr>
              <a:t>2</a:t>
            </a:r>
          </a:p>
        </p:txBody>
      </p:sp>
      <p:sp>
        <p:nvSpPr>
          <p:cNvPr id="16" name="TextBox 15"/>
          <p:cNvSpPr txBox="1"/>
          <p:nvPr/>
        </p:nvSpPr>
        <p:spPr>
          <a:xfrm>
            <a:off x="3625850" y="2984500"/>
            <a:ext cx="2152650" cy="604520"/>
          </a:xfrm>
          <a:prstGeom prst="rect">
            <a:avLst/>
          </a:prstGeom>
          <a:noFill/>
        </p:spPr>
        <p:txBody>
          <a:bodyPr wrap="none" anchor="t" lIns="0" rIns="0" tIns="0" bIns="0">
            <a:noAutofit/>
          </a:bodyPr>
          <a:lstStyle/>
          <a:p>
            <a:pPr algn="l">
              <a:lnSpc>
                <a:spcPts val="2280"/>
              </a:lnSpc>
              <a:spcBef>
                <a:spcPts val="0"/>
              </a:spcBef>
              <a:spcAft>
                <a:spcPts val="0"/>
              </a:spcAft>
            </a:pPr>
            <a:r>
              <a:rPr sz="1900" b="1">
                <a:solidFill>
                  <a:srgbClr val="071A36"/>
                </a:solidFill>
                <a:latin typeface="Arial"/>
              </a:rPr>
              <a:t>Persetujuan</a:t>
            </a:r>
          </a:p>
          <a:p>
            <a:pPr algn="l">
              <a:lnSpc>
                <a:spcPts val="2280"/>
              </a:lnSpc>
              <a:spcBef>
                <a:spcPts val="0"/>
              </a:spcBef>
              <a:spcAft>
                <a:spcPts val="0"/>
              </a:spcAft>
            </a:pPr>
            <a:r>
              <a:rPr sz="1900" b="1">
                <a:solidFill>
                  <a:srgbClr val="071A36"/>
                </a:solidFill>
                <a:latin typeface="Arial"/>
              </a:rPr>
              <a:t>manual</a:t>
            </a:r>
          </a:p>
        </p:txBody>
      </p:sp>
      <p:sp>
        <p:nvSpPr>
          <p:cNvPr id="17" name="TextBox 16"/>
          <p:cNvSpPr txBox="1"/>
          <p:nvPr/>
        </p:nvSpPr>
        <p:spPr>
          <a:xfrm>
            <a:off x="3625850" y="3619500"/>
            <a:ext cx="2152650" cy="982980"/>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5B6B85"/>
                </a:solidFill>
                <a:latin typeface="Arial"/>
              </a:rPr>
              <a:t>Pengajuan titik berjalan</a:t>
            </a:r>
          </a:p>
          <a:p>
            <a:pPr algn="l">
              <a:lnSpc>
                <a:spcPts val="1884"/>
              </a:lnSpc>
              <a:spcBef>
                <a:spcPts val="0"/>
              </a:spcBef>
              <a:spcAft>
                <a:spcPts val="0"/>
              </a:spcAft>
            </a:pPr>
            <a:r>
              <a:rPr sz="1300" b="0">
                <a:solidFill>
                  <a:srgbClr val="5B6B85"/>
                </a:solidFill>
                <a:latin typeface="Arial"/>
              </a:rPr>
              <a:t>lewat dokumen dan pesan,</a:t>
            </a:r>
          </a:p>
          <a:p>
            <a:pPr algn="l">
              <a:lnSpc>
                <a:spcPts val="1884"/>
              </a:lnSpc>
              <a:spcBef>
                <a:spcPts val="0"/>
              </a:spcBef>
              <a:spcAft>
                <a:spcPts val="0"/>
              </a:spcAft>
            </a:pPr>
            <a:r>
              <a:rPr sz="1300" b="0">
                <a:solidFill>
                  <a:srgbClr val="5B6B85"/>
                </a:solidFill>
                <a:latin typeface="Arial"/>
              </a:rPr>
              <a:t>tanpa jejak status yang</a:t>
            </a:r>
          </a:p>
          <a:p>
            <a:pPr algn="l">
              <a:lnSpc>
                <a:spcPts val="1884"/>
              </a:lnSpc>
              <a:spcBef>
                <a:spcPts val="0"/>
              </a:spcBef>
              <a:spcAft>
                <a:spcPts val="0"/>
              </a:spcAft>
            </a:pPr>
            <a:r>
              <a:rPr sz="1300" b="0">
                <a:solidFill>
                  <a:srgbClr val="5B6B85"/>
                </a:solidFill>
                <a:latin typeface="Arial"/>
              </a:rPr>
              <a:t>jelas.</a:t>
            </a:r>
          </a:p>
        </p:txBody>
      </p:sp>
      <p:sp>
        <p:nvSpPr>
          <p:cNvPr id="18" name="Rounded Rectangle 17"/>
          <p:cNvSpPr/>
          <p:nvPr/>
        </p:nvSpPr>
        <p:spPr>
          <a:xfrm>
            <a:off x="6184900" y="2095500"/>
            <a:ext cx="2609850" cy="2540000"/>
          </a:xfrm>
          <a:prstGeom prst="roundRect">
            <a:avLst>
              <a:gd name="adj" fmla="val 45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13500" y="2349500"/>
            <a:ext cx="406400" cy="406400"/>
          </a:xfrm>
          <a:prstGeom prst="ellipse">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3500" y="2444750"/>
            <a:ext cx="406400" cy="311150"/>
          </a:xfrm>
          <a:prstGeom prst="rect">
            <a:avLst/>
          </a:prstGeom>
          <a:noFill/>
        </p:spPr>
        <p:txBody>
          <a:bodyPr wrap="none" anchor="t" lIns="0" rIns="0" tIns="0" bIns="0">
            <a:noAutofit/>
          </a:bodyPr>
          <a:lstStyle/>
          <a:p>
            <a:pPr algn="ctr">
              <a:lnSpc>
                <a:spcPts val="2250"/>
              </a:lnSpc>
              <a:spcBef>
                <a:spcPts val="0"/>
              </a:spcBef>
              <a:spcAft>
                <a:spcPts val="0"/>
              </a:spcAft>
            </a:pPr>
            <a:r>
              <a:rPr sz="1800" b="1">
                <a:solidFill>
                  <a:srgbClr val="E01729"/>
                </a:solidFill>
                <a:latin typeface="Arial"/>
              </a:rPr>
              <a:t>3</a:t>
            </a:r>
          </a:p>
        </p:txBody>
      </p:sp>
      <p:sp>
        <p:nvSpPr>
          <p:cNvPr id="21" name="TextBox 20"/>
          <p:cNvSpPr txBox="1"/>
          <p:nvPr/>
        </p:nvSpPr>
        <p:spPr>
          <a:xfrm>
            <a:off x="6413500" y="2984500"/>
            <a:ext cx="2152650" cy="604520"/>
          </a:xfrm>
          <a:prstGeom prst="rect">
            <a:avLst/>
          </a:prstGeom>
          <a:noFill/>
        </p:spPr>
        <p:txBody>
          <a:bodyPr wrap="none" anchor="t" lIns="0" rIns="0" tIns="0" bIns="0">
            <a:noAutofit/>
          </a:bodyPr>
          <a:lstStyle/>
          <a:p>
            <a:pPr algn="l">
              <a:lnSpc>
                <a:spcPts val="2280"/>
              </a:lnSpc>
              <a:spcBef>
                <a:spcPts val="0"/>
              </a:spcBef>
              <a:spcAft>
                <a:spcPts val="0"/>
              </a:spcAft>
            </a:pPr>
            <a:r>
              <a:rPr sz="1900" b="1">
                <a:solidFill>
                  <a:srgbClr val="071A36"/>
                </a:solidFill>
                <a:latin typeface="Arial"/>
              </a:rPr>
              <a:t>Tidak ada peta</a:t>
            </a:r>
          </a:p>
          <a:p>
            <a:pPr algn="l">
              <a:lnSpc>
                <a:spcPts val="2280"/>
              </a:lnSpc>
              <a:spcBef>
                <a:spcPts val="0"/>
              </a:spcBef>
              <a:spcAft>
                <a:spcPts val="0"/>
              </a:spcAft>
            </a:pPr>
            <a:r>
              <a:rPr sz="1900" b="1">
                <a:solidFill>
                  <a:srgbClr val="071A36"/>
                </a:solidFill>
                <a:latin typeface="Arial"/>
              </a:rPr>
              <a:t>tunggal</a:t>
            </a:r>
          </a:p>
        </p:txBody>
      </p:sp>
      <p:sp>
        <p:nvSpPr>
          <p:cNvPr id="22" name="TextBox 21"/>
          <p:cNvSpPr txBox="1"/>
          <p:nvPr/>
        </p:nvSpPr>
        <p:spPr>
          <a:xfrm>
            <a:off x="6413500" y="3619500"/>
            <a:ext cx="2152650" cy="982980"/>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5B6B85"/>
                </a:solidFill>
                <a:latin typeface="Arial"/>
              </a:rPr>
              <a:t>Pengurus dan publik tidak</a:t>
            </a:r>
          </a:p>
          <a:p>
            <a:pPr algn="l">
              <a:lnSpc>
                <a:spcPts val="1884"/>
              </a:lnSpc>
              <a:spcBef>
                <a:spcPts val="0"/>
              </a:spcBef>
              <a:spcAft>
                <a:spcPts val="0"/>
              </a:spcAft>
            </a:pPr>
            <a:r>
              <a:rPr sz="1300" b="0">
                <a:solidFill>
                  <a:srgbClr val="5B6B85"/>
                </a:solidFill>
                <a:latin typeface="Arial"/>
              </a:rPr>
              <a:t>memiliki satu sumber untuk</a:t>
            </a:r>
          </a:p>
          <a:p>
            <a:pPr algn="l">
              <a:lnSpc>
                <a:spcPts val="1884"/>
              </a:lnSpc>
              <a:spcBef>
                <a:spcPts val="0"/>
              </a:spcBef>
              <a:spcAft>
                <a:spcPts val="0"/>
              </a:spcAft>
            </a:pPr>
            <a:r>
              <a:rPr sz="1300" b="0">
                <a:solidFill>
                  <a:srgbClr val="5B6B85"/>
                </a:solidFill>
                <a:latin typeface="Arial"/>
              </a:rPr>
              <a:t>melihat sebaran titik yang</a:t>
            </a:r>
          </a:p>
          <a:p>
            <a:pPr algn="l">
              <a:lnSpc>
                <a:spcPts val="1884"/>
              </a:lnSpc>
              <a:spcBef>
                <a:spcPts val="0"/>
              </a:spcBef>
              <a:spcAft>
                <a:spcPts val="0"/>
              </a:spcAft>
            </a:pPr>
            <a:r>
              <a:rPr sz="1300" b="0">
                <a:solidFill>
                  <a:srgbClr val="5B6B85"/>
                </a:solidFill>
                <a:latin typeface="Arial"/>
              </a:rPr>
              <a:t>sah.</a:t>
            </a:r>
          </a:p>
        </p:txBody>
      </p:sp>
      <p:sp>
        <p:nvSpPr>
          <p:cNvPr id="23" name="Rounded Rectangle 22"/>
          <p:cNvSpPr/>
          <p:nvPr/>
        </p:nvSpPr>
        <p:spPr>
          <a:xfrm>
            <a:off x="8972550" y="2095500"/>
            <a:ext cx="2609850" cy="2540000"/>
          </a:xfrm>
          <a:prstGeom prst="roundRect">
            <a:avLst>
              <a:gd name="adj" fmla="val 45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201150" y="2349500"/>
            <a:ext cx="406400" cy="406400"/>
          </a:xfrm>
          <a:prstGeom prst="ellipse">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201150" y="2444750"/>
            <a:ext cx="406400" cy="311150"/>
          </a:xfrm>
          <a:prstGeom prst="rect">
            <a:avLst/>
          </a:prstGeom>
          <a:noFill/>
        </p:spPr>
        <p:txBody>
          <a:bodyPr wrap="none" anchor="t" lIns="0" rIns="0" tIns="0" bIns="0">
            <a:noAutofit/>
          </a:bodyPr>
          <a:lstStyle/>
          <a:p>
            <a:pPr algn="ctr">
              <a:lnSpc>
                <a:spcPts val="2250"/>
              </a:lnSpc>
              <a:spcBef>
                <a:spcPts val="0"/>
              </a:spcBef>
              <a:spcAft>
                <a:spcPts val="0"/>
              </a:spcAft>
            </a:pPr>
            <a:r>
              <a:rPr sz="1800" b="1">
                <a:solidFill>
                  <a:srgbClr val="E01729"/>
                </a:solidFill>
                <a:latin typeface="Arial"/>
              </a:rPr>
              <a:t>4</a:t>
            </a:r>
          </a:p>
        </p:txBody>
      </p:sp>
      <p:sp>
        <p:nvSpPr>
          <p:cNvPr id="26" name="TextBox 25"/>
          <p:cNvSpPr txBox="1"/>
          <p:nvPr/>
        </p:nvSpPr>
        <p:spPr>
          <a:xfrm>
            <a:off x="9201150" y="2984500"/>
            <a:ext cx="2152650" cy="604520"/>
          </a:xfrm>
          <a:prstGeom prst="rect">
            <a:avLst/>
          </a:prstGeom>
          <a:noFill/>
        </p:spPr>
        <p:txBody>
          <a:bodyPr wrap="none" anchor="t" lIns="0" rIns="0" tIns="0" bIns="0">
            <a:noAutofit/>
          </a:bodyPr>
          <a:lstStyle/>
          <a:p>
            <a:pPr algn="l">
              <a:lnSpc>
                <a:spcPts val="2280"/>
              </a:lnSpc>
              <a:spcBef>
                <a:spcPts val="0"/>
              </a:spcBef>
              <a:spcAft>
                <a:spcPts val="0"/>
              </a:spcAft>
            </a:pPr>
            <a:r>
              <a:rPr sz="1900" b="1">
                <a:solidFill>
                  <a:srgbClr val="071A36"/>
                </a:solidFill>
                <a:latin typeface="Arial"/>
              </a:rPr>
              <a:t>Kewenangan</a:t>
            </a:r>
          </a:p>
          <a:p>
            <a:pPr algn="l">
              <a:lnSpc>
                <a:spcPts val="2280"/>
              </a:lnSpc>
              <a:spcBef>
                <a:spcPts val="0"/>
              </a:spcBef>
              <a:spcAft>
                <a:spcPts val="0"/>
              </a:spcAft>
            </a:pPr>
            <a:r>
              <a:rPr sz="1900" b="1">
                <a:solidFill>
                  <a:srgbClr val="071A36"/>
                </a:solidFill>
                <a:latin typeface="Arial"/>
              </a:rPr>
              <a:t>belum ditegakkan</a:t>
            </a:r>
          </a:p>
        </p:txBody>
      </p:sp>
      <p:sp>
        <p:nvSpPr>
          <p:cNvPr id="27" name="TextBox 26"/>
          <p:cNvSpPr txBox="1"/>
          <p:nvPr/>
        </p:nvSpPr>
        <p:spPr>
          <a:xfrm>
            <a:off x="9201150" y="3619500"/>
            <a:ext cx="2152650" cy="982980"/>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5B6B85"/>
                </a:solidFill>
                <a:latin typeface="Arial"/>
              </a:rPr>
              <a:t>Siapa memverifikasi dan</a:t>
            </a:r>
          </a:p>
          <a:p>
            <a:pPr algn="l">
              <a:lnSpc>
                <a:spcPts val="1884"/>
              </a:lnSpc>
              <a:spcBef>
                <a:spcPts val="0"/>
              </a:spcBef>
              <a:spcAft>
                <a:spcPts val="0"/>
              </a:spcAft>
            </a:pPr>
            <a:r>
              <a:rPr sz="1300" b="0">
                <a:solidFill>
                  <a:srgbClr val="5B6B85"/>
                </a:solidFill>
                <a:latin typeface="Arial"/>
              </a:rPr>
              <a:t>siapa menyetujui belum</a:t>
            </a:r>
          </a:p>
          <a:p>
            <a:pPr algn="l">
              <a:lnSpc>
                <a:spcPts val="1884"/>
              </a:lnSpc>
              <a:spcBef>
                <a:spcPts val="0"/>
              </a:spcBef>
              <a:spcAft>
                <a:spcPts val="0"/>
              </a:spcAft>
            </a:pPr>
            <a:r>
              <a:rPr sz="1300" b="0">
                <a:solidFill>
                  <a:srgbClr val="5B6B85"/>
                </a:solidFill>
                <a:latin typeface="Arial"/>
              </a:rPr>
              <a:t>dijalankan secara</a:t>
            </a:r>
          </a:p>
          <a:p>
            <a:pPr algn="l">
              <a:lnSpc>
                <a:spcPts val="1884"/>
              </a:lnSpc>
              <a:spcBef>
                <a:spcPts val="0"/>
              </a:spcBef>
              <a:spcAft>
                <a:spcPts val="0"/>
              </a:spcAft>
            </a:pPr>
            <a:r>
              <a:rPr sz="1300" b="0">
                <a:solidFill>
                  <a:srgbClr val="5B6B85"/>
                </a:solidFill>
                <a:latin typeface="Arial"/>
              </a:rPr>
              <a:t>sistematis.</a:t>
            </a:r>
          </a:p>
        </p:txBody>
      </p:sp>
      <p:sp>
        <p:nvSpPr>
          <p:cNvPr id="28" name="Rounded Rectangle 27"/>
          <p:cNvSpPr/>
          <p:nvPr/>
        </p:nvSpPr>
        <p:spPr>
          <a:xfrm>
            <a:off x="609600" y="4902200"/>
            <a:ext cx="10972800" cy="952500"/>
          </a:xfrm>
          <a:prstGeom prst="roundRect">
            <a:avLst>
              <a:gd name="adj" fmla="val 12000"/>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5130800"/>
            <a:ext cx="1651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F5C451"/>
                </a:solidFill>
                <a:latin typeface="Arial"/>
              </a:rPr>
              <a:t>JAWABANNYA</a:t>
            </a:r>
          </a:p>
        </p:txBody>
      </p:sp>
      <p:sp>
        <p:nvSpPr>
          <p:cNvPr id="30" name="TextBox 29"/>
          <p:cNvSpPr txBox="1"/>
          <p:nvPr/>
        </p:nvSpPr>
        <p:spPr>
          <a:xfrm>
            <a:off x="914400" y="5359400"/>
            <a:ext cx="103632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FFFFFF"/>
                </a:solidFill>
                <a:latin typeface="Arial"/>
              </a:rPr>
              <a:t>Satu platform: satu data, satu peta, satu alur persetujuan berjenjang.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TENTANG GPN 08</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04 / 18</a:t>
            </a:r>
          </a:p>
        </p:txBody>
      </p:sp>
      <p:sp>
        <p:nvSpPr>
          <p:cNvPr id="6" name="TextBox 5"/>
          <p:cNvSpPr txBox="1"/>
          <p:nvPr/>
        </p:nvSpPr>
        <p:spPr>
          <a:xfrm>
            <a:off x="609600" y="812800"/>
            <a:ext cx="10972800" cy="90170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Gerakan yang tumbuh dari akar rumput,</a:t>
            </a:r>
          </a:p>
          <a:p>
            <a:pPr algn="l">
              <a:lnSpc>
                <a:spcPts val="3450"/>
              </a:lnSpc>
              <a:spcBef>
                <a:spcPts val="0"/>
              </a:spcBef>
              <a:spcAft>
                <a:spcPts val="0"/>
              </a:spcAft>
            </a:pPr>
            <a:r>
              <a:rPr sz="3000" b="1">
                <a:solidFill>
                  <a:srgbClr val="071A36"/>
                </a:solidFill>
                <a:latin typeface="Arial"/>
              </a:rPr>
              <a:t>bekerja dengan data</a:t>
            </a:r>
          </a:p>
        </p:txBody>
      </p:sp>
      <p:sp>
        <p:nvSpPr>
          <p:cNvPr id="7" name="Rounded Rectangle 6"/>
          <p:cNvSpPr/>
          <p:nvPr/>
        </p:nvSpPr>
        <p:spPr>
          <a:xfrm>
            <a:off x="609600" y="1841500"/>
            <a:ext cx="4826000" cy="2095500"/>
          </a:xfrm>
          <a:prstGeom prst="roundRect">
            <a:avLst>
              <a:gd name="adj" fmla="val 5454"/>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09600" y="1841500"/>
            <a:ext cx="50800" cy="20955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2070100"/>
            <a:ext cx="190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VISI</a:t>
            </a:r>
          </a:p>
        </p:txBody>
      </p:sp>
      <p:sp>
        <p:nvSpPr>
          <p:cNvPr id="10" name="TextBox 9"/>
          <p:cNvSpPr txBox="1"/>
          <p:nvPr/>
        </p:nvSpPr>
        <p:spPr>
          <a:xfrm>
            <a:off x="914400" y="2311400"/>
            <a:ext cx="4254500" cy="1644650"/>
          </a:xfrm>
          <a:prstGeom prst="rect">
            <a:avLst/>
          </a:prstGeom>
          <a:noFill/>
        </p:spPr>
        <p:txBody>
          <a:bodyPr wrap="none" anchor="t" lIns="0" rIns="0" tIns="0" bIns="0">
            <a:noAutofit/>
          </a:bodyPr>
          <a:lstStyle/>
          <a:p>
            <a:pPr algn="l">
              <a:lnSpc>
                <a:spcPts val="2550"/>
              </a:lnSpc>
              <a:spcBef>
                <a:spcPts val="0"/>
              </a:spcBef>
              <a:spcAft>
                <a:spcPts val="0"/>
              </a:spcAft>
            </a:pPr>
            <a:r>
              <a:rPr sz="1700" b="0">
                <a:solidFill>
                  <a:srgbClr val="071A36"/>
                </a:solidFill>
                <a:latin typeface="Arial"/>
              </a:rPr>
              <a:t>“Terwujudnya masyarakat Indonesia yang</a:t>
            </a:r>
          </a:p>
          <a:p>
            <a:pPr algn="l">
              <a:lnSpc>
                <a:spcPts val="2550"/>
              </a:lnSpc>
              <a:spcBef>
                <a:spcPts val="0"/>
              </a:spcBef>
              <a:spcAft>
                <a:spcPts val="0"/>
              </a:spcAft>
            </a:pPr>
            <a:r>
              <a:rPr sz="1700" b="0">
                <a:solidFill>
                  <a:srgbClr val="071A36"/>
                </a:solidFill>
                <a:latin typeface="Arial"/>
              </a:rPr>
              <a:t>bersatu, mandiri secara energi, dan</a:t>
            </a:r>
          </a:p>
          <a:p>
            <a:pPr algn="l">
              <a:lnSpc>
                <a:spcPts val="2550"/>
              </a:lnSpc>
              <a:spcBef>
                <a:spcPts val="0"/>
              </a:spcBef>
              <a:spcAft>
                <a:spcPts val="0"/>
              </a:spcAft>
            </a:pPr>
            <a:r>
              <a:rPr sz="1700" b="0">
                <a:solidFill>
                  <a:srgbClr val="071A36"/>
                </a:solidFill>
                <a:latin typeface="Arial"/>
              </a:rPr>
              <a:t>berdaya secara ekonomi, melalui gerakan</a:t>
            </a:r>
          </a:p>
          <a:p>
            <a:pPr algn="l">
              <a:lnSpc>
                <a:spcPts val="2550"/>
              </a:lnSpc>
              <a:spcBef>
                <a:spcPts val="0"/>
              </a:spcBef>
              <a:spcAft>
                <a:spcPts val="0"/>
              </a:spcAft>
            </a:pPr>
            <a:r>
              <a:rPr sz="1700" b="0">
                <a:solidFill>
                  <a:srgbClr val="071A36"/>
                </a:solidFill>
                <a:latin typeface="Arial"/>
              </a:rPr>
              <a:t>kemasyarakatan yang terorganisir,</a:t>
            </a:r>
          </a:p>
          <a:p>
            <a:pPr algn="l">
              <a:lnSpc>
                <a:spcPts val="2550"/>
              </a:lnSpc>
              <a:spcBef>
                <a:spcPts val="0"/>
              </a:spcBef>
              <a:spcAft>
                <a:spcPts val="0"/>
              </a:spcAft>
            </a:pPr>
            <a:r>
              <a:rPr sz="1700" b="0">
                <a:solidFill>
                  <a:srgbClr val="071A36"/>
                </a:solidFill>
                <a:latin typeface="Arial"/>
              </a:rPr>
              <a:t>transparan, dan berbasis data.”</a:t>
            </a:r>
          </a:p>
        </p:txBody>
      </p:sp>
      <p:sp>
        <p:nvSpPr>
          <p:cNvPr id="11" name="TextBox 10"/>
          <p:cNvSpPr txBox="1"/>
          <p:nvPr/>
        </p:nvSpPr>
        <p:spPr>
          <a:xfrm>
            <a:off x="609600" y="4191000"/>
            <a:ext cx="1270000" cy="184150"/>
          </a:xfrm>
          <a:prstGeom prst="rect">
            <a:avLst/>
          </a:prstGeom>
          <a:noFill/>
        </p:spPr>
        <p:txBody>
          <a:bodyPr wrap="none" anchor="t" lIns="0" rIns="0" tIns="0" bIns="0">
            <a:noAutofit/>
          </a:bodyPr>
          <a:lstStyle/>
          <a:p>
            <a:pPr algn="l">
              <a:lnSpc>
                <a:spcPts val="1250"/>
              </a:lnSpc>
              <a:spcBef>
                <a:spcPts val="0"/>
              </a:spcBef>
              <a:spcAft>
                <a:spcPts val="0"/>
              </a:spcAft>
            </a:pPr>
            <a:r>
              <a:rPr sz="1000" b="1">
                <a:solidFill>
                  <a:srgbClr val="8A9AB5"/>
                </a:solidFill>
                <a:latin typeface="Arial"/>
              </a:rPr>
              <a:t>BERDIRI</a:t>
            </a:r>
          </a:p>
        </p:txBody>
      </p:sp>
      <p:sp>
        <p:nvSpPr>
          <p:cNvPr id="12" name="TextBox 11"/>
          <p:cNvSpPr txBox="1"/>
          <p:nvPr/>
        </p:nvSpPr>
        <p:spPr>
          <a:xfrm>
            <a:off x="1879600" y="4165600"/>
            <a:ext cx="3556000" cy="263525"/>
          </a:xfrm>
          <a:prstGeom prst="rect">
            <a:avLst/>
          </a:prstGeom>
          <a:noFill/>
        </p:spPr>
        <p:txBody>
          <a:bodyPr wrap="none" anchor="t" lIns="0" rIns="0" tIns="0" bIns="0">
            <a:noAutofit/>
          </a:bodyPr>
          <a:lstStyle/>
          <a:p>
            <a:pPr algn="l">
              <a:lnSpc>
                <a:spcPts val="1875"/>
              </a:lnSpc>
              <a:spcBef>
                <a:spcPts val="0"/>
              </a:spcBef>
              <a:spcAft>
                <a:spcPts val="0"/>
              </a:spcAft>
            </a:pPr>
            <a:r>
              <a:rPr sz="1500" b="1">
                <a:solidFill>
                  <a:srgbClr val="071A36"/>
                </a:solidFill>
                <a:latin typeface="Arial"/>
              </a:rPr>
              <a:t>8 Agustus 2021, Jakarta</a:t>
            </a:r>
          </a:p>
        </p:txBody>
      </p:sp>
      <p:cxnSp>
        <p:nvCxnSpPr>
          <p:cNvPr id="13" name="Connector 12"/>
          <p:cNvCxnSpPr/>
          <p:nvPr/>
        </p:nvCxnSpPr>
        <p:spPr>
          <a:xfrm>
            <a:off x="609600" y="4521200"/>
            <a:ext cx="4826000" cy="0"/>
          </a:xfrm>
          <a:prstGeom prst="line">
            <a:avLst/>
          </a:prstGeom>
          <a:ln w="9525">
            <a:solidFill>
              <a:srgbClr val="DCE4E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4699000"/>
            <a:ext cx="1270000" cy="184150"/>
          </a:xfrm>
          <a:prstGeom prst="rect">
            <a:avLst/>
          </a:prstGeom>
          <a:noFill/>
        </p:spPr>
        <p:txBody>
          <a:bodyPr wrap="none" anchor="t" lIns="0" rIns="0" tIns="0" bIns="0">
            <a:noAutofit/>
          </a:bodyPr>
          <a:lstStyle/>
          <a:p>
            <a:pPr algn="l">
              <a:lnSpc>
                <a:spcPts val="1250"/>
              </a:lnSpc>
              <a:spcBef>
                <a:spcPts val="0"/>
              </a:spcBef>
              <a:spcAft>
                <a:spcPts val="0"/>
              </a:spcAft>
            </a:pPr>
            <a:r>
              <a:rPr sz="1000" b="1">
                <a:solidFill>
                  <a:srgbClr val="8A9AB5"/>
                </a:solidFill>
                <a:latin typeface="Arial"/>
              </a:rPr>
              <a:t>ASAS</a:t>
            </a:r>
          </a:p>
        </p:txBody>
      </p:sp>
      <p:sp>
        <p:nvSpPr>
          <p:cNvPr id="15" name="TextBox 14"/>
          <p:cNvSpPr txBox="1"/>
          <p:nvPr/>
        </p:nvSpPr>
        <p:spPr>
          <a:xfrm>
            <a:off x="1879600" y="4673600"/>
            <a:ext cx="3556000" cy="263525"/>
          </a:xfrm>
          <a:prstGeom prst="rect">
            <a:avLst/>
          </a:prstGeom>
          <a:noFill/>
        </p:spPr>
        <p:txBody>
          <a:bodyPr wrap="none" anchor="t" lIns="0" rIns="0" tIns="0" bIns="0">
            <a:noAutofit/>
          </a:bodyPr>
          <a:lstStyle/>
          <a:p>
            <a:pPr algn="l">
              <a:lnSpc>
                <a:spcPts val="1875"/>
              </a:lnSpc>
              <a:spcBef>
                <a:spcPts val="0"/>
              </a:spcBef>
              <a:spcAft>
                <a:spcPts val="0"/>
              </a:spcAft>
            </a:pPr>
            <a:r>
              <a:rPr sz="1500" b="1">
                <a:solidFill>
                  <a:srgbClr val="071A36"/>
                </a:solidFill>
                <a:latin typeface="Arial"/>
              </a:rPr>
              <a:t>Pancasila dan UUD 1945</a:t>
            </a:r>
          </a:p>
        </p:txBody>
      </p:sp>
      <p:cxnSp>
        <p:nvCxnSpPr>
          <p:cNvPr id="16" name="Connector 15"/>
          <p:cNvCxnSpPr/>
          <p:nvPr/>
        </p:nvCxnSpPr>
        <p:spPr>
          <a:xfrm>
            <a:off x="609600" y="5029200"/>
            <a:ext cx="4826000" cy="0"/>
          </a:xfrm>
          <a:prstGeom prst="line">
            <a:avLst/>
          </a:prstGeom>
          <a:ln w="9525">
            <a:solidFill>
              <a:srgbClr val="DCE4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5207000"/>
            <a:ext cx="1270000" cy="184150"/>
          </a:xfrm>
          <a:prstGeom prst="rect">
            <a:avLst/>
          </a:prstGeom>
          <a:noFill/>
        </p:spPr>
        <p:txBody>
          <a:bodyPr wrap="none" anchor="t" lIns="0" rIns="0" tIns="0" bIns="0">
            <a:noAutofit/>
          </a:bodyPr>
          <a:lstStyle/>
          <a:p>
            <a:pPr algn="l">
              <a:lnSpc>
                <a:spcPts val="1250"/>
              </a:lnSpc>
              <a:spcBef>
                <a:spcPts val="0"/>
              </a:spcBef>
              <a:spcAft>
                <a:spcPts val="0"/>
              </a:spcAft>
            </a:pPr>
            <a:r>
              <a:rPr sz="1000" b="1">
                <a:solidFill>
                  <a:srgbClr val="8A9AB5"/>
                </a:solidFill>
                <a:latin typeface="Arial"/>
              </a:rPr>
              <a:t>SIFAT</a:t>
            </a:r>
          </a:p>
        </p:txBody>
      </p:sp>
      <p:sp>
        <p:nvSpPr>
          <p:cNvPr id="18" name="TextBox 17"/>
          <p:cNvSpPr txBox="1"/>
          <p:nvPr/>
        </p:nvSpPr>
        <p:spPr>
          <a:xfrm>
            <a:off x="1879600" y="5181600"/>
            <a:ext cx="3556000" cy="501650"/>
          </a:xfrm>
          <a:prstGeom prst="rect">
            <a:avLst/>
          </a:prstGeom>
          <a:noFill/>
        </p:spPr>
        <p:txBody>
          <a:bodyPr wrap="none" anchor="t" lIns="0" rIns="0" tIns="0" bIns="0">
            <a:noAutofit/>
          </a:bodyPr>
          <a:lstStyle/>
          <a:p>
            <a:pPr algn="l">
              <a:lnSpc>
                <a:spcPts val="1875"/>
              </a:lnSpc>
              <a:spcBef>
                <a:spcPts val="0"/>
              </a:spcBef>
              <a:spcAft>
                <a:spcPts val="0"/>
              </a:spcAft>
            </a:pPr>
            <a:r>
              <a:rPr sz="1500" b="1">
                <a:solidFill>
                  <a:srgbClr val="071A36"/>
                </a:solidFill>
                <a:latin typeface="Arial"/>
              </a:rPr>
              <a:t>Mandiri, nirlaba, tidak berafiliasi</a:t>
            </a:r>
          </a:p>
          <a:p>
            <a:pPr algn="l">
              <a:lnSpc>
                <a:spcPts val="1875"/>
              </a:lnSpc>
              <a:spcBef>
                <a:spcPts val="0"/>
              </a:spcBef>
              <a:spcAft>
                <a:spcPts val="0"/>
              </a:spcAft>
            </a:pPr>
            <a:r>
              <a:rPr sz="1500" b="1">
                <a:solidFill>
                  <a:srgbClr val="071A36"/>
                </a:solidFill>
                <a:latin typeface="Arial"/>
              </a:rPr>
              <a:t>partai politik</a:t>
            </a:r>
          </a:p>
        </p:txBody>
      </p:sp>
      <p:sp>
        <p:nvSpPr>
          <p:cNvPr id="19" name="Rounded Rectangle 18"/>
          <p:cNvSpPr/>
          <p:nvPr/>
        </p:nvSpPr>
        <p:spPr>
          <a:xfrm>
            <a:off x="5842000" y="1841500"/>
            <a:ext cx="2794000" cy="1778000"/>
          </a:xfrm>
          <a:prstGeom prst="roundRect">
            <a:avLst>
              <a:gd name="adj" fmla="val 6428"/>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070600" y="2070100"/>
            <a:ext cx="330200" cy="330200"/>
          </a:xfrm>
          <a:prstGeom prst="roundRect">
            <a:avLst>
              <a:gd name="adj" fmla="val 23076"/>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70600" y="2146300"/>
            <a:ext cx="330200" cy="231775"/>
          </a:xfrm>
          <a:prstGeom prst="rect">
            <a:avLst/>
          </a:prstGeom>
          <a:noFill/>
        </p:spPr>
        <p:txBody>
          <a:bodyPr wrap="none" anchor="t" lIns="0" rIns="0" tIns="0" bIns="0">
            <a:noAutofit/>
          </a:bodyPr>
          <a:lstStyle/>
          <a:p>
            <a:pPr algn="ctr">
              <a:lnSpc>
                <a:spcPts val="1625"/>
              </a:lnSpc>
              <a:spcBef>
                <a:spcPts val="0"/>
              </a:spcBef>
              <a:spcAft>
                <a:spcPts val="0"/>
              </a:spcAft>
            </a:pPr>
            <a:r>
              <a:rPr sz="1300" b="1">
                <a:solidFill>
                  <a:srgbClr val="F5C451"/>
                </a:solidFill>
                <a:latin typeface="Arial"/>
              </a:rPr>
              <a:t>01</a:t>
            </a:r>
          </a:p>
        </p:txBody>
      </p:sp>
      <p:sp>
        <p:nvSpPr>
          <p:cNvPr id="22" name="TextBox 21"/>
          <p:cNvSpPr txBox="1"/>
          <p:nvPr/>
        </p:nvSpPr>
        <p:spPr>
          <a:xfrm>
            <a:off x="6070600" y="2578100"/>
            <a:ext cx="2336800" cy="543560"/>
          </a:xfrm>
          <a:prstGeom prst="rect">
            <a:avLst/>
          </a:prstGeom>
          <a:noFill/>
        </p:spPr>
        <p:txBody>
          <a:bodyPr wrap="none" anchor="t" lIns="0" rIns="0" tIns="0" bIns="0">
            <a:noAutofit/>
          </a:bodyPr>
          <a:lstStyle/>
          <a:p>
            <a:pPr algn="l">
              <a:lnSpc>
                <a:spcPts val="2039"/>
              </a:lnSpc>
              <a:spcBef>
                <a:spcPts val="0"/>
              </a:spcBef>
              <a:spcAft>
                <a:spcPts val="0"/>
              </a:spcAft>
            </a:pPr>
            <a:r>
              <a:rPr sz="1700" b="1">
                <a:solidFill>
                  <a:srgbClr val="071A36"/>
                </a:solidFill>
                <a:latin typeface="Arial"/>
              </a:rPr>
              <a:t>Persatuan &amp;</a:t>
            </a:r>
          </a:p>
          <a:p>
            <a:pPr algn="l">
              <a:lnSpc>
                <a:spcPts val="2039"/>
              </a:lnSpc>
              <a:spcBef>
                <a:spcPts val="0"/>
              </a:spcBef>
              <a:spcAft>
                <a:spcPts val="0"/>
              </a:spcAft>
            </a:pPr>
            <a:r>
              <a:rPr sz="1700" b="1">
                <a:solidFill>
                  <a:srgbClr val="071A36"/>
                </a:solidFill>
                <a:latin typeface="Arial"/>
              </a:rPr>
              <a:t>Kebangsaan</a:t>
            </a:r>
          </a:p>
        </p:txBody>
      </p:sp>
      <p:sp>
        <p:nvSpPr>
          <p:cNvPr id="23" name="TextBox 22"/>
          <p:cNvSpPr txBox="1"/>
          <p:nvPr/>
        </p:nvSpPr>
        <p:spPr>
          <a:xfrm>
            <a:off x="6070600" y="3172460"/>
            <a:ext cx="2336800" cy="485775"/>
          </a:xfrm>
          <a:prstGeom prst="rect">
            <a:avLst/>
          </a:prstGeom>
          <a:noFill/>
        </p:spPr>
        <p:txBody>
          <a:bodyPr wrap="none" anchor="t" lIns="0" rIns="0" tIns="0" bIns="0">
            <a:noAutofit/>
          </a:bodyPr>
          <a:lstStyle/>
          <a:p>
            <a:pPr algn="l">
              <a:lnSpc>
                <a:spcPts val="1812"/>
              </a:lnSpc>
              <a:spcBef>
                <a:spcPts val="0"/>
              </a:spcBef>
              <a:spcAft>
                <a:spcPts val="0"/>
              </a:spcAft>
            </a:pPr>
            <a:r>
              <a:rPr sz="1250" b="0">
                <a:solidFill>
                  <a:srgbClr val="5B6B85"/>
                </a:solidFill>
                <a:latin typeface="Arial"/>
              </a:rPr>
              <a:t>Merawat kebinekaan lewat</a:t>
            </a:r>
          </a:p>
          <a:p>
            <a:pPr algn="l">
              <a:lnSpc>
                <a:spcPts val="1812"/>
              </a:lnSpc>
              <a:spcBef>
                <a:spcPts val="0"/>
              </a:spcBef>
              <a:spcAft>
                <a:spcPts val="0"/>
              </a:spcAft>
            </a:pPr>
            <a:r>
              <a:rPr sz="1250" b="0">
                <a:solidFill>
                  <a:srgbClr val="5B6B85"/>
                </a:solidFill>
                <a:latin typeface="Arial"/>
              </a:rPr>
              <a:t>program lintas daerah.</a:t>
            </a:r>
          </a:p>
        </p:txBody>
      </p:sp>
      <p:sp>
        <p:nvSpPr>
          <p:cNvPr id="24" name="Rounded Rectangle 23"/>
          <p:cNvSpPr/>
          <p:nvPr/>
        </p:nvSpPr>
        <p:spPr>
          <a:xfrm>
            <a:off x="8788400" y="1841500"/>
            <a:ext cx="2794000" cy="1778000"/>
          </a:xfrm>
          <a:prstGeom prst="roundRect">
            <a:avLst>
              <a:gd name="adj" fmla="val 6428"/>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9017000" y="2070100"/>
            <a:ext cx="330200" cy="330200"/>
          </a:xfrm>
          <a:prstGeom prst="roundRect">
            <a:avLst>
              <a:gd name="adj" fmla="val 23076"/>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17000" y="2146300"/>
            <a:ext cx="330200" cy="231775"/>
          </a:xfrm>
          <a:prstGeom prst="rect">
            <a:avLst/>
          </a:prstGeom>
          <a:noFill/>
        </p:spPr>
        <p:txBody>
          <a:bodyPr wrap="none" anchor="t" lIns="0" rIns="0" tIns="0" bIns="0">
            <a:noAutofit/>
          </a:bodyPr>
          <a:lstStyle/>
          <a:p>
            <a:pPr algn="ctr">
              <a:lnSpc>
                <a:spcPts val="1625"/>
              </a:lnSpc>
              <a:spcBef>
                <a:spcPts val="0"/>
              </a:spcBef>
              <a:spcAft>
                <a:spcPts val="0"/>
              </a:spcAft>
            </a:pPr>
            <a:r>
              <a:rPr sz="1300" b="1">
                <a:solidFill>
                  <a:srgbClr val="F5C451"/>
                </a:solidFill>
                <a:latin typeface="Arial"/>
              </a:rPr>
              <a:t>02</a:t>
            </a:r>
          </a:p>
        </p:txBody>
      </p:sp>
      <p:sp>
        <p:nvSpPr>
          <p:cNvPr id="27" name="TextBox 26"/>
          <p:cNvSpPr txBox="1"/>
          <p:nvPr/>
        </p:nvSpPr>
        <p:spPr>
          <a:xfrm>
            <a:off x="9017000" y="2578100"/>
            <a:ext cx="2336800" cy="284480"/>
          </a:xfrm>
          <a:prstGeom prst="rect">
            <a:avLst/>
          </a:prstGeom>
          <a:noFill/>
        </p:spPr>
        <p:txBody>
          <a:bodyPr wrap="none" anchor="t" lIns="0" rIns="0" tIns="0" bIns="0">
            <a:noAutofit/>
          </a:bodyPr>
          <a:lstStyle/>
          <a:p>
            <a:pPr algn="l">
              <a:lnSpc>
                <a:spcPts val="2039"/>
              </a:lnSpc>
              <a:spcBef>
                <a:spcPts val="0"/>
              </a:spcBef>
              <a:spcAft>
                <a:spcPts val="0"/>
              </a:spcAft>
            </a:pPr>
            <a:r>
              <a:rPr sz="1700" b="1">
                <a:solidFill>
                  <a:srgbClr val="071A36"/>
                </a:solidFill>
                <a:latin typeface="Arial"/>
              </a:rPr>
              <a:t>Kemandirian Energi</a:t>
            </a:r>
          </a:p>
        </p:txBody>
      </p:sp>
      <p:sp>
        <p:nvSpPr>
          <p:cNvPr id="28" name="TextBox 27"/>
          <p:cNvSpPr txBox="1"/>
          <p:nvPr/>
        </p:nvSpPr>
        <p:spPr>
          <a:xfrm>
            <a:off x="9017000" y="2913380"/>
            <a:ext cx="2336800" cy="485775"/>
          </a:xfrm>
          <a:prstGeom prst="rect">
            <a:avLst/>
          </a:prstGeom>
          <a:noFill/>
        </p:spPr>
        <p:txBody>
          <a:bodyPr wrap="none" anchor="t" lIns="0" rIns="0" tIns="0" bIns="0">
            <a:noAutofit/>
          </a:bodyPr>
          <a:lstStyle/>
          <a:p>
            <a:pPr algn="l">
              <a:lnSpc>
                <a:spcPts val="1812"/>
              </a:lnSpc>
              <a:spcBef>
                <a:spcPts val="0"/>
              </a:spcBef>
              <a:spcAft>
                <a:spcPts val="0"/>
              </a:spcAft>
            </a:pPr>
            <a:r>
              <a:rPr sz="1250" b="0">
                <a:solidFill>
                  <a:srgbClr val="5B6B85"/>
                </a:solidFill>
                <a:latin typeface="Arial"/>
              </a:rPr>
              <a:t>Jaringan CPSS sebagai</a:t>
            </a:r>
          </a:p>
          <a:p>
            <a:pPr algn="l">
              <a:lnSpc>
                <a:spcPts val="1812"/>
              </a:lnSpc>
              <a:spcBef>
                <a:spcPts val="0"/>
              </a:spcBef>
              <a:spcAft>
                <a:spcPts val="0"/>
              </a:spcAft>
            </a:pPr>
            <a:r>
              <a:rPr sz="1250" b="0">
                <a:solidFill>
                  <a:srgbClr val="5B6B85"/>
                </a:solidFill>
                <a:latin typeface="Arial"/>
              </a:rPr>
              <a:t>infrastruktur milik bersama.</a:t>
            </a:r>
          </a:p>
        </p:txBody>
      </p:sp>
      <p:sp>
        <p:nvSpPr>
          <p:cNvPr id="29" name="Rounded Rectangle 28"/>
          <p:cNvSpPr/>
          <p:nvPr/>
        </p:nvSpPr>
        <p:spPr>
          <a:xfrm>
            <a:off x="5842000" y="3771900"/>
            <a:ext cx="2794000" cy="1778000"/>
          </a:xfrm>
          <a:prstGeom prst="roundRect">
            <a:avLst>
              <a:gd name="adj" fmla="val 6428"/>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070600" y="4000500"/>
            <a:ext cx="330200" cy="330200"/>
          </a:xfrm>
          <a:prstGeom prst="roundRect">
            <a:avLst>
              <a:gd name="adj" fmla="val 23076"/>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070600" y="4076700"/>
            <a:ext cx="330200" cy="231775"/>
          </a:xfrm>
          <a:prstGeom prst="rect">
            <a:avLst/>
          </a:prstGeom>
          <a:noFill/>
        </p:spPr>
        <p:txBody>
          <a:bodyPr wrap="none" anchor="t" lIns="0" rIns="0" tIns="0" bIns="0">
            <a:noAutofit/>
          </a:bodyPr>
          <a:lstStyle/>
          <a:p>
            <a:pPr algn="ctr">
              <a:lnSpc>
                <a:spcPts val="1625"/>
              </a:lnSpc>
              <a:spcBef>
                <a:spcPts val="0"/>
              </a:spcBef>
              <a:spcAft>
                <a:spcPts val="0"/>
              </a:spcAft>
            </a:pPr>
            <a:r>
              <a:rPr sz="1300" b="1">
                <a:solidFill>
                  <a:srgbClr val="F5C451"/>
                </a:solidFill>
                <a:latin typeface="Arial"/>
              </a:rPr>
              <a:t>03</a:t>
            </a:r>
          </a:p>
        </p:txBody>
      </p:sp>
      <p:sp>
        <p:nvSpPr>
          <p:cNvPr id="32" name="TextBox 31"/>
          <p:cNvSpPr txBox="1"/>
          <p:nvPr/>
        </p:nvSpPr>
        <p:spPr>
          <a:xfrm>
            <a:off x="6070600" y="4508500"/>
            <a:ext cx="2336800" cy="284480"/>
          </a:xfrm>
          <a:prstGeom prst="rect">
            <a:avLst/>
          </a:prstGeom>
          <a:noFill/>
        </p:spPr>
        <p:txBody>
          <a:bodyPr wrap="none" anchor="t" lIns="0" rIns="0" tIns="0" bIns="0">
            <a:noAutofit/>
          </a:bodyPr>
          <a:lstStyle/>
          <a:p>
            <a:pPr algn="l">
              <a:lnSpc>
                <a:spcPts val="2039"/>
              </a:lnSpc>
              <a:spcBef>
                <a:spcPts val="0"/>
              </a:spcBef>
              <a:spcAft>
                <a:spcPts val="0"/>
              </a:spcAft>
            </a:pPr>
            <a:r>
              <a:rPr sz="1700" b="1">
                <a:solidFill>
                  <a:srgbClr val="071A36"/>
                </a:solidFill>
                <a:latin typeface="Arial"/>
              </a:rPr>
              <a:t>Ekonomi Kerakyatan</a:t>
            </a:r>
          </a:p>
        </p:txBody>
      </p:sp>
      <p:sp>
        <p:nvSpPr>
          <p:cNvPr id="33" name="TextBox 32"/>
          <p:cNvSpPr txBox="1"/>
          <p:nvPr/>
        </p:nvSpPr>
        <p:spPr>
          <a:xfrm>
            <a:off x="6070600" y="4843780"/>
            <a:ext cx="2336800" cy="485775"/>
          </a:xfrm>
          <a:prstGeom prst="rect">
            <a:avLst/>
          </a:prstGeom>
          <a:noFill/>
        </p:spPr>
        <p:txBody>
          <a:bodyPr wrap="none" anchor="t" lIns="0" rIns="0" tIns="0" bIns="0">
            <a:noAutofit/>
          </a:bodyPr>
          <a:lstStyle/>
          <a:p>
            <a:pPr algn="l">
              <a:lnSpc>
                <a:spcPts val="1812"/>
              </a:lnSpc>
              <a:spcBef>
                <a:spcPts val="0"/>
              </a:spcBef>
              <a:spcAft>
                <a:spcPts val="0"/>
              </a:spcAft>
            </a:pPr>
            <a:r>
              <a:rPr sz="1250" b="0">
                <a:solidFill>
                  <a:srgbClr val="5B6B85"/>
                </a:solidFill>
                <a:latin typeface="Arial"/>
              </a:rPr>
              <a:t>Titik layanan menjadi simpul</a:t>
            </a:r>
          </a:p>
          <a:p>
            <a:pPr algn="l">
              <a:lnSpc>
                <a:spcPts val="1812"/>
              </a:lnSpc>
              <a:spcBef>
                <a:spcPts val="0"/>
              </a:spcBef>
              <a:spcAft>
                <a:spcPts val="0"/>
              </a:spcAft>
            </a:pPr>
            <a:r>
              <a:rPr sz="1250" b="0">
                <a:solidFill>
                  <a:srgbClr val="5B6B85"/>
                </a:solidFill>
                <a:latin typeface="Arial"/>
              </a:rPr>
              <a:t>usaha mikro binaan.</a:t>
            </a:r>
          </a:p>
        </p:txBody>
      </p:sp>
      <p:sp>
        <p:nvSpPr>
          <p:cNvPr id="34" name="Rounded Rectangle 33"/>
          <p:cNvSpPr/>
          <p:nvPr/>
        </p:nvSpPr>
        <p:spPr>
          <a:xfrm>
            <a:off x="8788400" y="3771900"/>
            <a:ext cx="2794000" cy="1778000"/>
          </a:xfrm>
          <a:prstGeom prst="roundRect">
            <a:avLst>
              <a:gd name="adj" fmla="val 6428"/>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9017000" y="4000500"/>
            <a:ext cx="330200" cy="330200"/>
          </a:xfrm>
          <a:prstGeom prst="roundRect">
            <a:avLst>
              <a:gd name="adj" fmla="val 23076"/>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17000" y="4076700"/>
            <a:ext cx="330200" cy="231775"/>
          </a:xfrm>
          <a:prstGeom prst="rect">
            <a:avLst/>
          </a:prstGeom>
          <a:noFill/>
        </p:spPr>
        <p:txBody>
          <a:bodyPr wrap="none" anchor="t" lIns="0" rIns="0" tIns="0" bIns="0">
            <a:noAutofit/>
          </a:bodyPr>
          <a:lstStyle/>
          <a:p>
            <a:pPr algn="ctr">
              <a:lnSpc>
                <a:spcPts val="1625"/>
              </a:lnSpc>
              <a:spcBef>
                <a:spcPts val="0"/>
              </a:spcBef>
              <a:spcAft>
                <a:spcPts val="0"/>
              </a:spcAft>
            </a:pPr>
            <a:r>
              <a:rPr sz="1300" b="1">
                <a:solidFill>
                  <a:srgbClr val="F5C451"/>
                </a:solidFill>
                <a:latin typeface="Arial"/>
              </a:rPr>
              <a:t>04</a:t>
            </a:r>
          </a:p>
        </p:txBody>
      </p:sp>
      <p:sp>
        <p:nvSpPr>
          <p:cNvPr id="37" name="TextBox 36"/>
          <p:cNvSpPr txBox="1"/>
          <p:nvPr/>
        </p:nvSpPr>
        <p:spPr>
          <a:xfrm>
            <a:off x="9017000" y="4508500"/>
            <a:ext cx="2336800" cy="543560"/>
          </a:xfrm>
          <a:prstGeom prst="rect">
            <a:avLst/>
          </a:prstGeom>
          <a:noFill/>
        </p:spPr>
        <p:txBody>
          <a:bodyPr wrap="none" anchor="t" lIns="0" rIns="0" tIns="0" bIns="0">
            <a:noAutofit/>
          </a:bodyPr>
          <a:lstStyle/>
          <a:p>
            <a:pPr algn="l">
              <a:lnSpc>
                <a:spcPts val="2039"/>
              </a:lnSpc>
              <a:spcBef>
                <a:spcPts val="0"/>
              </a:spcBef>
              <a:spcAft>
                <a:spcPts val="0"/>
              </a:spcAft>
            </a:pPr>
            <a:r>
              <a:rPr sz="1700" b="1">
                <a:solidFill>
                  <a:srgbClr val="071A36"/>
                </a:solidFill>
                <a:latin typeface="Arial"/>
              </a:rPr>
              <a:t>Kaderisasi &amp;</a:t>
            </a:r>
          </a:p>
          <a:p>
            <a:pPr algn="l">
              <a:lnSpc>
                <a:spcPts val="2039"/>
              </a:lnSpc>
              <a:spcBef>
                <a:spcPts val="0"/>
              </a:spcBef>
              <a:spcAft>
                <a:spcPts val="0"/>
              </a:spcAft>
            </a:pPr>
            <a:r>
              <a:rPr sz="1700" b="1">
                <a:solidFill>
                  <a:srgbClr val="071A36"/>
                </a:solidFill>
                <a:latin typeface="Arial"/>
              </a:rPr>
              <a:t>Integritas</a:t>
            </a:r>
          </a:p>
        </p:txBody>
      </p:sp>
      <p:sp>
        <p:nvSpPr>
          <p:cNvPr id="38" name="TextBox 37"/>
          <p:cNvSpPr txBox="1"/>
          <p:nvPr/>
        </p:nvSpPr>
        <p:spPr>
          <a:xfrm>
            <a:off x="9017000" y="5102860"/>
            <a:ext cx="2336800" cy="485775"/>
          </a:xfrm>
          <a:prstGeom prst="rect">
            <a:avLst/>
          </a:prstGeom>
          <a:noFill/>
        </p:spPr>
        <p:txBody>
          <a:bodyPr wrap="none" anchor="t" lIns="0" rIns="0" tIns="0" bIns="0">
            <a:noAutofit/>
          </a:bodyPr>
          <a:lstStyle/>
          <a:p>
            <a:pPr algn="l">
              <a:lnSpc>
                <a:spcPts val="1812"/>
              </a:lnSpc>
              <a:spcBef>
                <a:spcPts val="0"/>
              </a:spcBef>
              <a:spcAft>
                <a:spcPts val="0"/>
              </a:spcAft>
            </a:pPr>
            <a:r>
              <a:rPr sz="1250" b="0">
                <a:solidFill>
                  <a:srgbClr val="5B6B85"/>
                </a:solidFill>
                <a:latin typeface="Arial"/>
              </a:rPr>
              <a:t>Tim lapangan tersertifikasi dan</a:t>
            </a:r>
          </a:p>
          <a:p>
            <a:pPr algn="l">
              <a:lnSpc>
                <a:spcPts val="1812"/>
              </a:lnSpc>
              <a:spcBef>
                <a:spcPts val="0"/>
              </a:spcBef>
              <a:spcAft>
                <a:spcPts val="0"/>
              </a:spcAft>
            </a:pPr>
            <a:r>
              <a:rPr sz="1250" b="0">
                <a:solidFill>
                  <a:srgbClr val="5B6B85"/>
                </a:solidFill>
                <a:latin typeface="Arial"/>
              </a:rPr>
              <a:t>akuntabel.</a:t>
            </a:r>
          </a:p>
        </p:txBody>
      </p:sp>
      <p:sp>
        <p:nvSpPr>
          <p:cNvPr id="39" name="TextBox 38"/>
          <p:cNvSpPr txBox="1"/>
          <p:nvPr/>
        </p:nvSpPr>
        <p:spPr>
          <a:xfrm>
            <a:off x="609600" y="6273800"/>
            <a:ext cx="9525000" cy="160338"/>
          </a:xfrm>
          <a:prstGeom prst="rect">
            <a:avLst/>
          </a:prstGeom>
          <a:noFill/>
        </p:spPr>
        <p:txBody>
          <a:bodyPr wrap="none" anchor="t" lIns="0" rIns="0" tIns="0" bIns="0">
            <a:noAutofit/>
          </a:bodyPr>
          <a:lstStyle/>
          <a:p>
            <a:pPr algn="l">
              <a:lnSpc>
                <a:spcPts val="1062"/>
              </a:lnSpc>
              <a:spcBef>
                <a:spcPts val="0"/>
              </a:spcBef>
              <a:spcAft>
                <a:spcPts val="0"/>
              </a:spcAft>
            </a:pPr>
            <a:r>
              <a:rPr sz="850" b="0">
                <a:solidFill>
                  <a:srgbClr val="8A9AB5"/>
                </a:solidFill>
                <a:latin typeface="Arial"/>
              </a:rPr>
              <a:t>Catatan: isi profil pada versi demo bersifat contoh dan perlu disesuaikan dengan data resmi organisasi.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STRUKTUR BERJENJANG</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05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Tiga tingkat kepengurusan, satu arah gerakan</a:t>
            </a:r>
          </a:p>
        </p:txBody>
      </p:sp>
      <p:sp>
        <p:nvSpPr>
          <p:cNvPr id="7" name="Rounded Rectangle 6"/>
          <p:cNvSpPr/>
          <p:nvPr/>
        </p:nvSpPr>
        <p:spPr>
          <a:xfrm>
            <a:off x="609600" y="1714500"/>
            <a:ext cx="3361267" cy="4064000"/>
          </a:xfrm>
          <a:prstGeom prst="roundRect">
            <a:avLst>
              <a:gd name="adj" fmla="val 3778"/>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09600" y="1714500"/>
            <a:ext cx="3361267" cy="63500"/>
          </a:xfrm>
          <a:prstGeom prst="roundRect">
            <a:avLst>
              <a:gd name="adj" fmla="val 50000"/>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63600" y="2032000"/>
            <a:ext cx="609600" cy="609600"/>
          </a:xfrm>
          <a:prstGeom prst="roundRect">
            <a:avLst>
              <a:gd name="adj" fmla="val 20833"/>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3600" y="2235200"/>
            <a:ext cx="609600" cy="311150"/>
          </a:xfrm>
          <a:prstGeom prst="rect">
            <a:avLst/>
          </a:prstGeom>
          <a:noFill/>
        </p:spPr>
        <p:txBody>
          <a:bodyPr wrap="none" anchor="t" lIns="0" rIns="0" tIns="0" bIns="0">
            <a:noAutofit/>
          </a:bodyPr>
          <a:lstStyle/>
          <a:p>
            <a:pPr algn="ctr">
              <a:lnSpc>
                <a:spcPts val="2250"/>
              </a:lnSpc>
              <a:spcBef>
                <a:spcPts val="0"/>
              </a:spcBef>
              <a:spcAft>
                <a:spcPts val="0"/>
              </a:spcAft>
            </a:pPr>
            <a:r>
              <a:rPr sz="1800" b="1">
                <a:solidFill>
                  <a:srgbClr val="FFFFFF"/>
                </a:solidFill>
                <a:latin typeface="Arial"/>
              </a:rPr>
              <a:t>DPP</a:t>
            </a:r>
          </a:p>
        </p:txBody>
      </p:sp>
      <p:sp>
        <p:nvSpPr>
          <p:cNvPr id="11" name="TextBox 10"/>
          <p:cNvSpPr txBox="1"/>
          <p:nvPr/>
        </p:nvSpPr>
        <p:spPr>
          <a:xfrm>
            <a:off x="863600" y="2857500"/>
            <a:ext cx="2853267"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GPN 08 Pusat</a:t>
            </a:r>
          </a:p>
        </p:txBody>
      </p:sp>
      <p:sp>
        <p:nvSpPr>
          <p:cNvPr id="12" name="TextBox 11"/>
          <p:cNvSpPr txBox="1"/>
          <p:nvPr/>
        </p:nvSpPr>
        <p:spPr>
          <a:xfrm>
            <a:off x="863600" y="3187700"/>
            <a:ext cx="2853267" cy="215900"/>
          </a:xfrm>
          <a:prstGeom prst="rect">
            <a:avLst/>
          </a:prstGeom>
          <a:noFill/>
        </p:spPr>
        <p:txBody>
          <a:bodyPr wrap="none" anchor="t" lIns="0" rIns="0" tIns="0" bIns="0">
            <a:noAutofit/>
          </a:bodyPr>
          <a:lstStyle/>
          <a:p>
            <a:pPr algn="l">
              <a:lnSpc>
                <a:spcPts val="1500"/>
              </a:lnSpc>
              <a:spcBef>
                <a:spcPts val="0"/>
              </a:spcBef>
              <a:spcAft>
                <a:spcPts val="0"/>
              </a:spcAft>
            </a:pPr>
            <a:r>
              <a:rPr sz="1200" b="1">
                <a:solidFill>
                  <a:srgbClr val="E01729"/>
                </a:solidFill>
                <a:latin typeface="Arial"/>
              </a:rPr>
              <a:t>Dewan Pimpinan Pusat · Nasional</a:t>
            </a:r>
          </a:p>
        </p:txBody>
      </p:sp>
      <p:sp>
        <p:nvSpPr>
          <p:cNvPr id="13" name="Oval 12"/>
          <p:cNvSpPr/>
          <p:nvPr/>
        </p:nvSpPr>
        <p:spPr>
          <a:xfrm>
            <a:off x="863600" y="3695700"/>
            <a:ext cx="76200" cy="762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41400" y="3619500"/>
            <a:ext cx="2662767" cy="488315"/>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Menetapkan kebijakan &amp; standar</a:t>
            </a:r>
          </a:p>
          <a:p>
            <a:pPr algn="l">
              <a:lnSpc>
                <a:spcPts val="1822"/>
              </a:lnSpc>
              <a:spcBef>
                <a:spcPts val="0"/>
              </a:spcBef>
              <a:spcAft>
                <a:spcPts val="0"/>
              </a:spcAft>
            </a:pPr>
            <a:r>
              <a:rPr sz="1350" b="0">
                <a:solidFill>
                  <a:srgbClr val="071A36"/>
                </a:solidFill>
                <a:latin typeface="Arial"/>
              </a:rPr>
              <a:t>CPSS</a:t>
            </a:r>
          </a:p>
        </p:txBody>
      </p:sp>
      <p:sp>
        <p:nvSpPr>
          <p:cNvPr id="15" name="Oval 14"/>
          <p:cNvSpPr/>
          <p:nvPr/>
        </p:nvSpPr>
        <p:spPr>
          <a:xfrm>
            <a:off x="863600" y="4298315"/>
            <a:ext cx="76200" cy="762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41400" y="4222115"/>
            <a:ext cx="2662767" cy="256858"/>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Memberi persetujuan akhir titik</a:t>
            </a:r>
          </a:p>
        </p:txBody>
      </p:sp>
      <p:sp>
        <p:nvSpPr>
          <p:cNvPr id="17" name="Oval 16"/>
          <p:cNvSpPr/>
          <p:nvPr/>
        </p:nvSpPr>
        <p:spPr>
          <a:xfrm>
            <a:off x="863600" y="4669472"/>
            <a:ext cx="76200" cy="762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41400" y="4593272"/>
            <a:ext cx="2662767" cy="488315"/>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Membina hubungan strategis</a:t>
            </a:r>
          </a:p>
          <a:p>
            <a:pPr algn="l">
              <a:lnSpc>
                <a:spcPts val="1822"/>
              </a:lnSpc>
              <a:spcBef>
                <a:spcPts val="0"/>
              </a:spcBef>
              <a:spcAft>
                <a:spcPts val="0"/>
              </a:spcAft>
            </a:pPr>
            <a:r>
              <a:rPr sz="1350" b="0">
                <a:solidFill>
                  <a:srgbClr val="071A36"/>
                </a:solidFill>
                <a:latin typeface="Arial"/>
              </a:rPr>
              <a:t>nasional</a:t>
            </a:r>
          </a:p>
        </p:txBody>
      </p:sp>
      <p:cxnSp>
        <p:nvCxnSpPr>
          <p:cNvPr id="19" name="Connector 18"/>
          <p:cNvCxnSpPr/>
          <p:nvPr/>
        </p:nvCxnSpPr>
        <p:spPr>
          <a:xfrm>
            <a:off x="863600" y="5080000"/>
            <a:ext cx="2853267" cy="0"/>
          </a:xfrm>
          <a:prstGeom prst="line">
            <a:avLst/>
          </a:prstGeom>
          <a:ln w="9525">
            <a:solidFill>
              <a:srgbClr val="DCE4E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63600" y="5219700"/>
            <a:ext cx="1079500" cy="406400"/>
          </a:xfrm>
          <a:prstGeom prst="rect">
            <a:avLst/>
          </a:prstGeom>
          <a:noFill/>
        </p:spPr>
        <p:txBody>
          <a:bodyPr wrap="none" anchor="t" lIns="0" rIns="0" tIns="0" bIns="0">
            <a:noAutofit/>
          </a:bodyPr>
          <a:lstStyle/>
          <a:p>
            <a:pPr algn="l">
              <a:lnSpc>
                <a:spcPts val="3000"/>
              </a:lnSpc>
              <a:spcBef>
                <a:spcPts val="0"/>
              </a:spcBef>
              <a:spcAft>
                <a:spcPts val="0"/>
              </a:spcAft>
            </a:pPr>
            <a:r>
              <a:rPr sz="2400" b="1">
                <a:solidFill>
                  <a:srgbClr val="071A36"/>
                </a:solidFill>
                <a:latin typeface="Arial"/>
              </a:rPr>
              <a:t>38</a:t>
            </a:r>
          </a:p>
        </p:txBody>
      </p:sp>
      <p:sp>
        <p:nvSpPr>
          <p:cNvPr id="21" name="TextBox 20"/>
          <p:cNvSpPr txBox="1"/>
          <p:nvPr/>
        </p:nvSpPr>
        <p:spPr>
          <a:xfrm>
            <a:off x="1879600" y="5283200"/>
            <a:ext cx="1837267"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5B6B85"/>
                </a:solidFill>
                <a:latin typeface="Arial"/>
              </a:rPr>
              <a:t>provinsi terhubung</a:t>
            </a:r>
          </a:p>
        </p:txBody>
      </p:sp>
      <p:sp>
        <p:nvSpPr>
          <p:cNvPr id="22" name="Rectangle 21"/>
          <p:cNvSpPr/>
          <p:nvPr/>
        </p:nvSpPr>
        <p:spPr>
          <a:xfrm>
            <a:off x="4047067" y="2324100"/>
            <a:ext cx="203200" cy="25400"/>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reeform 22"/>
          <p:cNvSpPr/>
          <p:nvPr/>
        </p:nvSpPr>
        <p:spPr>
          <a:xfrm>
            <a:off x="4237567" y="2273300"/>
            <a:ext cx="101600" cy="127000"/>
          </a:xfrm>
          <a:custGeom>
            <a:avLst/>
            <a:gdLst/>
            <a:ahLst/>
            <a:cxnLst/>
            <a:rect l="l" t="t" r="r" b="b"/>
            <a:pathLst>
              <a:path w="101600" h="127000">
                <a:moveTo>
                  <a:pt x="0" y="0"/>
                </a:moveTo>
                <a:lnTo>
                  <a:pt x="101600" y="63500"/>
                </a:lnTo>
                <a:lnTo>
                  <a:pt x="0" y="127000"/>
                </a:lnTo>
                <a:close/>
              </a:path>
            </a:pathLst>
          </a:cu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4415367" y="1714500"/>
            <a:ext cx="3361267" cy="4064000"/>
          </a:xfrm>
          <a:prstGeom prst="roundRect">
            <a:avLst>
              <a:gd name="adj" fmla="val 3778"/>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4415367" y="1714500"/>
            <a:ext cx="3361267" cy="63500"/>
          </a:xfrm>
          <a:prstGeom prst="roundRect">
            <a:avLst>
              <a:gd name="adj" fmla="val 50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669367" y="2032000"/>
            <a:ext cx="609600" cy="609600"/>
          </a:xfrm>
          <a:prstGeom prst="roundRect">
            <a:avLst>
              <a:gd name="adj" fmla="val 20833"/>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669367" y="2235200"/>
            <a:ext cx="609600" cy="311150"/>
          </a:xfrm>
          <a:prstGeom prst="rect">
            <a:avLst/>
          </a:prstGeom>
          <a:noFill/>
        </p:spPr>
        <p:txBody>
          <a:bodyPr wrap="none" anchor="t" lIns="0" rIns="0" tIns="0" bIns="0">
            <a:noAutofit/>
          </a:bodyPr>
          <a:lstStyle/>
          <a:p>
            <a:pPr algn="ctr">
              <a:lnSpc>
                <a:spcPts val="2250"/>
              </a:lnSpc>
              <a:spcBef>
                <a:spcPts val="0"/>
              </a:spcBef>
              <a:spcAft>
                <a:spcPts val="0"/>
              </a:spcAft>
            </a:pPr>
            <a:r>
              <a:rPr sz="1800" b="1">
                <a:solidFill>
                  <a:srgbClr val="FFFFFF"/>
                </a:solidFill>
                <a:latin typeface="Arial"/>
              </a:rPr>
              <a:t>DPW</a:t>
            </a:r>
          </a:p>
        </p:txBody>
      </p:sp>
      <p:sp>
        <p:nvSpPr>
          <p:cNvPr id="28" name="TextBox 27"/>
          <p:cNvSpPr txBox="1"/>
          <p:nvPr/>
        </p:nvSpPr>
        <p:spPr>
          <a:xfrm>
            <a:off x="4669367" y="2857500"/>
            <a:ext cx="2853267"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GPN 08 Provinsi</a:t>
            </a:r>
          </a:p>
        </p:txBody>
      </p:sp>
      <p:sp>
        <p:nvSpPr>
          <p:cNvPr id="29" name="TextBox 28"/>
          <p:cNvSpPr txBox="1"/>
          <p:nvPr/>
        </p:nvSpPr>
        <p:spPr>
          <a:xfrm>
            <a:off x="4669367" y="3187700"/>
            <a:ext cx="2853267" cy="215900"/>
          </a:xfrm>
          <a:prstGeom prst="rect">
            <a:avLst/>
          </a:prstGeom>
          <a:noFill/>
        </p:spPr>
        <p:txBody>
          <a:bodyPr wrap="none" anchor="t" lIns="0" rIns="0" tIns="0" bIns="0">
            <a:noAutofit/>
          </a:bodyPr>
          <a:lstStyle/>
          <a:p>
            <a:pPr algn="l">
              <a:lnSpc>
                <a:spcPts val="1500"/>
              </a:lnSpc>
              <a:spcBef>
                <a:spcPts val="0"/>
              </a:spcBef>
              <a:spcAft>
                <a:spcPts val="0"/>
              </a:spcAft>
            </a:pPr>
            <a:r>
              <a:rPr sz="1200" b="1">
                <a:solidFill>
                  <a:srgbClr val="0369A1"/>
                </a:solidFill>
                <a:latin typeface="Arial"/>
              </a:rPr>
              <a:t>Dewan Pimpinan Wilayah · Provinsi</a:t>
            </a:r>
          </a:p>
        </p:txBody>
      </p:sp>
      <p:sp>
        <p:nvSpPr>
          <p:cNvPr id="30" name="Oval 29"/>
          <p:cNvSpPr/>
          <p:nvPr/>
        </p:nvSpPr>
        <p:spPr>
          <a:xfrm>
            <a:off x="4669367" y="369570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847167" y="3619500"/>
            <a:ext cx="2662767" cy="488315"/>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Memverifikasi usulan titik dari</a:t>
            </a:r>
          </a:p>
          <a:p>
            <a:pPr algn="l">
              <a:lnSpc>
                <a:spcPts val="1822"/>
              </a:lnSpc>
              <a:spcBef>
                <a:spcPts val="0"/>
              </a:spcBef>
              <a:spcAft>
                <a:spcPts val="0"/>
              </a:spcAft>
            </a:pPr>
            <a:r>
              <a:rPr sz="1350" b="0">
                <a:solidFill>
                  <a:srgbClr val="071A36"/>
                </a:solidFill>
                <a:latin typeface="Arial"/>
              </a:rPr>
              <a:t>DPD</a:t>
            </a:r>
          </a:p>
        </p:txBody>
      </p:sp>
      <p:sp>
        <p:nvSpPr>
          <p:cNvPr id="32" name="Oval 31"/>
          <p:cNvSpPr/>
          <p:nvPr/>
        </p:nvSpPr>
        <p:spPr>
          <a:xfrm>
            <a:off x="4669367" y="4298315"/>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847167" y="4222115"/>
            <a:ext cx="2662767" cy="256858"/>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Membina DPD di wilayahnya</a:t>
            </a:r>
          </a:p>
        </p:txBody>
      </p:sp>
      <p:sp>
        <p:nvSpPr>
          <p:cNvPr id="34" name="Oval 33"/>
          <p:cNvSpPr/>
          <p:nvPr/>
        </p:nvSpPr>
        <p:spPr>
          <a:xfrm>
            <a:off x="4669367" y="4669472"/>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47167" y="4593272"/>
            <a:ext cx="2662767" cy="488315"/>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Kerja sama dengan pemerintah</a:t>
            </a:r>
          </a:p>
          <a:p>
            <a:pPr algn="l">
              <a:lnSpc>
                <a:spcPts val="1822"/>
              </a:lnSpc>
              <a:spcBef>
                <a:spcPts val="0"/>
              </a:spcBef>
              <a:spcAft>
                <a:spcPts val="0"/>
              </a:spcAft>
            </a:pPr>
            <a:r>
              <a:rPr sz="1350" b="0">
                <a:solidFill>
                  <a:srgbClr val="071A36"/>
                </a:solidFill>
                <a:latin typeface="Arial"/>
              </a:rPr>
              <a:t>provinsi</a:t>
            </a:r>
          </a:p>
        </p:txBody>
      </p:sp>
      <p:cxnSp>
        <p:nvCxnSpPr>
          <p:cNvPr id="36" name="Connector 35"/>
          <p:cNvCxnSpPr/>
          <p:nvPr/>
        </p:nvCxnSpPr>
        <p:spPr>
          <a:xfrm>
            <a:off x="4669367" y="5080000"/>
            <a:ext cx="2853266" cy="0"/>
          </a:xfrm>
          <a:prstGeom prst="line">
            <a:avLst/>
          </a:prstGeom>
          <a:ln w="9525">
            <a:solidFill>
              <a:srgbClr val="DCE4E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669367" y="5219700"/>
            <a:ext cx="1079500" cy="406400"/>
          </a:xfrm>
          <a:prstGeom prst="rect">
            <a:avLst/>
          </a:prstGeom>
          <a:noFill/>
        </p:spPr>
        <p:txBody>
          <a:bodyPr wrap="none" anchor="t" lIns="0" rIns="0" tIns="0" bIns="0">
            <a:noAutofit/>
          </a:bodyPr>
          <a:lstStyle/>
          <a:p>
            <a:pPr algn="l">
              <a:lnSpc>
                <a:spcPts val="3000"/>
              </a:lnSpc>
              <a:spcBef>
                <a:spcPts val="0"/>
              </a:spcBef>
              <a:spcAft>
                <a:spcPts val="0"/>
              </a:spcAft>
            </a:pPr>
            <a:r>
              <a:rPr sz="2400" b="1">
                <a:solidFill>
                  <a:srgbClr val="071A36"/>
                </a:solidFill>
                <a:latin typeface="Arial"/>
              </a:rPr>
              <a:t>3 hari</a:t>
            </a:r>
          </a:p>
        </p:txBody>
      </p:sp>
      <p:sp>
        <p:nvSpPr>
          <p:cNvPr id="38" name="TextBox 37"/>
          <p:cNvSpPr txBox="1"/>
          <p:nvPr/>
        </p:nvSpPr>
        <p:spPr>
          <a:xfrm>
            <a:off x="5685367" y="5283200"/>
            <a:ext cx="1837267"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5B6B85"/>
                </a:solidFill>
                <a:latin typeface="Arial"/>
              </a:rPr>
              <a:t>target waktu verifikasi</a:t>
            </a:r>
          </a:p>
        </p:txBody>
      </p:sp>
      <p:sp>
        <p:nvSpPr>
          <p:cNvPr id="39" name="Rectangle 38"/>
          <p:cNvSpPr/>
          <p:nvPr/>
        </p:nvSpPr>
        <p:spPr>
          <a:xfrm>
            <a:off x="7852833" y="2324100"/>
            <a:ext cx="203200" cy="25400"/>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Freeform 39"/>
          <p:cNvSpPr/>
          <p:nvPr/>
        </p:nvSpPr>
        <p:spPr>
          <a:xfrm>
            <a:off x="8043333" y="2273300"/>
            <a:ext cx="101600" cy="127000"/>
          </a:xfrm>
          <a:custGeom>
            <a:avLst/>
            <a:gdLst/>
            <a:ahLst/>
            <a:cxnLst/>
            <a:rect l="l" t="t" r="r" b="b"/>
            <a:pathLst>
              <a:path w="101600" h="127000">
                <a:moveTo>
                  <a:pt x="0" y="0"/>
                </a:moveTo>
                <a:lnTo>
                  <a:pt x="101600" y="63500"/>
                </a:lnTo>
                <a:lnTo>
                  <a:pt x="0" y="127000"/>
                </a:lnTo>
                <a:close/>
              </a:path>
            </a:pathLst>
          </a:cu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221133" y="1714500"/>
            <a:ext cx="3361267" cy="4064000"/>
          </a:xfrm>
          <a:prstGeom prst="roundRect">
            <a:avLst>
              <a:gd name="adj" fmla="val 3778"/>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8221133" y="1714500"/>
            <a:ext cx="3361267" cy="63500"/>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8475133" y="2032000"/>
            <a:ext cx="609600" cy="609600"/>
          </a:xfrm>
          <a:prstGeom prst="roundRect">
            <a:avLst>
              <a:gd name="adj" fmla="val 20833"/>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475133" y="2235200"/>
            <a:ext cx="609600" cy="311150"/>
          </a:xfrm>
          <a:prstGeom prst="rect">
            <a:avLst/>
          </a:prstGeom>
          <a:noFill/>
        </p:spPr>
        <p:txBody>
          <a:bodyPr wrap="none" anchor="t" lIns="0" rIns="0" tIns="0" bIns="0">
            <a:noAutofit/>
          </a:bodyPr>
          <a:lstStyle/>
          <a:p>
            <a:pPr algn="ctr">
              <a:lnSpc>
                <a:spcPts val="2250"/>
              </a:lnSpc>
              <a:spcBef>
                <a:spcPts val="0"/>
              </a:spcBef>
              <a:spcAft>
                <a:spcPts val="0"/>
              </a:spcAft>
            </a:pPr>
            <a:r>
              <a:rPr sz="1800" b="1">
                <a:solidFill>
                  <a:srgbClr val="FFFFFF"/>
                </a:solidFill>
                <a:latin typeface="Arial"/>
              </a:rPr>
              <a:t>DPD</a:t>
            </a:r>
          </a:p>
        </p:txBody>
      </p:sp>
      <p:sp>
        <p:nvSpPr>
          <p:cNvPr id="45" name="TextBox 44"/>
          <p:cNvSpPr txBox="1"/>
          <p:nvPr/>
        </p:nvSpPr>
        <p:spPr>
          <a:xfrm>
            <a:off x="8475133" y="2857500"/>
            <a:ext cx="2853267"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GPN 08 Kota/Kabupaten</a:t>
            </a:r>
          </a:p>
        </p:txBody>
      </p:sp>
      <p:sp>
        <p:nvSpPr>
          <p:cNvPr id="46" name="TextBox 45"/>
          <p:cNvSpPr txBox="1"/>
          <p:nvPr/>
        </p:nvSpPr>
        <p:spPr>
          <a:xfrm>
            <a:off x="8475133" y="3187700"/>
            <a:ext cx="2853267" cy="215900"/>
          </a:xfrm>
          <a:prstGeom prst="rect">
            <a:avLst/>
          </a:prstGeom>
          <a:noFill/>
        </p:spPr>
        <p:txBody>
          <a:bodyPr wrap="none" anchor="t" lIns="0" rIns="0" tIns="0" bIns="0">
            <a:noAutofit/>
          </a:bodyPr>
          <a:lstStyle/>
          <a:p>
            <a:pPr algn="l">
              <a:lnSpc>
                <a:spcPts val="1500"/>
              </a:lnSpc>
              <a:spcBef>
                <a:spcPts val="0"/>
              </a:spcBef>
              <a:spcAft>
                <a:spcPts val="0"/>
              </a:spcAft>
            </a:pPr>
            <a:r>
              <a:rPr sz="1200" b="1">
                <a:solidFill>
                  <a:srgbClr val="047857"/>
                </a:solidFill>
                <a:latin typeface="Arial"/>
              </a:rPr>
              <a:t>Dewan Pimpinan Daerah · Kota/Kab.</a:t>
            </a:r>
          </a:p>
        </p:txBody>
      </p:sp>
      <p:sp>
        <p:nvSpPr>
          <p:cNvPr id="47" name="Oval 46"/>
          <p:cNvSpPr/>
          <p:nvPr/>
        </p:nvSpPr>
        <p:spPr>
          <a:xfrm>
            <a:off x="8475133" y="369570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652933" y="3619500"/>
            <a:ext cx="2662767" cy="488315"/>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Survei lokasi &amp; ambil koordinat</a:t>
            </a:r>
          </a:p>
          <a:p>
            <a:pPr algn="l">
              <a:lnSpc>
                <a:spcPts val="1822"/>
              </a:lnSpc>
              <a:spcBef>
                <a:spcPts val="0"/>
              </a:spcBef>
              <a:spcAft>
                <a:spcPts val="0"/>
              </a:spcAft>
            </a:pPr>
            <a:r>
              <a:rPr sz="1350" b="0">
                <a:solidFill>
                  <a:srgbClr val="071A36"/>
                </a:solidFill>
                <a:latin typeface="Arial"/>
              </a:rPr>
              <a:t>GPS</a:t>
            </a:r>
          </a:p>
        </p:txBody>
      </p:sp>
      <p:sp>
        <p:nvSpPr>
          <p:cNvPr id="49" name="Oval 48"/>
          <p:cNvSpPr/>
          <p:nvPr/>
        </p:nvSpPr>
        <p:spPr>
          <a:xfrm>
            <a:off x="8475133" y="4298315"/>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652933" y="4222115"/>
            <a:ext cx="2662767" cy="256858"/>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Mengajukan titik CPSS baru</a:t>
            </a:r>
          </a:p>
        </p:txBody>
      </p:sp>
      <p:sp>
        <p:nvSpPr>
          <p:cNvPr id="51" name="Oval 50"/>
          <p:cNvSpPr/>
          <p:nvPr/>
        </p:nvSpPr>
        <p:spPr>
          <a:xfrm>
            <a:off x="8475133" y="4669472"/>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652933" y="4593272"/>
            <a:ext cx="2662767" cy="256858"/>
          </a:xfrm>
          <a:prstGeom prst="rect">
            <a:avLst/>
          </a:prstGeom>
          <a:noFill/>
        </p:spPr>
        <p:txBody>
          <a:bodyPr wrap="none" anchor="t" lIns="0" rIns="0" tIns="0" bIns="0">
            <a:noAutofit/>
          </a:bodyPr>
          <a:lstStyle/>
          <a:p>
            <a:pPr algn="l">
              <a:lnSpc>
                <a:spcPts val="1822"/>
              </a:lnSpc>
              <a:spcBef>
                <a:spcPts val="0"/>
              </a:spcBef>
              <a:spcAft>
                <a:spcPts val="0"/>
              </a:spcAft>
            </a:pPr>
            <a:r>
              <a:rPr sz="1350" b="0">
                <a:solidFill>
                  <a:srgbClr val="071A36"/>
                </a:solidFill>
                <a:latin typeface="Arial"/>
              </a:rPr>
              <a:t>Menggerakkan tim lapangan</a:t>
            </a:r>
          </a:p>
        </p:txBody>
      </p:sp>
      <p:cxnSp>
        <p:nvCxnSpPr>
          <p:cNvPr id="53" name="Connector 52"/>
          <p:cNvCxnSpPr/>
          <p:nvPr/>
        </p:nvCxnSpPr>
        <p:spPr>
          <a:xfrm>
            <a:off x="8475133" y="5080000"/>
            <a:ext cx="2853267" cy="0"/>
          </a:xfrm>
          <a:prstGeom prst="line">
            <a:avLst/>
          </a:prstGeom>
          <a:ln w="9525">
            <a:solidFill>
              <a:srgbClr val="DCE4E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475133" y="5219700"/>
            <a:ext cx="1079500" cy="406400"/>
          </a:xfrm>
          <a:prstGeom prst="rect">
            <a:avLst/>
          </a:prstGeom>
          <a:noFill/>
        </p:spPr>
        <p:txBody>
          <a:bodyPr wrap="none" anchor="t" lIns="0" rIns="0" tIns="0" bIns="0">
            <a:noAutofit/>
          </a:bodyPr>
          <a:lstStyle/>
          <a:p>
            <a:pPr algn="l">
              <a:lnSpc>
                <a:spcPts val="3000"/>
              </a:lnSpc>
              <a:spcBef>
                <a:spcPts val="0"/>
              </a:spcBef>
              <a:spcAft>
                <a:spcPts val="0"/>
              </a:spcAft>
            </a:pPr>
            <a:r>
              <a:rPr sz="2400" b="1">
                <a:solidFill>
                  <a:srgbClr val="071A36"/>
                </a:solidFill>
                <a:latin typeface="Arial"/>
              </a:rPr>
              <a:t>312</a:t>
            </a:r>
          </a:p>
        </p:txBody>
      </p:sp>
      <p:sp>
        <p:nvSpPr>
          <p:cNvPr id="55" name="TextBox 54"/>
          <p:cNvSpPr txBox="1"/>
          <p:nvPr/>
        </p:nvSpPr>
        <p:spPr>
          <a:xfrm>
            <a:off x="9491133" y="5283200"/>
            <a:ext cx="1837267"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5B6B85"/>
                </a:solidFill>
                <a:latin typeface="Arial"/>
              </a:rPr>
              <a:t>DPD terbentuk</a:t>
            </a:r>
          </a:p>
        </p:txBody>
      </p:sp>
      <p:sp>
        <p:nvSpPr>
          <p:cNvPr id="56" name="TextBox 55"/>
          <p:cNvSpPr txBox="1"/>
          <p:nvPr/>
        </p:nvSpPr>
        <p:spPr>
          <a:xfrm>
            <a:off x="609600" y="6273800"/>
            <a:ext cx="9525000" cy="160338"/>
          </a:xfrm>
          <a:prstGeom prst="rect">
            <a:avLst/>
          </a:prstGeom>
          <a:noFill/>
        </p:spPr>
        <p:txBody>
          <a:bodyPr wrap="none" anchor="t" lIns="0" rIns="0" tIns="0" bIns="0">
            <a:noAutofit/>
          </a:bodyPr>
          <a:lstStyle/>
          <a:p>
            <a:pPr algn="l">
              <a:lnSpc>
                <a:spcPts val="1062"/>
              </a:lnSpc>
              <a:spcBef>
                <a:spcPts val="0"/>
              </a:spcBef>
              <a:spcAft>
                <a:spcPts val="0"/>
              </a:spcAft>
            </a:pPr>
            <a:r>
              <a:rPr sz="850" b="0">
                <a:solidFill>
                  <a:srgbClr val="8A9AB5"/>
                </a:solidFill>
                <a:latin typeface="Arial"/>
              </a:rPr>
              <a:t>Catatan: jumlah provinsi, DPD, dan target waktu merupakan angka ilustrasi pada data demo.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SOLUSI</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06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Satu platform, tiga modul utama</a:t>
            </a:r>
          </a:p>
        </p:txBody>
      </p:sp>
      <p:sp>
        <p:nvSpPr>
          <p:cNvPr id="7" name="Rounded Rectangle 6"/>
          <p:cNvSpPr/>
          <p:nvPr/>
        </p:nvSpPr>
        <p:spPr>
          <a:xfrm>
            <a:off x="609600" y="1651000"/>
            <a:ext cx="3522133" cy="4254500"/>
          </a:xfrm>
          <a:prstGeom prst="roundRect">
            <a:avLst>
              <a:gd name="adj" fmla="val 36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ome_506x330_None_-0-5-0-0-.jpg"/>
          <p:cNvPicPr>
            <a:picLocks noChangeAspect="1"/>
          </p:cNvPicPr>
          <p:nvPr/>
        </p:nvPicPr>
        <p:blipFill>
          <a:blip r:embed="rId2"/>
          <a:stretch>
            <a:fillRect/>
          </a:stretch>
        </p:blipFill>
        <p:spPr>
          <a:xfrm>
            <a:off x="762000" y="1803400"/>
            <a:ext cx="3217333" cy="2095500"/>
          </a:xfrm>
          <a:prstGeom prst="rect">
            <a:avLst/>
          </a:prstGeom>
        </p:spPr>
      </p:pic>
      <p:sp>
        <p:nvSpPr>
          <p:cNvPr id="9" name="Rectangle 8"/>
          <p:cNvSpPr/>
          <p:nvPr/>
        </p:nvSpPr>
        <p:spPr>
          <a:xfrm>
            <a:off x="762000" y="1803400"/>
            <a:ext cx="3217333" cy="2095500"/>
          </a:xfrm>
          <a:prstGeom prst="rect">
            <a:avLst/>
          </a:prstGeom>
          <a:no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3600" y="4114800"/>
            <a:ext cx="381000" cy="231775"/>
          </a:xfrm>
          <a:prstGeom prst="rect">
            <a:avLst/>
          </a:prstGeom>
          <a:noFill/>
        </p:spPr>
        <p:txBody>
          <a:bodyPr wrap="none" anchor="t" lIns="0" rIns="0" tIns="0" bIns="0">
            <a:noAutofit/>
          </a:bodyPr>
          <a:lstStyle/>
          <a:p>
            <a:pPr algn="l">
              <a:lnSpc>
                <a:spcPts val="1625"/>
              </a:lnSpc>
              <a:spcBef>
                <a:spcPts val="0"/>
              </a:spcBef>
              <a:spcAft>
                <a:spcPts val="0"/>
              </a:spcAft>
            </a:pPr>
            <a:r>
              <a:rPr sz="1300" b="1">
                <a:solidFill>
                  <a:srgbClr val="E01729"/>
                </a:solidFill>
                <a:latin typeface="Arial"/>
              </a:rPr>
              <a:t>01</a:t>
            </a:r>
          </a:p>
        </p:txBody>
      </p:sp>
      <p:sp>
        <p:nvSpPr>
          <p:cNvPr id="11" name="TextBox 10"/>
          <p:cNvSpPr txBox="1"/>
          <p:nvPr/>
        </p:nvSpPr>
        <p:spPr>
          <a:xfrm>
            <a:off x="1181100" y="4089400"/>
            <a:ext cx="2696633" cy="358775"/>
          </a:xfrm>
          <a:prstGeom prst="rect">
            <a:avLst/>
          </a:prstGeom>
          <a:noFill/>
        </p:spPr>
        <p:txBody>
          <a:bodyPr wrap="none" anchor="t" lIns="0" rIns="0" tIns="0" bIns="0">
            <a:noAutofit/>
          </a:bodyPr>
          <a:lstStyle/>
          <a:p>
            <a:pPr algn="l">
              <a:lnSpc>
                <a:spcPts val="2625"/>
              </a:lnSpc>
              <a:spcBef>
                <a:spcPts val="0"/>
              </a:spcBef>
              <a:spcAft>
                <a:spcPts val="0"/>
              </a:spcAft>
            </a:pPr>
            <a:r>
              <a:rPr sz="2100" b="1">
                <a:solidFill>
                  <a:srgbClr val="071A36"/>
                </a:solidFill>
                <a:latin typeface="Arial"/>
              </a:rPr>
              <a:t>Portal Publik</a:t>
            </a:r>
          </a:p>
        </p:txBody>
      </p:sp>
      <p:sp>
        <p:nvSpPr>
          <p:cNvPr id="12" name="Oval 11"/>
          <p:cNvSpPr/>
          <p:nvPr/>
        </p:nvSpPr>
        <p:spPr>
          <a:xfrm>
            <a:off x="876300" y="46037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41400" y="45466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Profil pusat, provinsi, kota/kab.</a:t>
            </a:r>
          </a:p>
        </p:txBody>
      </p:sp>
      <p:sp>
        <p:nvSpPr>
          <p:cNvPr id="14" name="Oval 13"/>
          <p:cNvSpPr/>
          <p:nvPr/>
        </p:nvSpPr>
        <p:spPr>
          <a:xfrm>
            <a:off x="876300" y="49720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41400" y="49149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Struktur organisasi &amp; kewenangan</a:t>
            </a:r>
          </a:p>
        </p:txBody>
      </p:sp>
      <p:sp>
        <p:nvSpPr>
          <p:cNvPr id="16" name="Oval 15"/>
          <p:cNvSpPr/>
          <p:nvPr/>
        </p:nvSpPr>
        <p:spPr>
          <a:xfrm>
            <a:off x="876300" y="53403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41400" y="52832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Pendaftaran anggota &amp; kontak</a:t>
            </a:r>
          </a:p>
        </p:txBody>
      </p:sp>
      <p:sp>
        <p:nvSpPr>
          <p:cNvPr id="18" name="Rounded Rectangle 17"/>
          <p:cNvSpPr/>
          <p:nvPr/>
        </p:nvSpPr>
        <p:spPr>
          <a:xfrm>
            <a:off x="4334933" y="1651000"/>
            <a:ext cx="3522133" cy="4254500"/>
          </a:xfrm>
          <a:prstGeom prst="roundRect">
            <a:avLst>
              <a:gd name="adj" fmla="val 36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pss_506x330_None_-0-5-0-1-.jpg"/>
          <p:cNvPicPr>
            <a:picLocks noChangeAspect="1"/>
          </p:cNvPicPr>
          <p:nvPr/>
        </p:nvPicPr>
        <p:blipFill>
          <a:blip r:embed="rId3"/>
          <a:stretch>
            <a:fillRect/>
          </a:stretch>
        </p:blipFill>
        <p:spPr>
          <a:xfrm>
            <a:off x="4487333" y="1803400"/>
            <a:ext cx="3217333" cy="2095500"/>
          </a:xfrm>
          <a:prstGeom prst="rect">
            <a:avLst/>
          </a:prstGeom>
        </p:spPr>
      </p:pic>
      <p:sp>
        <p:nvSpPr>
          <p:cNvPr id="20" name="Rectangle 19"/>
          <p:cNvSpPr/>
          <p:nvPr/>
        </p:nvSpPr>
        <p:spPr>
          <a:xfrm>
            <a:off x="4487333" y="1803400"/>
            <a:ext cx="3217333" cy="2095500"/>
          </a:xfrm>
          <a:prstGeom prst="rect">
            <a:avLst/>
          </a:prstGeom>
          <a:no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88933" y="4114800"/>
            <a:ext cx="381000" cy="231775"/>
          </a:xfrm>
          <a:prstGeom prst="rect">
            <a:avLst/>
          </a:prstGeom>
          <a:noFill/>
        </p:spPr>
        <p:txBody>
          <a:bodyPr wrap="none" anchor="t" lIns="0" rIns="0" tIns="0" bIns="0">
            <a:noAutofit/>
          </a:bodyPr>
          <a:lstStyle/>
          <a:p>
            <a:pPr algn="l">
              <a:lnSpc>
                <a:spcPts val="1625"/>
              </a:lnSpc>
              <a:spcBef>
                <a:spcPts val="0"/>
              </a:spcBef>
              <a:spcAft>
                <a:spcPts val="0"/>
              </a:spcAft>
            </a:pPr>
            <a:r>
              <a:rPr sz="1300" b="1">
                <a:solidFill>
                  <a:srgbClr val="E01729"/>
                </a:solidFill>
                <a:latin typeface="Arial"/>
              </a:rPr>
              <a:t>02</a:t>
            </a:r>
          </a:p>
        </p:txBody>
      </p:sp>
      <p:sp>
        <p:nvSpPr>
          <p:cNvPr id="22" name="TextBox 21"/>
          <p:cNvSpPr txBox="1"/>
          <p:nvPr/>
        </p:nvSpPr>
        <p:spPr>
          <a:xfrm>
            <a:off x="4906433" y="4089400"/>
            <a:ext cx="2696633" cy="358775"/>
          </a:xfrm>
          <a:prstGeom prst="rect">
            <a:avLst/>
          </a:prstGeom>
          <a:noFill/>
        </p:spPr>
        <p:txBody>
          <a:bodyPr wrap="none" anchor="t" lIns="0" rIns="0" tIns="0" bIns="0">
            <a:noAutofit/>
          </a:bodyPr>
          <a:lstStyle/>
          <a:p>
            <a:pPr algn="l">
              <a:lnSpc>
                <a:spcPts val="2625"/>
              </a:lnSpc>
              <a:spcBef>
                <a:spcPts val="0"/>
              </a:spcBef>
              <a:spcAft>
                <a:spcPts val="0"/>
              </a:spcAft>
            </a:pPr>
            <a:r>
              <a:rPr sz="2100" b="1">
                <a:solidFill>
                  <a:srgbClr val="071A36"/>
                </a:solidFill>
                <a:latin typeface="Arial"/>
              </a:rPr>
              <a:t>Dashboard CPSS</a:t>
            </a:r>
          </a:p>
        </p:txBody>
      </p:sp>
      <p:sp>
        <p:nvSpPr>
          <p:cNvPr id="23" name="Oval 22"/>
          <p:cNvSpPr/>
          <p:nvPr/>
        </p:nvSpPr>
        <p:spPr>
          <a:xfrm>
            <a:off x="4601633" y="46037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766733" y="45466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Peta titik layanan se-Indonesia</a:t>
            </a:r>
          </a:p>
        </p:txBody>
      </p:sp>
      <p:sp>
        <p:nvSpPr>
          <p:cNvPr id="25" name="Oval 24"/>
          <p:cNvSpPr/>
          <p:nvPr/>
        </p:nvSpPr>
        <p:spPr>
          <a:xfrm>
            <a:off x="4601633" y="49720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66733" y="49149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Filter wilayah, kategori, pencarian</a:t>
            </a:r>
          </a:p>
        </p:txBody>
      </p:sp>
      <p:sp>
        <p:nvSpPr>
          <p:cNvPr id="27" name="Oval 26"/>
          <p:cNvSpPr/>
          <p:nvPr/>
        </p:nvSpPr>
        <p:spPr>
          <a:xfrm>
            <a:off x="4601633" y="53403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66733" y="52832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Statistik &amp; analitik sebaran</a:t>
            </a:r>
          </a:p>
        </p:txBody>
      </p:sp>
      <p:sp>
        <p:nvSpPr>
          <p:cNvPr id="29" name="Rounded Rectangle 28"/>
          <p:cNvSpPr/>
          <p:nvPr/>
        </p:nvSpPr>
        <p:spPr>
          <a:xfrm>
            <a:off x="8060267" y="1651000"/>
            <a:ext cx="3522133" cy="4254500"/>
          </a:xfrm>
          <a:prstGeom prst="roundRect">
            <a:avLst>
              <a:gd name="adj" fmla="val 36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dash-dpw_506x330_None_-0-5-0-0-.jpg"/>
          <p:cNvPicPr>
            <a:picLocks noChangeAspect="1"/>
          </p:cNvPicPr>
          <p:nvPr/>
        </p:nvPicPr>
        <p:blipFill>
          <a:blip r:embed="rId4"/>
          <a:stretch>
            <a:fillRect/>
          </a:stretch>
        </p:blipFill>
        <p:spPr>
          <a:xfrm>
            <a:off x="8212667" y="1803400"/>
            <a:ext cx="3217333" cy="2095500"/>
          </a:xfrm>
          <a:prstGeom prst="rect">
            <a:avLst/>
          </a:prstGeom>
        </p:spPr>
      </p:pic>
      <p:sp>
        <p:nvSpPr>
          <p:cNvPr id="31" name="Rectangle 30"/>
          <p:cNvSpPr/>
          <p:nvPr/>
        </p:nvSpPr>
        <p:spPr>
          <a:xfrm>
            <a:off x="8212667" y="1803400"/>
            <a:ext cx="3217333" cy="2095500"/>
          </a:xfrm>
          <a:prstGeom prst="rect">
            <a:avLst/>
          </a:prstGeom>
          <a:no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14267" y="4114800"/>
            <a:ext cx="381000" cy="231775"/>
          </a:xfrm>
          <a:prstGeom prst="rect">
            <a:avLst/>
          </a:prstGeom>
          <a:noFill/>
        </p:spPr>
        <p:txBody>
          <a:bodyPr wrap="none" anchor="t" lIns="0" rIns="0" tIns="0" bIns="0">
            <a:noAutofit/>
          </a:bodyPr>
          <a:lstStyle/>
          <a:p>
            <a:pPr algn="l">
              <a:lnSpc>
                <a:spcPts val="1625"/>
              </a:lnSpc>
              <a:spcBef>
                <a:spcPts val="0"/>
              </a:spcBef>
              <a:spcAft>
                <a:spcPts val="0"/>
              </a:spcAft>
            </a:pPr>
            <a:r>
              <a:rPr sz="1300" b="1">
                <a:solidFill>
                  <a:srgbClr val="E01729"/>
                </a:solidFill>
                <a:latin typeface="Arial"/>
              </a:rPr>
              <a:t>03</a:t>
            </a:r>
          </a:p>
        </p:txBody>
      </p:sp>
      <p:sp>
        <p:nvSpPr>
          <p:cNvPr id="33" name="TextBox 32"/>
          <p:cNvSpPr txBox="1"/>
          <p:nvPr/>
        </p:nvSpPr>
        <p:spPr>
          <a:xfrm>
            <a:off x="8631767" y="4089400"/>
            <a:ext cx="2696633" cy="358775"/>
          </a:xfrm>
          <a:prstGeom prst="rect">
            <a:avLst/>
          </a:prstGeom>
          <a:noFill/>
        </p:spPr>
        <p:txBody>
          <a:bodyPr wrap="none" anchor="t" lIns="0" rIns="0" tIns="0" bIns="0">
            <a:noAutofit/>
          </a:bodyPr>
          <a:lstStyle/>
          <a:p>
            <a:pPr algn="l">
              <a:lnSpc>
                <a:spcPts val="2625"/>
              </a:lnSpc>
              <a:spcBef>
                <a:spcPts val="0"/>
              </a:spcBef>
              <a:spcAft>
                <a:spcPts val="0"/>
              </a:spcAft>
            </a:pPr>
            <a:r>
              <a:rPr sz="2100" b="1">
                <a:solidFill>
                  <a:srgbClr val="071A36"/>
                </a:solidFill>
                <a:latin typeface="Arial"/>
              </a:rPr>
              <a:t>Dashboard Internal</a:t>
            </a:r>
          </a:p>
        </p:txBody>
      </p:sp>
      <p:sp>
        <p:nvSpPr>
          <p:cNvPr id="34" name="Oval 33"/>
          <p:cNvSpPr/>
          <p:nvPr/>
        </p:nvSpPr>
        <p:spPr>
          <a:xfrm>
            <a:off x="8326967" y="46037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92067" y="45466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Pengajuan titik oleh tim lapangan</a:t>
            </a:r>
          </a:p>
        </p:txBody>
      </p:sp>
      <p:sp>
        <p:nvSpPr>
          <p:cNvPr id="36" name="Oval 35"/>
          <p:cNvSpPr/>
          <p:nvPr/>
        </p:nvSpPr>
        <p:spPr>
          <a:xfrm>
            <a:off x="8326967" y="49720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92067" y="49149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Verifikasi DPW &amp; persetujuan DPP</a:t>
            </a:r>
          </a:p>
        </p:txBody>
      </p:sp>
      <p:sp>
        <p:nvSpPr>
          <p:cNvPr id="38" name="Oval 37"/>
          <p:cNvSpPr/>
          <p:nvPr/>
        </p:nvSpPr>
        <p:spPr>
          <a:xfrm>
            <a:off x="8326967" y="5340350"/>
            <a:ext cx="63500" cy="635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492067" y="5283200"/>
            <a:ext cx="2823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5B6B85"/>
                </a:solidFill>
                <a:latin typeface="Arial"/>
              </a:rPr>
              <a:t>Notifikasi &amp; data anggota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DASHBOARD CPSS</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07 / 18</a:t>
            </a:r>
          </a:p>
        </p:txBody>
      </p:sp>
      <p:sp>
        <p:nvSpPr>
          <p:cNvPr id="6" name="TextBox 5"/>
          <p:cNvSpPr txBox="1"/>
          <p:nvPr/>
        </p:nvSpPr>
        <p:spPr>
          <a:xfrm>
            <a:off x="609600" y="812800"/>
            <a:ext cx="3810000" cy="755650"/>
          </a:xfrm>
          <a:prstGeom prst="rect">
            <a:avLst/>
          </a:prstGeom>
          <a:noFill/>
        </p:spPr>
        <p:txBody>
          <a:bodyPr wrap="none" anchor="t" lIns="0" rIns="0" tIns="0" bIns="0">
            <a:noAutofit/>
          </a:bodyPr>
          <a:lstStyle/>
          <a:p>
            <a:pPr algn="l">
              <a:lnSpc>
                <a:spcPts val="2874"/>
              </a:lnSpc>
              <a:spcBef>
                <a:spcPts val="0"/>
              </a:spcBef>
              <a:spcAft>
                <a:spcPts val="0"/>
              </a:spcAft>
            </a:pPr>
            <a:r>
              <a:rPr sz="2500" b="1">
                <a:solidFill>
                  <a:srgbClr val="071A36"/>
                </a:solidFill>
                <a:latin typeface="Arial"/>
              </a:rPr>
              <a:t>Halaman terpenting:</a:t>
            </a:r>
          </a:p>
          <a:p>
            <a:pPr algn="l">
              <a:lnSpc>
                <a:spcPts val="2874"/>
              </a:lnSpc>
              <a:spcBef>
                <a:spcPts val="0"/>
              </a:spcBef>
              <a:spcAft>
                <a:spcPts val="0"/>
              </a:spcAft>
            </a:pPr>
            <a:r>
              <a:rPr sz="2500" b="1">
                <a:solidFill>
                  <a:srgbClr val="071A36"/>
                </a:solidFill>
                <a:latin typeface="Arial"/>
              </a:rPr>
              <a:t>peta nasional CPSS</a:t>
            </a:r>
          </a:p>
        </p:txBody>
      </p:sp>
      <p:sp>
        <p:nvSpPr>
          <p:cNvPr id="7" name="Oval 6"/>
          <p:cNvSpPr/>
          <p:nvPr/>
        </p:nvSpPr>
        <p:spPr>
          <a:xfrm>
            <a:off x="609600" y="2159000"/>
            <a:ext cx="279400" cy="279400"/>
          </a:xfrm>
          <a:prstGeom prst="ellipse">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2222500"/>
            <a:ext cx="279400" cy="215900"/>
          </a:xfrm>
          <a:prstGeom prst="rect">
            <a:avLst/>
          </a:prstGeom>
          <a:noFill/>
        </p:spPr>
        <p:txBody>
          <a:bodyPr wrap="none" anchor="t" lIns="0" rIns="0" tIns="0" bIns="0">
            <a:noAutofit/>
          </a:bodyPr>
          <a:lstStyle/>
          <a:p>
            <a:pPr algn="ctr">
              <a:lnSpc>
                <a:spcPts val="1500"/>
              </a:lnSpc>
              <a:spcBef>
                <a:spcPts val="0"/>
              </a:spcBef>
              <a:spcAft>
                <a:spcPts val="0"/>
              </a:spcAft>
            </a:pPr>
            <a:r>
              <a:rPr sz="1200" b="1">
                <a:solidFill>
                  <a:srgbClr val="FFFFFF"/>
                </a:solidFill>
                <a:latin typeface="Arial"/>
              </a:rPr>
              <a:t>1</a:t>
            </a:r>
          </a:p>
        </p:txBody>
      </p:sp>
      <p:sp>
        <p:nvSpPr>
          <p:cNvPr id="9" name="TextBox 8"/>
          <p:cNvSpPr txBox="1"/>
          <p:nvPr/>
        </p:nvSpPr>
        <p:spPr>
          <a:xfrm>
            <a:off x="1016000" y="2171700"/>
            <a:ext cx="3048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Statistik ringkas</a:t>
            </a:r>
          </a:p>
        </p:txBody>
      </p:sp>
      <p:sp>
        <p:nvSpPr>
          <p:cNvPr id="10" name="TextBox 9"/>
          <p:cNvSpPr txBox="1"/>
          <p:nvPr/>
        </p:nvSpPr>
        <p:spPr>
          <a:xfrm>
            <a:off x="1016000" y="2438400"/>
            <a:ext cx="304800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Jumlah titik aktif, provinsi terjangkau,</a:t>
            </a:r>
          </a:p>
          <a:p>
            <a:pPr algn="l">
              <a:lnSpc>
                <a:spcPts val="1750"/>
              </a:lnSpc>
              <a:spcBef>
                <a:spcPts val="0"/>
              </a:spcBef>
              <a:spcAft>
                <a:spcPts val="0"/>
              </a:spcAft>
            </a:pPr>
            <a:r>
              <a:rPr sz="1250" b="0">
                <a:solidFill>
                  <a:srgbClr val="5B6B85"/>
                </a:solidFill>
                <a:latin typeface="Arial"/>
              </a:rPr>
              <a:t>kapasitas terpasang.</a:t>
            </a:r>
          </a:p>
        </p:txBody>
      </p:sp>
      <p:sp>
        <p:nvSpPr>
          <p:cNvPr id="11" name="Oval 10"/>
          <p:cNvSpPr/>
          <p:nvPr/>
        </p:nvSpPr>
        <p:spPr>
          <a:xfrm>
            <a:off x="609600" y="3111500"/>
            <a:ext cx="279400" cy="279400"/>
          </a:xfrm>
          <a:prstGeom prst="ellipse">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9600" y="3175000"/>
            <a:ext cx="279400" cy="215900"/>
          </a:xfrm>
          <a:prstGeom prst="rect">
            <a:avLst/>
          </a:prstGeom>
          <a:noFill/>
        </p:spPr>
        <p:txBody>
          <a:bodyPr wrap="none" anchor="t" lIns="0" rIns="0" tIns="0" bIns="0">
            <a:noAutofit/>
          </a:bodyPr>
          <a:lstStyle/>
          <a:p>
            <a:pPr algn="ctr">
              <a:lnSpc>
                <a:spcPts val="1500"/>
              </a:lnSpc>
              <a:spcBef>
                <a:spcPts val="0"/>
              </a:spcBef>
              <a:spcAft>
                <a:spcPts val="0"/>
              </a:spcAft>
            </a:pPr>
            <a:r>
              <a:rPr sz="1200" b="1">
                <a:solidFill>
                  <a:srgbClr val="FFFFFF"/>
                </a:solidFill>
                <a:latin typeface="Arial"/>
              </a:rPr>
              <a:t>2</a:t>
            </a:r>
          </a:p>
        </p:txBody>
      </p:sp>
      <p:sp>
        <p:nvSpPr>
          <p:cNvPr id="13" name="TextBox 12"/>
          <p:cNvSpPr txBox="1"/>
          <p:nvPr/>
        </p:nvSpPr>
        <p:spPr>
          <a:xfrm>
            <a:off x="1016000" y="3124200"/>
            <a:ext cx="3048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Peta Indonesia</a:t>
            </a:r>
          </a:p>
        </p:txBody>
      </p:sp>
      <p:sp>
        <p:nvSpPr>
          <p:cNvPr id="14" name="TextBox 13"/>
          <p:cNvSpPr txBox="1"/>
          <p:nvPr/>
        </p:nvSpPr>
        <p:spPr>
          <a:xfrm>
            <a:off x="1016000" y="3390900"/>
            <a:ext cx="304800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Setiap titik tampil sesuai koordinat GPS</a:t>
            </a:r>
          </a:p>
          <a:p>
            <a:pPr algn="l">
              <a:lnSpc>
                <a:spcPts val="1750"/>
              </a:lnSpc>
              <a:spcBef>
                <a:spcPts val="0"/>
              </a:spcBef>
              <a:spcAft>
                <a:spcPts val="0"/>
              </a:spcAft>
            </a:pPr>
            <a:r>
              <a:rPr sz="1250" b="0">
                <a:solidFill>
                  <a:srgbClr val="5B6B85"/>
                </a:solidFill>
                <a:latin typeface="Arial"/>
              </a:rPr>
              <a:t>dan kategorinya.</a:t>
            </a:r>
          </a:p>
        </p:txBody>
      </p:sp>
      <p:sp>
        <p:nvSpPr>
          <p:cNvPr id="15" name="Oval 14"/>
          <p:cNvSpPr/>
          <p:nvPr/>
        </p:nvSpPr>
        <p:spPr>
          <a:xfrm>
            <a:off x="609600" y="4064000"/>
            <a:ext cx="279400" cy="279400"/>
          </a:xfrm>
          <a:prstGeom prst="ellipse">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9600" y="4127500"/>
            <a:ext cx="279400" cy="215900"/>
          </a:xfrm>
          <a:prstGeom prst="rect">
            <a:avLst/>
          </a:prstGeom>
          <a:noFill/>
        </p:spPr>
        <p:txBody>
          <a:bodyPr wrap="none" anchor="t" lIns="0" rIns="0" tIns="0" bIns="0">
            <a:noAutofit/>
          </a:bodyPr>
          <a:lstStyle/>
          <a:p>
            <a:pPr algn="ctr">
              <a:lnSpc>
                <a:spcPts val="1500"/>
              </a:lnSpc>
              <a:spcBef>
                <a:spcPts val="0"/>
              </a:spcBef>
              <a:spcAft>
                <a:spcPts val="0"/>
              </a:spcAft>
            </a:pPr>
            <a:r>
              <a:rPr sz="1200" b="1">
                <a:solidFill>
                  <a:srgbClr val="FFFFFF"/>
                </a:solidFill>
                <a:latin typeface="Arial"/>
              </a:rPr>
              <a:t>3</a:t>
            </a:r>
          </a:p>
        </p:txBody>
      </p:sp>
      <p:sp>
        <p:nvSpPr>
          <p:cNvPr id="17" name="TextBox 16"/>
          <p:cNvSpPr txBox="1"/>
          <p:nvPr/>
        </p:nvSpPr>
        <p:spPr>
          <a:xfrm>
            <a:off x="1016000" y="4076700"/>
            <a:ext cx="3048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Filter &amp; pencarian</a:t>
            </a:r>
          </a:p>
        </p:txBody>
      </p:sp>
      <p:sp>
        <p:nvSpPr>
          <p:cNvPr id="18" name="TextBox 17"/>
          <p:cNvSpPr txBox="1"/>
          <p:nvPr/>
        </p:nvSpPr>
        <p:spPr>
          <a:xfrm>
            <a:off x="1016000" y="4343400"/>
            <a:ext cx="304800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Per pulau, provinsi, kategori, atau nama</a:t>
            </a:r>
          </a:p>
          <a:p>
            <a:pPr algn="l">
              <a:lnSpc>
                <a:spcPts val="1750"/>
              </a:lnSpc>
              <a:spcBef>
                <a:spcPts val="0"/>
              </a:spcBef>
              <a:spcAft>
                <a:spcPts val="0"/>
              </a:spcAft>
            </a:pPr>
            <a:r>
              <a:rPr sz="1250" b="0">
                <a:solidFill>
                  <a:srgbClr val="5B6B85"/>
                </a:solidFill>
                <a:latin typeface="Arial"/>
              </a:rPr>
              <a:t>titik.</a:t>
            </a:r>
          </a:p>
        </p:txBody>
      </p:sp>
      <p:sp>
        <p:nvSpPr>
          <p:cNvPr id="19" name="Oval 18"/>
          <p:cNvSpPr/>
          <p:nvPr/>
        </p:nvSpPr>
        <p:spPr>
          <a:xfrm>
            <a:off x="609600" y="5016500"/>
            <a:ext cx="279400" cy="2794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9600" y="5080000"/>
            <a:ext cx="279400" cy="215900"/>
          </a:xfrm>
          <a:prstGeom prst="rect">
            <a:avLst/>
          </a:prstGeom>
          <a:noFill/>
        </p:spPr>
        <p:txBody>
          <a:bodyPr wrap="none" anchor="t" lIns="0" rIns="0" tIns="0" bIns="0">
            <a:noAutofit/>
          </a:bodyPr>
          <a:lstStyle/>
          <a:p>
            <a:pPr algn="ctr">
              <a:lnSpc>
                <a:spcPts val="1500"/>
              </a:lnSpc>
              <a:spcBef>
                <a:spcPts val="0"/>
              </a:spcBef>
              <a:spcAft>
                <a:spcPts val="0"/>
              </a:spcAft>
            </a:pPr>
            <a:r>
              <a:rPr sz="1200" b="1">
                <a:solidFill>
                  <a:srgbClr val="FFFFFF"/>
                </a:solidFill>
                <a:latin typeface="Arial"/>
              </a:rPr>
              <a:t>4</a:t>
            </a:r>
          </a:p>
        </p:txBody>
      </p:sp>
      <p:sp>
        <p:nvSpPr>
          <p:cNvPr id="21" name="TextBox 20"/>
          <p:cNvSpPr txBox="1"/>
          <p:nvPr/>
        </p:nvSpPr>
        <p:spPr>
          <a:xfrm>
            <a:off x="1016000" y="5029200"/>
            <a:ext cx="3048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Hanya titik sah</a:t>
            </a:r>
          </a:p>
        </p:txBody>
      </p:sp>
      <p:sp>
        <p:nvSpPr>
          <p:cNvPr id="22" name="TextBox 21"/>
          <p:cNvSpPr txBox="1"/>
          <p:nvPr/>
        </p:nvSpPr>
        <p:spPr>
          <a:xfrm>
            <a:off x="1016000" y="5295900"/>
            <a:ext cx="304800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Yang tampil hanya titik yang sudah</a:t>
            </a:r>
          </a:p>
          <a:p>
            <a:pPr algn="l">
              <a:lnSpc>
                <a:spcPts val="1750"/>
              </a:lnSpc>
              <a:spcBef>
                <a:spcPts val="0"/>
              </a:spcBef>
              <a:spcAft>
                <a:spcPts val="0"/>
              </a:spcAft>
            </a:pPr>
            <a:r>
              <a:rPr sz="1250" b="0">
                <a:solidFill>
                  <a:srgbClr val="5B6B85"/>
                </a:solidFill>
                <a:latin typeface="Arial"/>
              </a:rPr>
              <a:t>disetujui DPP.</a:t>
            </a:r>
          </a:p>
        </p:txBody>
      </p:sp>
      <p:sp>
        <p:nvSpPr>
          <p:cNvPr id="23" name="Rounded Rectangle 22"/>
          <p:cNvSpPr/>
          <p:nvPr/>
        </p:nvSpPr>
        <p:spPr>
          <a:xfrm>
            <a:off x="4438650" y="946150"/>
            <a:ext cx="7150100" cy="5092700"/>
          </a:xfrm>
          <a:prstGeom prst="roundRect">
            <a:avLst>
              <a:gd name="adj" fmla="val 1745"/>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4445000" y="952500"/>
            <a:ext cx="7137400" cy="304800"/>
          </a:xfrm>
          <a:prstGeom prst="roundRect">
            <a:avLst>
              <a:gd name="adj" fmla="val 27083"/>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45000" y="1155700"/>
            <a:ext cx="7137400" cy="101600"/>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546600" y="1028700"/>
            <a:ext cx="63500" cy="63500"/>
          </a:xfrm>
          <a:prstGeom prst="ellipse">
            <a:avLst/>
          </a:prstGeom>
          <a:solidFill>
            <a:srgbClr val="FF6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660900" y="1028700"/>
            <a:ext cx="63500" cy="635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775200" y="1028700"/>
            <a:ext cx="63500" cy="63500"/>
          </a:xfrm>
          <a:prstGeom prst="ellipse">
            <a:avLst/>
          </a:prstGeom>
          <a:solidFill>
            <a:srgbClr val="28C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991100" y="996950"/>
            <a:ext cx="22860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67300" y="1009650"/>
            <a:ext cx="2159000" cy="144462"/>
          </a:xfrm>
          <a:prstGeom prst="rect">
            <a:avLst/>
          </a:prstGeom>
          <a:noFill/>
        </p:spPr>
        <p:txBody>
          <a:bodyPr wrap="none" anchor="t" lIns="0" rIns="0" tIns="0" bIns="0">
            <a:noAutofit/>
          </a:bodyPr>
          <a:lstStyle/>
          <a:p>
            <a:pPr algn="l">
              <a:lnSpc>
                <a:spcPts val="937"/>
              </a:lnSpc>
              <a:spcBef>
                <a:spcPts val="0"/>
              </a:spcBef>
              <a:spcAft>
                <a:spcPts val="0"/>
              </a:spcAft>
            </a:pPr>
            <a:r>
              <a:rPr sz="750" b="0">
                <a:solidFill>
                  <a:srgbClr val="5B6B85"/>
                </a:solidFill>
                <a:latin typeface="Arial"/>
              </a:rPr>
              <a:t>ahyo.github.io/gpn08/cpss</a:t>
            </a:r>
          </a:p>
        </p:txBody>
      </p:sp>
      <p:pic>
        <p:nvPicPr>
          <p:cNvPr id="31" name="Picture 30" descr="cpss_1124x766_None_-0-5-0-0-.jpg"/>
          <p:cNvPicPr>
            <a:picLocks noChangeAspect="1"/>
          </p:cNvPicPr>
          <p:nvPr/>
        </p:nvPicPr>
        <p:blipFill>
          <a:blip r:embed="rId2"/>
          <a:stretch>
            <a:fillRect/>
          </a:stretch>
        </p:blipFill>
        <p:spPr>
          <a:xfrm>
            <a:off x="4445000" y="1168400"/>
            <a:ext cx="7137400" cy="4864100"/>
          </a:xfrm>
          <a:prstGeom prst="rect">
            <a:avLst/>
          </a:prstGeom>
        </p:spPr>
      </p:pic>
      <p:sp>
        <p:nvSpPr>
          <p:cNvPr id="32" name="TextBox 31"/>
          <p:cNvSpPr txBox="1"/>
          <p:nvPr/>
        </p:nvSpPr>
        <p:spPr>
          <a:xfrm>
            <a:off x="609600" y="6273800"/>
            <a:ext cx="9525000" cy="160338"/>
          </a:xfrm>
          <a:prstGeom prst="rect">
            <a:avLst/>
          </a:prstGeom>
          <a:noFill/>
        </p:spPr>
        <p:txBody>
          <a:bodyPr wrap="none" anchor="t" lIns="0" rIns="0" tIns="0" bIns="0">
            <a:noAutofit/>
          </a:bodyPr>
          <a:lstStyle/>
          <a:p>
            <a:pPr algn="l">
              <a:lnSpc>
                <a:spcPts val="1062"/>
              </a:lnSpc>
              <a:spcBef>
                <a:spcPts val="0"/>
              </a:spcBef>
              <a:spcAft>
                <a:spcPts val="0"/>
              </a:spcAft>
            </a:pPr>
            <a:r>
              <a:rPr sz="850" b="0">
                <a:solidFill>
                  <a:srgbClr val="8A9AB5"/>
                </a:solidFill>
                <a:latin typeface="Arial"/>
              </a:rPr>
              <a:t>Data titik pada tangkapan layar adalah data contoh.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DASHBOARD CPSS</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08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Informasi lengkap di setiap titik</a:t>
            </a:r>
          </a:p>
        </p:txBody>
      </p:sp>
      <p:sp>
        <p:nvSpPr>
          <p:cNvPr id="7" name="Rounded Rectangle 6"/>
          <p:cNvSpPr/>
          <p:nvPr/>
        </p:nvSpPr>
        <p:spPr>
          <a:xfrm>
            <a:off x="603250" y="1517650"/>
            <a:ext cx="6743700" cy="4457700"/>
          </a:xfrm>
          <a:prstGeom prst="roundRect">
            <a:avLst>
              <a:gd name="adj" fmla="val 1994"/>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09600" y="1524000"/>
            <a:ext cx="6731000" cy="304800"/>
          </a:xfrm>
          <a:prstGeom prst="roundRect">
            <a:avLst>
              <a:gd name="adj" fmla="val 27083"/>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9600" y="1727200"/>
            <a:ext cx="6731000" cy="101600"/>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11200" y="1600200"/>
            <a:ext cx="63500" cy="63500"/>
          </a:xfrm>
          <a:prstGeom prst="ellipse">
            <a:avLst/>
          </a:prstGeom>
          <a:solidFill>
            <a:srgbClr val="FF6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5500" y="1600200"/>
            <a:ext cx="63500" cy="635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39800" y="1600200"/>
            <a:ext cx="63500" cy="63500"/>
          </a:xfrm>
          <a:prstGeom prst="ellipse">
            <a:avLst/>
          </a:prstGeom>
          <a:solidFill>
            <a:srgbClr val="28C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155700" y="1568450"/>
            <a:ext cx="22860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31900" y="1581150"/>
            <a:ext cx="2159000" cy="144462"/>
          </a:xfrm>
          <a:prstGeom prst="rect">
            <a:avLst/>
          </a:prstGeom>
          <a:noFill/>
        </p:spPr>
        <p:txBody>
          <a:bodyPr wrap="none" anchor="t" lIns="0" rIns="0" tIns="0" bIns="0">
            <a:noAutofit/>
          </a:bodyPr>
          <a:lstStyle/>
          <a:p>
            <a:pPr algn="l">
              <a:lnSpc>
                <a:spcPts val="937"/>
              </a:lnSpc>
              <a:spcBef>
                <a:spcPts val="0"/>
              </a:spcBef>
              <a:spcAft>
                <a:spcPts val="0"/>
              </a:spcAft>
            </a:pPr>
            <a:r>
              <a:rPr sz="750" b="0">
                <a:solidFill>
                  <a:srgbClr val="5B6B85"/>
                </a:solidFill>
                <a:latin typeface="Arial"/>
              </a:rPr>
              <a:t>ahyo.github.io/gpn08/cpss</a:t>
            </a:r>
          </a:p>
        </p:txBody>
      </p:sp>
      <p:pic>
        <p:nvPicPr>
          <p:cNvPr id="15" name="Picture 14" descr="cpss-popup_1060x666_None_-0-5-0-35-.jpg"/>
          <p:cNvPicPr>
            <a:picLocks noChangeAspect="1"/>
          </p:cNvPicPr>
          <p:nvPr/>
        </p:nvPicPr>
        <p:blipFill>
          <a:blip r:embed="rId2"/>
          <a:stretch>
            <a:fillRect/>
          </a:stretch>
        </p:blipFill>
        <p:spPr>
          <a:xfrm>
            <a:off x="609600" y="1739900"/>
            <a:ext cx="6731000" cy="4229100"/>
          </a:xfrm>
          <a:prstGeom prst="rect">
            <a:avLst/>
          </a:prstGeom>
        </p:spPr>
      </p:pic>
      <p:sp>
        <p:nvSpPr>
          <p:cNvPr id="16" name="TextBox 15"/>
          <p:cNvSpPr txBox="1"/>
          <p:nvPr/>
        </p:nvSpPr>
        <p:spPr>
          <a:xfrm>
            <a:off x="7747000" y="1587500"/>
            <a:ext cx="3835400" cy="231775"/>
          </a:xfrm>
          <a:prstGeom prst="rect">
            <a:avLst/>
          </a:prstGeom>
          <a:noFill/>
        </p:spPr>
        <p:txBody>
          <a:bodyPr wrap="none" anchor="t" lIns="0" rIns="0" tIns="0" bIns="0">
            <a:noAutofit/>
          </a:bodyPr>
          <a:lstStyle/>
          <a:p>
            <a:pPr algn="l">
              <a:lnSpc>
                <a:spcPts val="1625"/>
              </a:lnSpc>
              <a:spcBef>
                <a:spcPts val="0"/>
              </a:spcBef>
              <a:spcAft>
                <a:spcPts val="0"/>
              </a:spcAft>
            </a:pPr>
            <a:r>
              <a:rPr sz="1300" b="1">
                <a:solidFill>
                  <a:srgbClr val="8A9AB5"/>
                </a:solidFill>
                <a:latin typeface="Arial"/>
              </a:rPr>
              <a:t>Popup titik menampilkan</a:t>
            </a:r>
          </a:p>
        </p:txBody>
      </p:sp>
      <p:sp>
        <p:nvSpPr>
          <p:cNvPr id="17" name="Oval 16"/>
          <p:cNvSpPr/>
          <p:nvPr/>
        </p:nvSpPr>
        <p:spPr>
          <a:xfrm>
            <a:off x="7747000" y="1879600"/>
            <a:ext cx="165100" cy="1651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reeform 17"/>
          <p:cNvSpPr/>
          <p:nvPr/>
        </p:nvSpPr>
        <p:spPr>
          <a:xfrm>
            <a:off x="7778750" y="1930400"/>
            <a:ext cx="101600" cy="82550"/>
          </a:xfrm>
          <a:custGeom>
            <a:avLst/>
            <a:gdLst/>
            <a:ahLst/>
            <a:cxnLst/>
            <a:rect l="l" t="t" r="r" b="b"/>
            <a:pathLst>
              <a:path w="101600" h="82550">
                <a:moveTo>
                  <a:pt x="12700" y="31750"/>
                </a:moveTo>
                <a:lnTo>
                  <a:pt x="38100" y="57150"/>
                </a:lnTo>
                <a:lnTo>
                  <a:pt x="88900" y="0"/>
                </a:lnTo>
                <a:lnTo>
                  <a:pt x="101600" y="12700"/>
                </a:lnTo>
                <a:lnTo>
                  <a:pt x="38100" y="82550"/>
                </a:lnTo>
                <a:lnTo>
                  <a:pt x="0" y="44450"/>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013700" y="18796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Kategori &amp; kode titik</a:t>
            </a:r>
          </a:p>
        </p:txBody>
      </p:sp>
      <p:sp>
        <p:nvSpPr>
          <p:cNvPr id="20" name="Oval 19"/>
          <p:cNvSpPr/>
          <p:nvPr/>
        </p:nvSpPr>
        <p:spPr>
          <a:xfrm>
            <a:off x="7747000" y="2197100"/>
            <a:ext cx="165100" cy="1651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reeform 20"/>
          <p:cNvSpPr/>
          <p:nvPr/>
        </p:nvSpPr>
        <p:spPr>
          <a:xfrm>
            <a:off x="7778750" y="2247900"/>
            <a:ext cx="101600" cy="82550"/>
          </a:xfrm>
          <a:custGeom>
            <a:avLst/>
            <a:gdLst/>
            <a:ahLst/>
            <a:cxnLst/>
            <a:rect l="l" t="t" r="r" b="b"/>
            <a:pathLst>
              <a:path w="101600" h="82550">
                <a:moveTo>
                  <a:pt x="12700" y="31750"/>
                </a:moveTo>
                <a:lnTo>
                  <a:pt x="38100" y="57150"/>
                </a:lnTo>
                <a:lnTo>
                  <a:pt x="88900" y="0"/>
                </a:lnTo>
                <a:lnTo>
                  <a:pt x="101600" y="12700"/>
                </a:lnTo>
                <a:lnTo>
                  <a:pt x="38100" y="82550"/>
                </a:lnTo>
                <a:lnTo>
                  <a:pt x="0" y="44450"/>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013700" y="21971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Kapasitas daya &amp; jumlah konektor</a:t>
            </a:r>
          </a:p>
        </p:txBody>
      </p:sp>
      <p:sp>
        <p:nvSpPr>
          <p:cNvPr id="23" name="Oval 22"/>
          <p:cNvSpPr/>
          <p:nvPr/>
        </p:nvSpPr>
        <p:spPr>
          <a:xfrm>
            <a:off x="7747000" y="2514600"/>
            <a:ext cx="165100" cy="1651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reeform 23"/>
          <p:cNvSpPr/>
          <p:nvPr/>
        </p:nvSpPr>
        <p:spPr>
          <a:xfrm>
            <a:off x="7778750" y="2565400"/>
            <a:ext cx="101600" cy="82550"/>
          </a:xfrm>
          <a:custGeom>
            <a:avLst/>
            <a:gdLst/>
            <a:ahLst/>
            <a:cxnLst/>
            <a:rect l="l" t="t" r="r" b="b"/>
            <a:pathLst>
              <a:path w="101600" h="82550">
                <a:moveTo>
                  <a:pt x="12700" y="31750"/>
                </a:moveTo>
                <a:lnTo>
                  <a:pt x="38100" y="57150"/>
                </a:lnTo>
                <a:lnTo>
                  <a:pt x="88900" y="0"/>
                </a:lnTo>
                <a:lnTo>
                  <a:pt x="101600" y="12700"/>
                </a:lnTo>
                <a:lnTo>
                  <a:pt x="38100" y="82550"/>
                </a:lnTo>
                <a:lnTo>
                  <a:pt x="0" y="44450"/>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13700" y="25146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Jam operasional &amp; tanggal aktif</a:t>
            </a:r>
          </a:p>
        </p:txBody>
      </p:sp>
      <p:sp>
        <p:nvSpPr>
          <p:cNvPr id="26" name="Oval 25"/>
          <p:cNvSpPr/>
          <p:nvPr/>
        </p:nvSpPr>
        <p:spPr>
          <a:xfrm>
            <a:off x="7747000" y="2832100"/>
            <a:ext cx="165100" cy="1651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reeform 26"/>
          <p:cNvSpPr/>
          <p:nvPr/>
        </p:nvSpPr>
        <p:spPr>
          <a:xfrm>
            <a:off x="7778750" y="2882900"/>
            <a:ext cx="101600" cy="82550"/>
          </a:xfrm>
          <a:custGeom>
            <a:avLst/>
            <a:gdLst/>
            <a:ahLst/>
            <a:cxnLst/>
            <a:rect l="l" t="t" r="r" b="b"/>
            <a:pathLst>
              <a:path w="101600" h="82550">
                <a:moveTo>
                  <a:pt x="12700" y="31750"/>
                </a:moveTo>
                <a:lnTo>
                  <a:pt x="38100" y="57150"/>
                </a:lnTo>
                <a:lnTo>
                  <a:pt x="88900" y="0"/>
                </a:lnTo>
                <a:lnTo>
                  <a:pt x="101600" y="12700"/>
                </a:lnTo>
                <a:lnTo>
                  <a:pt x="38100" y="82550"/>
                </a:lnTo>
                <a:lnTo>
                  <a:pt x="0" y="44450"/>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13700" y="28321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Koordinat GPS presisi</a:t>
            </a:r>
          </a:p>
        </p:txBody>
      </p:sp>
      <p:sp>
        <p:nvSpPr>
          <p:cNvPr id="29" name="Oval 28"/>
          <p:cNvSpPr/>
          <p:nvPr/>
        </p:nvSpPr>
        <p:spPr>
          <a:xfrm>
            <a:off x="7747000" y="3149600"/>
            <a:ext cx="165100" cy="1651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Freeform 29"/>
          <p:cNvSpPr/>
          <p:nvPr/>
        </p:nvSpPr>
        <p:spPr>
          <a:xfrm>
            <a:off x="7778750" y="3200400"/>
            <a:ext cx="101600" cy="82550"/>
          </a:xfrm>
          <a:custGeom>
            <a:avLst/>
            <a:gdLst/>
            <a:ahLst/>
            <a:cxnLst/>
            <a:rect l="l" t="t" r="r" b="b"/>
            <a:pathLst>
              <a:path w="101600" h="82550">
                <a:moveTo>
                  <a:pt x="12700" y="31750"/>
                </a:moveTo>
                <a:lnTo>
                  <a:pt x="38100" y="57150"/>
                </a:lnTo>
                <a:lnTo>
                  <a:pt x="88900" y="0"/>
                </a:lnTo>
                <a:lnTo>
                  <a:pt x="101600" y="12700"/>
                </a:lnTo>
                <a:lnTo>
                  <a:pt x="38100" y="82550"/>
                </a:lnTo>
                <a:lnTo>
                  <a:pt x="0" y="44450"/>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013700" y="31496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Penanggung jawab lokasi</a:t>
            </a:r>
          </a:p>
        </p:txBody>
      </p:sp>
      <p:cxnSp>
        <p:nvCxnSpPr>
          <p:cNvPr id="32" name="Connector 31"/>
          <p:cNvCxnSpPr/>
          <p:nvPr/>
        </p:nvCxnSpPr>
        <p:spPr>
          <a:xfrm>
            <a:off x="7747000" y="3556000"/>
            <a:ext cx="3835400" cy="0"/>
          </a:xfrm>
          <a:prstGeom prst="line">
            <a:avLst/>
          </a:prstGeom>
          <a:ln w="9525">
            <a:solidFill>
              <a:srgbClr val="DCE4E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747000" y="3708400"/>
            <a:ext cx="3835400" cy="231775"/>
          </a:xfrm>
          <a:prstGeom prst="rect">
            <a:avLst/>
          </a:prstGeom>
          <a:noFill/>
        </p:spPr>
        <p:txBody>
          <a:bodyPr wrap="none" anchor="t" lIns="0" rIns="0" tIns="0" bIns="0">
            <a:noAutofit/>
          </a:bodyPr>
          <a:lstStyle/>
          <a:p>
            <a:pPr algn="l">
              <a:lnSpc>
                <a:spcPts val="1625"/>
              </a:lnSpc>
              <a:spcBef>
                <a:spcPts val="0"/>
              </a:spcBef>
              <a:spcAft>
                <a:spcPts val="0"/>
              </a:spcAft>
            </a:pPr>
            <a:r>
              <a:rPr sz="1300" b="1">
                <a:solidFill>
                  <a:srgbClr val="8A9AB5"/>
                </a:solidFill>
                <a:latin typeface="Arial"/>
              </a:rPr>
              <a:t>Empat kategori layanan</a:t>
            </a:r>
          </a:p>
        </p:txBody>
      </p:sp>
      <p:sp>
        <p:nvSpPr>
          <p:cNvPr id="34" name="Oval 33"/>
          <p:cNvSpPr/>
          <p:nvPr/>
        </p:nvSpPr>
        <p:spPr>
          <a:xfrm>
            <a:off x="7772400" y="4032250"/>
            <a:ext cx="114300" cy="114300"/>
          </a:xfrm>
          <a:prstGeom prst="ellipse">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013700" y="40005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SPKLU — pengisian cepat</a:t>
            </a:r>
          </a:p>
        </p:txBody>
      </p:sp>
      <p:sp>
        <p:nvSpPr>
          <p:cNvPr id="36" name="Oval 35"/>
          <p:cNvSpPr/>
          <p:nvPr/>
        </p:nvSpPr>
        <p:spPr>
          <a:xfrm>
            <a:off x="7772400" y="4337050"/>
            <a:ext cx="114300" cy="11430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013700" y="43053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SPBKLU — tukar baterai</a:t>
            </a:r>
          </a:p>
        </p:txBody>
      </p:sp>
      <p:sp>
        <p:nvSpPr>
          <p:cNvPr id="38" name="Oval 37"/>
          <p:cNvSpPr/>
          <p:nvPr/>
        </p:nvSpPr>
        <p:spPr>
          <a:xfrm>
            <a:off x="7772400" y="4641850"/>
            <a:ext cx="114300" cy="114300"/>
          </a:xfrm>
          <a:prstGeom prst="ellipse">
            <a:avLst/>
          </a:prstGeom>
          <a:solidFill>
            <a:srgbClr val="C88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013700" y="46101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Unit mobile charging</a:t>
            </a:r>
          </a:p>
        </p:txBody>
      </p:sp>
      <p:sp>
        <p:nvSpPr>
          <p:cNvPr id="40" name="Oval 39"/>
          <p:cNvSpPr/>
          <p:nvPr/>
        </p:nvSpPr>
        <p:spPr>
          <a:xfrm>
            <a:off x="7772400" y="4946650"/>
            <a:ext cx="114300" cy="11430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013700" y="4914900"/>
            <a:ext cx="35687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071A36"/>
                </a:solidFill>
                <a:latin typeface="Arial"/>
              </a:rPr>
              <a:t>Titik komunitas GPN 08</a:t>
            </a:r>
          </a:p>
        </p:txBody>
      </p:sp>
      <p:cxnSp>
        <p:nvCxnSpPr>
          <p:cNvPr id="42" name="Connector 41"/>
          <p:cNvCxnSpPr/>
          <p:nvPr/>
        </p:nvCxnSpPr>
        <p:spPr>
          <a:xfrm>
            <a:off x="7747000" y="5295900"/>
            <a:ext cx="3835400" cy="0"/>
          </a:xfrm>
          <a:prstGeom prst="line">
            <a:avLst/>
          </a:prstGeom>
          <a:ln w="9525">
            <a:solidFill>
              <a:srgbClr val="DCE4E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747000" y="5435600"/>
            <a:ext cx="3835400" cy="487680"/>
          </a:xfrm>
          <a:prstGeom prst="rect">
            <a:avLst/>
          </a:prstGeom>
          <a:noFill/>
        </p:spPr>
        <p:txBody>
          <a:bodyPr wrap="none" anchor="t" lIns="0" rIns="0" tIns="0" bIns="0">
            <a:noAutofit/>
          </a:bodyPr>
          <a:lstStyle/>
          <a:p>
            <a:pPr algn="l">
              <a:lnSpc>
                <a:spcPts val="1820"/>
              </a:lnSpc>
              <a:spcBef>
                <a:spcPts val="0"/>
              </a:spcBef>
              <a:spcAft>
                <a:spcPts val="0"/>
              </a:spcAft>
            </a:pPr>
            <a:r>
              <a:rPr sz="1300" b="0">
                <a:solidFill>
                  <a:srgbClr val="5B6B85"/>
                </a:solidFill>
                <a:latin typeface="Arial"/>
              </a:rPr>
              <a:t>Tiga jenis peta dasar: standar, minimal, dan</a:t>
            </a:r>
          </a:p>
          <a:p>
            <a:pPr algn="l">
              <a:lnSpc>
                <a:spcPts val="1820"/>
              </a:lnSpc>
              <a:spcBef>
                <a:spcPts val="0"/>
              </a:spcBef>
              <a:spcAft>
                <a:spcPts val="0"/>
              </a:spcAft>
            </a:pPr>
            <a:r>
              <a:rPr sz="1300" b="0">
                <a:solidFill>
                  <a:srgbClr val="5B6B85"/>
                </a:solidFill>
                <a:latin typeface="Arial"/>
              </a:rPr>
              <a:t>satelit.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A36"/>
        </a:solidFill>
        <a:effectLst/>
      </p:bgPr>
    </p:bg>
    <p:spTree>
      <p:nvGrpSpPr>
        <p:cNvPr id="1" name=""/>
        <p:cNvGrpSpPr/>
        <p:nvPr/>
      </p:nvGrpSpPr>
      <p:grpSpPr/>
      <p:sp>
        <p:nvSpPr>
          <p:cNvPr id="2" name="Oval 1"/>
          <p:cNvSpPr/>
          <p:nvPr/>
        </p:nvSpPr>
        <p:spPr>
          <a:xfrm>
            <a:off x="8255000" y="-2413000"/>
            <a:ext cx="5715000" cy="5715000"/>
          </a:xfrm>
          <a:prstGeom prst="ellipse">
            <a:avLst/>
          </a:prstGeom>
          <a:solidFill>
            <a:srgbClr val="E01729">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F5C451"/>
                </a:solidFill>
                <a:latin typeface="Arial"/>
              </a:rPr>
              <a:t>ALUR PERSETUJUAN BERJENJANG</a:t>
            </a:r>
          </a:p>
        </p:txBody>
      </p:sp>
      <p:sp>
        <p:nvSpPr>
          <p:cNvPr id="5" name="TextBox 4"/>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6" name="TextBox 5"/>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09 / 18</a:t>
            </a:r>
          </a:p>
        </p:txBody>
      </p:sp>
      <p:sp>
        <p:nvSpPr>
          <p:cNvPr id="7" name="TextBox 6"/>
          <p:cNvSpPr txBox="1"/>
          <p:nvPr/>
        </p:nvSpPr>
        <p:spPr>
          <a:xfrm>
            <a:off x="609600" y="812800"/>
            <a:ext cx="10972800" cy="419735"/>
          </a:xfrm>
          <a:prstGeom prst="rect">
            <a:avLst/>
          </a:prstGeom>
          <a:noFill/>
        </p:spPr>
        <p:txBody>
          <a:bodyPr wrap="none" anchor="t" lIns="0" rIns="0" tIns="0" bIns="0">
            <a:noAutofit/>
          </a:bodyPr>
          <a:lstStyle/>
          <a:p>
            <a:pPr algn="l">
              <a:lnSpc>
                <a:spcPts val="3104"/>
              </a:lnSpc>
              <a:spcBef>
                <a:spcPts val="0"/>
              </a:spcBef>
              <a:spcAft>
                <a:spcPts val="0"/>
              </a:spcAft>
            </a:pPr>
            <a:r>
              <a:rPr sz="2700" b="1">
                <a:solidFill>
                  <a:srgbClr val="FFFFFF"/>
                </a:solidFill>
                <a:latin typeface="Arial"/>
              </a:rPr>
              <a:t>Dari usulan lapangan sampai tayang di peta nasional</a:t>
            </a:r>
          </a:p>
        </p:txBody>
      </p:sp>
      <p:sp>
        <p:nvSpPr>
          <p:cNvPr id="8" name="Rounded Rectangle 7"/>
          <p:cNvSpPr/>
          <p:nvPr/>
        </p:nvSpPr>
        <p:spPr>
          <a:xfrm>
            <a:off x="609600" y="1714500"/>
            <a:ext cx="2476500" cy="2984500"/>
          </a:xfrm>
          <a:prstGeom prst="roundRect">
            <a:avLst>
              <a:gd name="adj" fmla="val 5128"/>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09600" y="1714500"/>
            <a:ext cx="2476500" cy="2984500"/>
          </a:xfrm>
          <a:prstGeom prst="roundRect">
            <a:avLst>
              <a:gd name="adj" fmla="val 5128"/>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8200" y="1943100"/>
            <a:ext cx="762000" cy="565150"/>
          </a:xfrm>
          <a:prstGeom prst="rect">
            <a:avLst/>
          </a:prstGeom>
          <a:noFill/>
        </p:spPr>
        <p:txBody>
          <a:bodyPr wrap="none" anchor="t" lIns="0" rIns="0" tIns="0" bIns="0">
            <a:noAutofit/>
          </a:bodyPr>
          <a:lstStyle/>
          <a:p>
            <a:pPr algn="l">
              <a:lnSpc>
                <a:spcPts val="4250"/>
              </a:lnSpc>
              <a:spcBef>
                <a:spcPts val="0"/>
              </a:spcBef>
              <a:spcAft>
                <a:spcPts val="0"/>
              </a:spcAft>
            </a:pPr>
            <a:r>
              <a:rPr sz="3400" b="1">
                <a:solidFill>
                  <a:srgbClr val="F5C451"/>
                </a:solidFill>
                <a:latin typeface="Arial"/>
              </a:rPr>
              <a:t>01</a:t>
            </a:r>
          </a:p>
        </p:txBody>
      </p:sp>
      <p:sp>
        <p:nvSpPr>
          <p:cNvPr id="11" name="TextBox 10"/>
          <p:cNvSpPr txBox="1"/>
          <p:nvPr/>
        </p:nvSpPr>
        <p:spPr>
          <a:xfrm>
            <a:off x="838200" y="2476500"/>
            <a:ext cx="201930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8A9AB5"/>
                </a:solidFill>
                <a:latin typeface="Arial"/>
              </a:rPr>
              <a:t>DPD KOTA/KAB.</a:t>
            </a:r>
          </a:p>
        </p:txBody>
      </p:sp>
      <p:sp>
        <p:nvSpPr>
          <p:cNvPr id="12" name="TextBox 11"/>
          <p:cNvSpPr txBox="1"/>
          <p:nvPr/>
        </p:nvSpPr>
        <p:spPr>
          <a:xfrm>
            <a:off x="838200" y="2667000"/>
            <a:ext cx="2019300" cy="406400"/>
          </a:xfrm>
          <a:prstGeom prst="rect">
            <a:avLst/>
          </a:prstGeom>
          <a:noFill/>
        </p:spPr>
        <p:txBody>
          <a:bodyPr wrap="none" anchor="t" lIns="0" rIns="0" tIns="0" bIns="0">
            <a:noAutofit/>
          </a:bodyPr>
          <a:lstStyle/>
          <a:p>
            <a:pPr algn="l">
              <a:lnSpc>
                <a:spcPts val="3000"/>
              </a:lnSpc>
              <a:spcBef>
                <a:spcPts val="0"/>
              </a:spcBef>
              <a:spcAft>
                <a:spcPts val="0"/>
              </a:spcAft>
            </a:pPr>
            <a:r>
              <a:rPr sz="2400" b="1">
                <a:solidFill>
                  <a:srgbClr val="FFFFFF"/>
                </a:solidFill>
                <a:latin typeface="Arial"/>
              </a:rPr>
              <a:t>Pengajuan</a:t>
            </a:r>
          </a:p>
        </p:txBody>
      </p:sp>
      <p:sp>
        <p:nvSpPr>
          <p:cNvPr id="13" name="TextBox 12"/>
          <p:cNvSpPr txBox="1"/>
          <p:nvPr/>
        </p:nvSpPr>
        <p:spPr>
          <a:xfrm>
            <a:off x="838200" y="3111500"/>
            <a:ext cx="2019300" cy="982980"/>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B8C4D8"/>
                </a:solidFill>
                <a:latin typeface="Arial"/>
              </a:rPr>
              <a:t>Tim lapangan survei</a:t>
            </a:r>
          </a:p>
          <a:p>
            <a:pPr algn="l">
              <a:lnSpc>
                <a:spcPts val="1884"/>
              </a:lnSpc>
              <a:spcBef>
                <a:spcPts val="0"/>
              </a:spcBef>
              <a:spcAft>
                <a:spcPts val="0"/>
              </a:spcAft>
            </a:pPr>
            <a:r>
              <a:rPr sz="1300" b="0">
                <a:solidFill>
                  <a:srgbClr val="B8C4D8"/>
                </a:solidFill>
                <a:latin typeface="Arial"/>
              </a:rPr>
              <a:t>lokasi, menentukan</a:t>
            </a:r>
          </a:p>
          <a:p>
            <a:pPr algn="l">
              <a:lnSpc>
                <a:spcPts val="1884"/>
              </a:lnSpc>
              <a:spcBef>
                <a:spcPts val="0"/>
              </a:spcBef>
              <a:spcAft>
                <a:spcPts val="0"/>
              </a:spcAft>
            </a:pPr>
            <a:r>
              <a:rPr sz="1300" b="0">
                <a:solidFill>
                  <a:srgbClr val="B8C4D8"/>
                </a:solidFill>
                <a:latin typeface="Arial"/>
              </a:rPr>
              <a:t>koordinat, dan mengisi</a:t>
            </a:r>
          </a:p>
          <a:p>
            <a:pPr algn="l">
              <a:lnSpc>
                <a:spcPts val="1884"/>
              </a:lnSpc>
              <a:spcBef>
                <a:spcPts val="0"/>
              </a:spcBef>
              <a:spcAft>
                <a:spcPts val="0"/>
              </a:spcAft>
            </a:pPr>
            <a:r>
              <a:rPr sz="1300" b="0">
                <a:solidFill>
                  <a:srgbClr val="B8C4D8"/>
                </a:solidFill>
                <a:latin typeface="Arial"/>
              </a:rPr>
              <a:t>data teknis.</a:t>
            </a:r>
          </a:p>
        </p:txBody>
      </p:sp>
      <p:sp>
        <p:nvSpPr>
          <p:cNvPr id="14" name="Rounded Rectangle 13"/>
          <p:cNvSpPr/>
          <p:nvPr/>
        </p:nvSpPr>
        <p:spPr>
          <a:xfrm>
            <a:off x="838200" y="4254500"/>
            <a:ext cx="826492" cy="1905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8200" y="4274344"/>
            <a:ext cx="826492"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B45309"/>
                </a:solidFill>
                <a:latin typeface="Arial"/>
              </a:rPr>
              <a:t>DIAJUKAN</a:t>
            </a:r>
          </a:p>
        </p:txBody>
      </p:sp>
      <p:sp>
        <p:nvSpPr>
          <p:cNvPr id="16" name="Rectangle 15"/>
          <p:cNvSpPr/>
          <p:nvPr/>
        </p:nvSpPr>
        <p:spPr>
          <a:xfrm>
            <a:off x="3136900" y="3194050"/>
            <a:ext cx="165100" cy="25400"/>
          </a:xfrm>
          <a:prstGeom prst="rect">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reeform 16"/>
          <p:cNvSpPr/>
          <p:nvPr/>
        </p:nvSpPr>
        <p:spPr>
          <a:xfrm>
            <a:off x="3289300" y="3143250"/>
            <a:ext cx="101600" cy="127000"/>
          </a:xfrm>
          <a:custGeom>
            <a:avLst/>
            <a:gdLst/>
            <a:ahLst/>
            <a:cxnLst/>
            <a:rect l="l" t="t" r="r" b="b"/>
            <a:pathLst>
              <a:path w="101600" h="127000">
                <a:moveTo>
                  <a:pt x="0" y="0"/>
                </a:moveTo>
                <a:lnTo>
                  <a:pt x="101600" y="63500"/>
                </a:lnTo>
                <a:lnTo>
                  <a:pt x="0" y="127000"/>
                </a:lnTo>
                <a:close/>
              </a:path>
            </a:pathLst>
          </a:cu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441700" y="1714500"/>
            <a:ext cx="2476500" cy="2984500"/>
          </a:xfrm>
          <a:prstGeom prst="roundRect">
            <a:avLst>
              <a:gd name="adj" fmla="val 5128"/>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3441700" y="1714500"/>
            <a:ext cx="2476500" cy="2984500"/>
          </a:xfrm>
          <a:prstGeom prst="roundRect">
            <a:avLst>
              <a:gd name="adj" fmla="val 5128"/>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670300" y="1943100"/>
            <a:ext cx="762000" cy="565150"/>
          </a:xfrm>
          <a:prstGeom prst="rect">
            <a:avLst/>
          </a:prstGeom>
          <a:noFill/>
        </p:spPr>
        <p:txBody>
          <a:bodyPr wrap="none" anchor="t" lIns="0" rIns="0" tIns="0" bIns="0">
            <a:noAutofit/>
          </a:bodyPr>
          <a:lstStyle/>
          <a:p>
            <a:pPr algn="l">
              <a:lnSpc>
                <a:spcPts val="4250"/>
              </a:lnSpc>
              <a:spcBef>
                <a:spcPts val="0"/>
              </a:spcBef>
              <a:spcAft>
                <a:spcPts val="0"/>
              </a:spcAft>
            </a:pPr>
            <a:r>
              <a:rPr sz="3400" b="1">
                <a:solidFill>
                  <a:srgbClr val="F5C451"/>
                </a:solidFill>
                <a:latin typeface="Arial"/>
              </a:rPr>
              <a:t>02</a:t>
            </a:r>
          </a:p>
        </p:txBody>
      </p:sp>
      <p:sp>
        <p:nvSpPr>
          <p:cNvPr id="21" name="TextBox 20"/>
          <p:cNvSpPr txBox="1"/>
          <p:nvPr/>
        </p:nvSpPr>
        <p:spPr>
          <a:xfrm>
            <a:off x="3670300" y="2476500"/>
            <a:ext cx="201930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8A9AB5"/>
                </a:solidFill>
                <a:latin typeface="Arial"/>
              </a:rPr>
              <a:t>DPW PROVINSI</a:t>
            </a:r>
          </a:p>
        </p:txBody>
      </p:sp>
      <p:sp>
        <p:nvSpPr>
          <p:cNvPr id="22" name="TextBox 21"/>
          <p:cNvSpPr txBox="1"/>
          <p:nvPr/>
        </p:nvSpPr>
        <p:spPr>
          <a:xfrm>
            <a:off x="3670300" y="2667000"/>
            <a:ext cx="2019300" cy="406400"/>
          </a:xfrm>
          <a:prstGeom prst="rect">
            <a:avLst/>
          </a:prstGeom>
          <a:noFill/>
        </p:spPr>
        <p:txBody>
          <a:bodyPr wrap="none" anchor="t" lIns="0" rIns="0" tIns="0" bIns="0">
            <a:noAutofit/>
          </a:bodyPr>
          <a:lstStyle/>
          <a:p>
            <a:pPr algn="l">
              <a:lnSpc>
                <a:spcPts val="3000"/>
              </a:lnSpc>
              <a:spcBef>
                <a:spcPts val="0"/>
              </a:spcBef>
              <a:spcAft>
                <a:spcPts val="0"/>
              </a:spcAft>
            </a:pPr>
            <a:r>
              <a:rPr sz="2400" b="1">
                <a:solidFill>
                  <a:srgbClr val="FFFFFF"/>
                </a:solidFill>
                <a:latin typeface="Arial"/>
              </a:rPr>
              <a:t>Verifikasi</a:t>
            </a:r>
          </a:p>
        </p:txBody>
      </p:sp>
      <p:sp>
        <p:nvSpPr>
          <p:cNvPr id="23" name="TextBox 22"/>
          <p:cNvSpPr txBox="1"/>
          <p:nvPr/>
        </p:nvSpPr>
        <p:spPr>
          <a:xfrm>
            <a:off x="3670300" y="3111500"/>
            <a:ext cx="2019300" cy="743585"/>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B8C4D8"/>
                </a:solidFill>
                <a:latin typeface="Arial"/>
              </a:rPr>
              <a:t>Memeriksa kelayakan</a:t>
            </a:r>
          </a:p>
          <a:p>
            <a:pPr algn="l">
              <a:lnSpc>
                <a:spcPts val="1884"/>
              </a:lnSpc>
              <a:spcBef>
                <a:spcPts val="0"/>
              </a:spcBef>
              <a:spcAft>
                <a:spcPts val="0"/>
              </a:spcAft>
            </a:pPr>
            <a:r>
              <a:rPr sz="1300" b="0">
                <a:solidFill>
                  <a:srgbClr val="B8C4D8"/>
                </a:solidFill>
                <a:latin typeface="Arial"/>
              </a:rPr>
              <a:t>teknis dan administratif,</a:t>
            </a:r>
          </a:p>
          <a:p>
            <a:pPr algn="l">
              <a:lnSpc>
                <a:spcPts val="1884"/>
              </a:lnSpc>
              <a:spcBef>
                <a:spcPts val="0"/>
              </a:spcBef>
              <a:spcAft>
                <a:spcPts val="0"/>
              </a:spcAft>
            </a:pPr>
            <a:r>
              <a:rPr sz="1300" b="0">
                <a:solidFill>
                  <a:srgbClr val="B8C4D8"/>
                </a:solidFill>
                <a:latin typeface="Arial"/>
              </a:rPr>
              <a:t>lalu meneruskan ke pusat.</a:t>
            </a:r>
          </a:p>
        </p:txBody>
      </p:sp>
      <p:sp>
        <p:nvSpPr>
          <p:cNvPr id="24" name="Rounded Rectangle 23"/>
          <p:cNvSpPr/>
          <p:nvPr/>
        </p:nvSpPr>
        <p:spPr>
          <a:xfrm>
            <a:off x="3670300" y="4254500"/>
            <a:ext cx="1000919" cy="1905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670300" y="4274344"/>
            <a:ext cx="1000919"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369A1"/>
                </a:solidFill>
                <a:latin typeface="Arial"/>
              </a:rPr>
              <a:t>DIVERIFIKASI</a:t>
            </a:r>
          </a:p>
        </p:txBody>
      </p:sp>
      <p:sp>
        <p:nvSpPr>
          <p:cNvPr id="26" name="Rectangle 25"/>
          <p:cNvSpPr/>
          <p:nvPr/>
        </p:nvSpPr>
        <p:spPr>
          <a:xfrm>
            <a:off x="5969000" y="3194050"/>
            <a:ext cx="165100" cy="25400"/>
          </a:xfrm>
          <a:prstGeom prst="rect">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reeform 26"/>
          <p:cNvSpPr/>
          <p:nvPr/>
        </p:nvSpPr>
        <p:spPr>
          <a:xfrm>
            <a:off x="6121400" y="3143250"/>
            <a:ext cx="101600" cy="127000"/>
          </a:xfrm>
          <a:custGeom>
            <a:avLst/>
            <a:gdLst/>
            <a:ahLst/>
            <a:cxnLst/>
            <a:rect l="l" t="t" r="r" b="b"/>
            <a:pathLst>
              <a:path w="101600" h="127000">
                <a:moveTo>
                  <a:pt x="0" y="0"/>
                </a:moveTo>
                <a:lnTo>
                  <a:pt x="101600" y="63500"/>
                </a:lnTo>
                <a:lnTo>
                  <a:pt x="0" y="127000"/>
                </a:lnTo>
                <a:close/>
              </a:path>
            </a:pathLst>
          </a:cu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273800" y="1714500"/>
            <a:ext cx="2476500" cy="2984500"/>
          </a:xfrm>
          <a:prstGeom prst="roundRect">
            <a:avLst>
              <a:gd name="adj" fmla="val 5128"/>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273800" y="1714500"/>
            <a:ext cx="2476500" cy="2984500"/>
          </a:xfrm>
          <a:prstGeom prst="roundRect">
            <a:avLst>
              <a:gd name="adj" fmla="val 5128"/>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02400" y="1943100"/>
            <a:ext cx="762000" cy="565150"/>
          </a:xfrm>
          <a:prstGeom prst="rect">
            <a:avLst/>
          </a:prstGeom>
          <a:noFill/>
        </p:spPr>
        <p:txBody>
          <a:bodyPr wrap="none" anchor="t" lIns="0" rIns="0" tIns="0" bIns="0">
            <a:noAutofit/>
          </a:bodyPr>
          <a:lstStyle/>
          <a:p>
            <a:pPr algn="l">
              <a:lnSpc>
                <a:spcPts val="4250"/>
              </a:lnSpc>
              <a:spcBef>
                <a:spcPts val="0"/>
              </a:spcBef>
              <a:spcAft>
                <a:spcPts val="0"/>
              </a:spcAft>
            </a:pPr>
            <a:r>
              <a:rPr sz="3400" b="1">
                <a:solidFill>
                  <a:srgbClr val="F5C451"/>
                </a:solidFill>
                <a:latin typeface="Arial"/>
              </a:rPr>
              <a:t>03</a:t>
            </a:r>
          </a:p>
        </p:txBody>
      </p:sp>
      <p:sp>
        <p:nvSpPr>
          <p:cNvPr id="31" name="TextBox 30"/>
          <p:cNvSpPr txBox="1"/>
          <p:nvPr/>
        </p:nvSpPr>
        <p:spPr>
          <a:xfrm>
            <a:off x="6502400" y="2476500"/>
            <a:ext cx="201930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8A9AB5"/>
                </a:solidFill>
                <a:latin typeface="Arial"/>
              </a:rPr>
              <a:t>DPP PUSAT</a:t>
            </a:r>
          </a:p>
        </p:txBody>
      </p:sp>
      <p:sp>
        <p:nvSpPr>
          <p:cNvPr id="32" name="TextBox 31"/>
          <p:cNvSpPr txBox="1"/>
          <p:nvPr/>
        </p:nvSpPr>
        <p:spPr>
          <a:xfrm>
            <a:off x="6502400" y="2667000"/>
            <a:ext cx="2019300" cy="406400"/>
          </a:xfrm>
          <a:prstGeom prst="rect">
            <a:avLst/>
          </a:prstGeom>
          <a:noFill/>
        </p:spPr>
        <p:txBody>
          <a:bodyPr wrap="none" anchor="t" lIns="0" rIns="0" tIns="0" bIns="0">
            <a:noAutofit/>
          </a:bodyPr>
          <a:lstStyle/>
          <a:p>
            <a:pPr algn="l">
              <a:lnSpc>
                <a:spcPts val="3000"/>
              </a:lnSpc>
              <a:spcBef>
                <a:spcPts val="0"/>
              </a:spcBef>
              <a:spcAft>
                <a:spcPts val="0"/>
              </a:spcAft>
            </a:pPr>
            <a:r>
              <a:rPr sz="2400" b="1">
                <a:solidFill>
                  <a:srgbClr val="FFFFFF"/>
                </a:solidFill>
                <a:latin typeface="Arial"/>
              </a:rPr>
              <a:t>Persetujuan</a:t>
            </a:r>
          </a:p>
        </p:txBody>
      </p:sp>
      <p:sp>
        <p:nvSpPr>
          <p:cNvPr id="33" name="TextBox 32"/>
          <p:cNvSpPr txBox="1"/>
          <p:nvPr/>
        </p:nvSpPr>
        <p:spPr>
          <a:xfrm>
            <a:off x="6502400" y="3111500"/>
            <a:ext cx="2019300" cy="743585"/>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B8C4D8"/>
                </a:solidFill>
                <a:latin typeface="Arial"/>
              </a:rPr>
              <a:t>Memberi keputusan akhir</a:t>
            </a:r>
          </a:p>
          <a:p>
            <a:pPr algn="l">
              <a:lnSpc>
                <a:spcPts val="1884"/>
              </a:lnSpc>
              <a:spcBef>
                <a:spcPts val="0"/>
              </a:spcBef>
              <a:spcAft>
                <a:spcPts val="0"/>
              </a:spcAft>
            </a:pPr>
            <a:r>
              <a:rPr sz="1300" b="0">
                <a:solidFill>
                  <a:srgbClr val="B8C4D8"/>
                </a:solidFill>
                <a:latin typeface="Arial"/>
              </a:rPr>
              <a:t>sesuai standar nasional</a:t>
            </a:r>
          </a:p>
          <a:p>
            <a:pPr algn="l">
              <a:lnSpc>
                <a:spcPts val="1884"/>
              </a:lnSpc>
              <a:spcBef>
                <a:spcPts val="0"/>
              </a:spcBef>
              <a:spcAft>
                <a:spcPts val="0"/>
              </a:spcAft>
            </a:pPr>
            <a:r>
              <a:rPr sz="1300" b="0">
                <a:solidFill>
                  <a:srgbClr val="B8C4D8"/>
                </a:solidFill>
                <a:latin typeface="Arial"/>
              </a:rPr>
              <a:t>CPSS.</a:t>
            </a:r>
          </a:p>
        </p:txBody>
      </p:sp>
      <p:sp>
        <p:nvSpPr>
          <p:cNvPr id="34" name="Rounded Rectangle 33"/>
          <p:cNvSpPr/>
          <p:nvPr/>
        </p:nvSpPr>
        <p:spPr>
          <a:xfrm>
            <a:off x="6502400" y="4254500"/>
            <a:ext cx="833338" cy="19050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502400" y="4274344"/>
            <a:ext cx="833338"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47857"/>
                </a:solidFill>
                <a:latin typeface="Arial"/>
              </a:rPr>
              <a:t>DISETUJUI</a:t>
            </a:r>
          </a:p>
        </p:txBody>
      </p:sp>
      <p:sp>
        <p:nvSpPr>
          <p:cNvPr id="36" name="Rectangle 35"/>
          <p:cNvSpPr/>
          <p:nvPr/>
        </p:nvSpPr>
        <p:spPr>
          <a:xfrm>
            <a:off x="8801100" y="3194050"/>
            <a:ext cx="165100" cy="25400"/>
          </a:xfrm>
          <a:prstGeom prst="rect">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Freeform 36"/>
          <p:cNvSpPr/>
          <p:nvPr/>
        </p:nvSpPr>
        <p:spPr>
          <a:xfrm>
            <a:off x="8953500" y="3143250"/>
            <a:ext cx="101600" cy="127000"/>
          </a:xfrm>
          <a:custGeom>
            <a:avLst/>
            <a:gdLst/>
            <a:ahLst/>
            <a:cxnLst/>
            <a:rect l="l" t="t" r="r" b="b"/>
            <a:pathLst>
              <a:path w="101600" h="127000">
                <a:moveTo>
                  <a:pt x="0" y="0"/>
                </a:moveTo>
                <a:lnTo>
                  <a:pt x="101600" y="63500"/>
                </a:lnTo>
                <a:lnTo>
                  <a:pt x="0" y="127000"/>
                </a:lnTo>
                <a:close/>
              </a:path>
            </a:pathLst>
          </a:cu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9105900" y="1714500"/>
            <a:ext cx="2476500" cy="2984500"/>
          </a:xfrm>
          <a:prstGeom prst="roundRect">
            <a:avLst>
              <a:gd name="adj" fmla="val 5128"/>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9105900" y="1714500"/>
            <a:ext cx="2476500" cy="2984500"/>
          </a:xfrm>
          <a:prstGeom prst="roundRect">
            <a:avLst>
              <a:gd name="adj" fmla="val 5128"/>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4500" y="1943100"/>
            <a:ext cx="762000" cy="565150"/>
          </a:xfrm>
          <a:prstGeom prst="rect">
            <a:avLst/>
          </a:prstGeom>
          <a:noFill/>
        </p:spPr>
        <p:txBody>
          <a:bodyPr wrap="none" anchor="t" lIns="0" rIns="0" tIns="0" bIns="0">
            <a:noAutofit/>
          </a:bodyPr>
          <a:lstStyle/>
          <a:p>
            <a:pPr algn="l">
              <a:lnSpc>
                <a:spcPts val="4250"/>
              </a:lnSpc>
              <a:spcBef>
                <a:spcPts val="0"/>
              </a:spcBef>
              <a:spcAft>
                <a:spcPts val="0"/>
              </a:spcAft>
            </a:pPr>
            <a:r>
              <a:rPr sz="3400" b="1">
                <a:solidFill>
                  <a:srgbClr val="F5C451"/>
                </a:solidFill>
                <a:latin typeface="Arial"/>
              </a:rPr>
              <a:t>04</a:t>
            </a:r>
          </a:p>
        </p:txBody>
      </p:sp>
      <p:sp>
        <p:nvSpPr>
          <p:cNvPr id="41" name="TextBox 40"/>
          <p:cNvSpPr txBox="1"/>
          <p:nvPr/>
        </p:nvSpPr>
        <p:spPr>
          <a:xfrm>
            <a:off x="9334500" y="2476500"/>
            <a:ext cx="201930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8A9AB5"/>
                </a:solidFill>
                <a:latin typeface="Arial"/>
              </a:rPr>
              <a:t>PUBLIK</a:t>
            </a:r>
          </a:p>
        </p:txBody>
      </p:sp>
      <p:sp>
        <p:nvSpPr>
          <p:cNvPr id="42" name="TextBox 41"/>
          <p:cNvSpPr txBox="1"/>
          <p:nvPr/>
        </p:nvSpPr>
        <p:spPr>
          <a:xfrm>
            <a:off x="9334500" y="2667000"/>
            <a:ext cx="2019300" cy="406400"/>
          </a:xfrm>
          <a:prstGeom prst="rect">
            <a:avLst/>
          </a:prstGeom>
          <a:noFill/>
        </p:spPr>
        <p:txBody>
          <a:bodyPr wrap="none" anchor="t" lIns="0" rIns="0" tIns="0" bIns="0">
            <a:noAutofit/>
          </a:bodyPr>
          <a:lstStyle/>
          <a:p>
            <a:pPr algn="l">
              <a:lnSpc>
                <a:spcPts val="3000"/>
              </a:lnSpc>
              <a:spcBef>
                <a:spcPts val="0"/>
              </a:spcBef>
              <a:spcAft>
                <a:spcPts val="0"/>
              </a:spcAft>
            </a:pPr>
            <a:r>
              <a:rPr sz="2400" b="1">
                <a:solidFill>
                  <a:srgbClr val="FFFFFF"/>
                </a:solidFill>
                <a:latin typeface="Arial"/>
              </a:rPr>
              <a:t>Tayang</a:t>
            </a:r>
          </a:p>
        </p:txBody>
      </p:sp>
      <p:sp>
        <p:nvSpPr>
          <p:cNvPr id="43" name="TextBox 42"/>
          <p:cNvSpPr txBox="1"/>
          <p:nvPr/>
        </p:nvSpPr>
        <p:spPr>
          <a:xfrm>
            <a:off x="9334500" y="3111500"/>
            <a:ext cx="2019300" cy="982980"/>
          </a:xfrm>
          <a:prstGeom prst="rect">
            <a:avLst/>
          </a:prstGeom>
          <a:noFill/>
        </p:spPr>
        <p:txBody>
          <a:bodyPr wrap="none" anchor="t" lIns="0" rIns="0" tIns="0" bIns="0">
            <a:noAutofit/>
          </a:bodyPr>
          <a:lstStyle/>
          <a:p>
            <a:pPr algn="l">
              <a:lnSpc>
                <a:spcPts val="1884"/>
              </a:lnSpc>
              <a:spcBef>
                <a:spcPts val="0"/>
              </a:spcBef>
              <a:spcAft>
                <a:spcPts val="0"/>
              </a:spcAft>
            </a:pPr>
            <a:r>
              <a:rPr sz="1300" b="0">
                <a:solidFill>
                  <a:srgbClr val="B8C4D8"/>
                </a:solidFill>
                <a:latin typeface="Arial"/>
              </a:rPr>
              <a:t>Titik langsung muncul di</a:t>
            </a:r>
          </a:p>
          <a:p>
            <a:pPr algn="l">
              <a:lnSpc>
                <a:spcPts val="1884"/>
              </a:lnSpc>
              <a:spcBef>
                <a:spcPts val="0"/>
              </a:spcBef>
              <a:spcAft>
                <a:spcPts val="0"/>
              </a:spcAft>
            </a:pPr>
            <a:r>
              <a:rPr sz="1300" b="0">
                <a:solidFill>
                  <a:srgbClr val="B8C4D8"/>
                </a:solidFill>
                <a:latin typeface="Arial"/>
              </a:rPr>
              <a:t>Dashboard CPSS dan</a:t>
            </a:r>
          </a:p>
          <a:p>
            <a:pPr algn="l">
              <a:lnSpc>
                <a:spcPts val="1884"/>
              </a:lnSpc>
              <a:spcBef>
                <a:spcPts val="0"/>
              </a:spcBef>
              <a:spcAft>
                <a:spcPts val="0"/>
              </a:spcAft>
            </a:pPr>
            <a:r>
              <a:rPr sz="1300" b="0">
                <a:solidFill>
                  <a:srgbClr val="B8C4D8"/>
                </a:solidFill>
                <a:latin typeface="Arial"/>
              </a:rPr>
              <a:t>dapat diakses</a:t>
            </a:r>
          </a:p>
          <a:p>
            <a:pPr algn="l">
              <a:lnSpc>
                <a:spcPts val="1884"/>
              </a:lnSpc>
              <a:spcBef>
                <a:spcPts val="0"/>
              </a:spcBef>
              <a:spcAft>
                <a:spcPts val="0"/>
              </a:spcAft>
            </a:pPr>
            <a:r>
              <a:rPr sz="1300" b="0">
                <a:solidFill>
                  <a:srgbClr val="B8C4D8"/>
                </a:solidFill>
                <a:latin typeface="Arial"/>
              </a:rPr>
              <a:t>masyarakat.</a:t>
            </a:r>
          </a:p>
        </p:txBody>
      </p:sp>
      <p:sp>
        <p:nvSpPr>
          <p:cNvPr id="44" name="Rounded Rectangle 43"/>
          <p:cNvSpPr/>
          <p:nvPr/>
        </p:nvSpPr>
        <p:spPr>
          <a:xfrm>
            <a:off x="9334500" y="4254500"/>
            <a:ext cx="670223" cy="19050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334500" y="4274344"/>
            <a:ext cx="670223"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BC0F1F"/>
                </a:solidFill>
                <a:latin typeface="Arial"/>
              </a:rPr>
              <a:t>DI PETA</a:t>
            </a:r>
          </a:p>
        </p:txBody>
      </p:sp>
      <p:sp>
        <p:nvSpPr>
          <p:cNvPr id="46" name="Rounded Rectangle 45"/>
          <p:cNvSpPr/>
          <p:nvPr/>
        </p:nvSpPr>
        <p:spPr>
          <a:xfrm>
            <a:off x="609600" y="4902200"/>
            <a:ext cx="10972800" cy="419100"/>
          </a:xfrm>
          <a:prstGeom prst="roundRect">
            <a:avLst>
              <a:gd name="adj" fmla="val 21212"/>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12800" y="5029200"/>
            <a:ext cx="165100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F5C451"/>
                </a:solidFill>
                <a:latin typeface="Arial"/>
              </a:rPr>
              <a:t>NOTIFIKASI OTOMATIS</a:t>
            </a:r>
          </a:p>
        </p:txBody>
      </p:sp>
      <p:sp>
        <p:nvSpPr>
          <p:cNvPr id="48" name="TextBox 47"/>
          <p:cNvSpPr txBox="1"/>
          <p:nvPr/>
        </p:nvSpPr>
        <p:spPr>
          <a:xfrm>
            <a:off x="2514600" y="5010150"/>
            <a:ext cx="8890000" cy="239712"/>
          </a:xfrm>
          <a:prstGeom prst="rect">
            <a:avLst/>
          </a:prstGeom>
          <a:noFill/>
        </p:spPr>
        <p:txBody>
          <a:bodyPr wrap="none" anchor="t" lIns="0" rIns="0" tIns="0" bIns="0">
            <a:noAutofit/>
          </a:bodyPr>
          <a:lstStyle/>
          <a:p>
            <a:pPr algn="l">
              <a:lnSpc>
                <a:spcPts val="1687"/>
              </a:lnSpc>
              <a:spcBef>
                <a:spcPts val="0"/>
              </a:spcBef>
              <a:spcAft>
                <a:spcPts val="0"/>
              </a:spcAft>
            </a:pPr>
            <a:r>
              <a:rPr sz="1350" b="1">
                <a:solidFill>
                  <a:srgbClr val="FFFFFF"/>
                </a:solidFill>
                <a:latin typeface="Arial"/>
              </a:rPr>
              <a:t>Pengajuan baru → DPW  ·  Selesai diverifikasi → DPP  ·  Disetujui atau ditolak → DPW &amp; DPD</a:t>
            </a:r>
          </a:p>
        </p:txBody>
      </p:sp>
      <p:sp>
        <p:nvSpPr>
          <p:cNvPr id="49" name="Rounded Rectangle 48"/>
          <p:cNvSpPr/>
          <p:nvPr/>
        </p:nvSpPr>
        <p:spPr>
          <a:xfrm>
            <a:off x="609600" y="5435600"/>
            <a:ext cx="3556000" cy="609600"/>
          </a:xfrm>
          <a:prstGeom prst="roundRect">
            <a:avLst>
              <a:gd name="adj" fmla="val 14583"/>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762000" y="5676900"/>
            <a:ext cx="127000" cy="127000"/>
          </a:xfrm>
          <a:prstGeom prst="roundRect">
            <a:avLst>
              <a:gd name="adj" fmla="val 20000"/>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90600" y="5543550"/>
            <a:ext cx="3022600" cy="438150"/>
          </a:xfrm>
          <a:prstGeom prst="rect">
            <a:avLst/>
          </a:prstGeom>
          <a:noFill/>
        </p:spPr>
        <p:txBody>
          <a:bodyPr wrap="none" anchor="t" lIns="0" rIns="0" tIns="0" bIns="0">
            <a:noAutofit/>
          </a:bodyPr>
          <a:lstStyle/>
          <a:p>
            <a:pPr algn="l">
              <a:lnSpc>
                <a:spcPts val="1625"/>
              </a:lnSpc>
              <a:spcBef>
                <a:spcPts val="0"/>
              </a:spcBef>
              <a:spcAft>
                <a:spcPts val="0"/>
              </a:spcAft>
            </a:pPr>
            <a:r>
              <a:rPr sz="1250" b="0">
                <a:solidFill>
                  <a:srgbClr val="FFFFFF"/>
                </a:solidFill>
                <a:latin typeface="Arial"/>
              </a:rPr>
              <a:t>DPP tidak dapat menyetujui sebelum</a:t>
            </a:r>
          </a:p>
          <a:p>
            <a:pPr algn="l">
              <a:lnSpc>
                <a:spcPts val="1625"/>
              </a:lnSpc>
              <a:spcBef>
                <a:spcPts val="0"/>
              </a:spcBef>
              <a:spcAft>
                <a:spcPts val="0"/>
              </a:spcAft>
            </a:pPr>
            <a:r>
              <a:rPr sz="1250" b="0">
                <a:solidFill>
                  <a:srgbClr val="FFFFFF"/>
                </a:solidFill>
                <a:latin typeface="Arial"/>
              </a:rPr>
              <a:t>DPW memverifikasi</a:t>
            </a:r>
          </a:p>
        </p:txBody>
      </p:sp>
      <p:sp>
        <p:nvSpPr>
          <p:cNvPr id="52" name="Rounded Rectangle 51"/>
          <p:cNvSpPr/>
          <p:nvPr/>
        </p:nvSpPr>
        <p:spPr>
          <a:xfrm>
            <a:off x="4318000" y="5435600"/>
            <a:ext cx="3556000" cy="609600"/>
          </a:xfrm>
          <a:prstGeom prst="roundRect">
            <a:avLst>
              <a:gd name="adj" fmla="val 14583"/>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4470400" y="5676900"/>
            <a:ext cx="127000" cy="127000"/>
          </a:xfrm>
          <a:prstGeom prst="roundRect">
            <a:avLst>
              <a:gd name="adj" fmla="val 20000"/>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699000" y="5543550"/>
            <a:ext cx="3022600" cy="438150"/>
          </a:xfrm>
          <a:prstGeom prst="rect">
            <a:avLst/>
          </a:prstGeom>
          <a:noFill/>
        </p:spPr>
        <p:txBody>
          <a:bodyPr wrap="none" anchor="t" lIns="0" rIns="0" tIns="0" bIns="0">
            <a:noAutofit/>
          </a:bodyPr>
          <a:lstStyle/>
          <a:p>
            <a:pPr algn="l">
              <a:lnSpc>
                <a:spcPts val="1625"/>
              </a:lnSpc>
              <a:spcBef>
                <a:spcPts val="0"/>
              </a:spcBef>
              <a:spcAft>
                <a:spcPts val="0"/>
              </a:spcAft>
            </a:pPr>
            <a:r>
              <a:rPr sz="1250" b="0">
                <a:solidFill>
                  <a:srgbClr val="FFFFFF"/>
                </a:solidFill>
                <a:latin typeface="Arial"/>
              </a:rPr>
              <a:t>DPW hanya berwenang atas provinsinya</a:t>
            </a:r>
          </a:p>
          <a:p>
            <a:pPr algn="l">
              <a:lnSpc>
                <a:spcPts val="1625"/>
              </a:lnSpc>
              <a:spcBef>
                <a:spcPts val="0"/>
              </a:spcBef>
              <a:spcAft>
                <a:spcPts val="0"/>
              </a:spcAft>
            </a:pPr>
            <a:r>
              <a:rPr sz="1250" b="0">
                <a:solidFill>
                  <a:srgbClr val="FFFFFF"/>
                </a:solidFill>
                <a:latin typeface="Arial"/>
              </a:rPr>
              <a:t>sendiri</a:t>
            </a:r>
          </a:p>
        </p:txBody>
      </p:sp>
      <p:sp>
        <p:nvSpPr>
          <p:cNvPr id="55" name="Rounded Rectangle 54"/>
          <p:cNvSpPr/>
          <p:nvPr/>
        </p:nvSpPr>
        <p:spPr>
          <a:xfrm>
            <a:off x="8026400" y="5435600"/>
            <a:ext cx="3556000" cy="609600"/>
          </a:xfrm>
          <a:prstGeom prst="roundRect">
            <a:avLst>
              <a:gd name="adj" fmla="val 14583"/>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8178800" y="5676900"/>
            <a:ext cx="127000" cy="127000"/>
          </a:xfrm>
          <a:prstGeom prst="roundRect">
            <a:avLst>
              <a:gd name="adj" fmla="val 20000"/>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8407400" y="5543550"/>
            <a:ext cx="3022600" cy="438150"/>
          </a:xfrm>
          <a:prstGeom prst="rect">
            <a:avLst/>
          </a:prstGeom>
          <a:noFill/>
        </p:spPr>
        <p:txBody>
          <a:bodyPr wrap="none" anchor="t" lIns="0" rIns="0" tIns="0" bIns="0">
            <a:noAutofit/>
          </a:bodyPr>
          <a:lstStyle/>
          <a:p>
            <a:pPr algn="l">
              <a:lnSpc>
                <a:spcPts val="1625"/>
              </a:lnSpc>
              <a:spcBef>
                <a:spcPts val="0"/>
              </a:spcBef>
              <a:spcAft>
                <a:spcPts val="0"/>
              </a:spcAft>
            </a:pPr>
            <a:r>
              <a:rPr sz="1250" b="0">
                <a:solidFill>
                  <a:srgbClr val="FFFFFF"/>
                </a:solidFill>
                <a:latin typeface="Arial"/>
              </a:rPr>
              <a:t>Penolakan wajib beralasan dan seluruh</a:t>
            </a:r>
          </a:p>
          <a:p>
            <a:pPr algn="l">
              <a:lnSpc>
                <a:spcPts val="1625"/>
              </a:lnSpc>
              <a:spcBef>
                <a:spcPts val="0"/>
              </a:spcBef>
              <a:spcAft>
                <a:spcPts val="0"/>
              </a:spcAft>
            </a:pPr>
            <a:r>
              <a:rPr sz="1250" b="0">
                <a:solidFill>
                  <a:srgbClr val="FFFFFF"/>
                </a:solidFill>
                <a:latin typeface="Arial"/>
              </a:rPr>
              <a:t>langkah tercatat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ALUR DALAM APLIKASI · LANGKAH 1</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10 / 18</a:t>
            </a:r>
          </a:p>
        </p:txBody>
      </p:sp>
      <p:sp>
        <p:nvSpPr>
          <p:cNvPr id="6" name="TextBox 5"/>
          <p:cNvSpPr txBox="1"/>
          <p:nvPr/>
        </p:nvSpPr>
        <p:spPr>
          <a:xfrm>
            <a:off x="609600" y="812800"/>
            <a:ext cx="3937000" cy="784860"/>
          </a:xfrm>
          <a:prstGeom prst="rect">
            <a:avLst/>
          </a:prstGeom>
          <a:noFill/>
        </p:spPr>
        <p:txBody>
          <a:bodyPr wrap="none" anchor="t" lIns="0" rIns="0" tIns="0" bIns="0">
            <a:noAutofit/>
          </a:bodyPr>
          <a:lstStyle/>
          <a:p>
            <a:pPr algn="l">
              <a:lnSpc>
                <a:spcPts val="2990"/>
              </a:lnSpc>
              <a:spcBef>
                <a:spcPts val="0"/>
              </a:spcBef>
              <a:spcAft>
                <a:spcPts val="0"/>
              </a:spcAft>
            </a:pPr>
            <a:r>
              <a:rPr sz="2600" b="1">
                <a:solidFill>
                  <a:srgbClr val="071A36"/>
                </a:solidFill>
                <a:latin typeface="Arial"/>
              </a:rPr>
              <a:t>DPD mengajukan titik</a:t>
            </a:r>
          </a:p>
          <a:p>
            <a:pPr algn="l">
              <a:lnSpc>
                <a:spcPts val="2990"/>
              </a:lnSpc>
              <a:spcBef>
                <a:spcPts val="0"/>
              </a:spcBef>
              <a:spcAft>
                <a:spcPts val="0"/>
              </a:spcAft>
            </a:pPr>
            <a:r>
              <a:rPr sz="2600" b="1">
                <a:solidFill>
                  <a:srgbClr val="071A36"/>
                </a:solidFill>
                <a:latin typeface="Arial"/>
              </a:rPr>
              <a:t>dari lapangan</a:t>
            </a:r>
          </a:p>
        </p:txBody>
      </p:sp>
      <p:sp>
        <p:nvSpPr>
          <p:cNvPr id="7" name="Rectangle 6"/>
          <p:cNvSpPr/>
          <p:nvPr/>
        </p:nvSpPr>
        <p:spPr>
          <a:xfrm>
            <a:off x="609600" y="2222500"/>
            <a:ext cx="38100" cy="6350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2800" y="2247900"/>
            <a:ext cx="3302000" cy="287338"/>
          </a:xfrm>
          <a:prstGeom prst="rect">
            <a:avLst/>
          </a:prstGeom>
          <a:noFill/>
        </p:spPr>
        <p:txBody>
          <a:bodyPr wrap="none" anchor="t" lIns="0" rIns="0" tIns="0" bIns="0">
            <a:noAutofit/>
          </a:bodyPr>
          <a:lstStyle/>
          <a:p>
            <a:pPr algn="l">
              <a:lnSpc>
                <a:spcPts val="2062"/>
              </a:lnSpc>
              <a:spcBef>
                <a:spcPts val="0"/>
              </a:spcBef>
              <a:spcAft>
                <a:spcPts val="0"/>
              </a:spcAft>
            </a:pPr>
            <a:r>
              <a:rPr sz="1650" b="1">
                <a:solidFill>
                  <a:srgbClr val="071A36"/>
                </a:solidFill>
                <a:latin typeface="Arial"/>
              </a:rPr>
              <a:t>1. Pilih lokasi di peta</a:t>
            </a:r>
          </a:p>
        </p:txBody>
      </p:sp>
      <p:sp>
        <p:nvSpPr>
          <p:cNvPr id="9" name="TextBox 8"/>
          <p:cNvSpPr txBox="1"/>
          <p:nvPr/>
        </p:nvSpPr>
        <p:spPr>
          <a:xfrm>
            <a:off x="812800" y="2514600"/>
            <a:ext cx="330200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Klik peta, geser penanda, atau pakai</a:t>
            </a:r>
          </a:p>
          <a:p>
            <a:pPr algn="l">
              <a:lnSpc>
                <a:spcPts val="1750"/>
              </a:lnSpc>
              <a:spcBef>
                <a:spcPts val="0"/>
              </a:spcBef>
              <a:spcAft>
                <a:spcPts val="0"/>
              </a:spcAft>
            </a:pPr>
            <a:r>
              <a:rPr sz="1250" b="0">
                <a:solidFill>
                  <a:srgbClr val="5B6B85"/>
                </a:solidFill>
                <a:latin typeface="Arial"/>
              </a:rPr>
              <a:t>"gunakan lokasi saya".</a:t>
            </a:r>
          </a:p>
        </p:txBody>
      </p:sp>
      <p:sp>
        <p:nvSpPr>
          <p:cNvPr id="10" name="Rectangle 9"/>
          <p:cNvSpPr/>
          <p:nvPr/>
        </p:nvSpPr>
        <p:spPr>
          <a:xfrm>
            <a:off x="609600" y="3124200"/>
            <a:ext cx="38100" cy="635000"/>
          </a:xfrm>
          <a:prstGeom prst="rect">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2800" y="3149600"/>
            <a:ext cx="3302000" cy="287338"/>
          </a:xfrm>
          <a:prstGeom prst="rect">
            <a:avLst/>
          </a:prstGeom>
          <a:noFill/>
        </p:spPr>
        <p:txBody>
          <a:bodyPr wrap="none" anchor="t" lIns="0" rIns="0" tIns="0" bIns="0">
            <a:noAutofit/>
          </a:bodyPr>
          <a:lstStyle/>
          <a:p>
            <a:pPr algn="l">
              <a:lnSpc>
                <a:spcPts val="2062"/>
              </a:lnSpc>
              <a:spcBef>
                <a:spcPts val="0"/>
              </a:spcBef>
              <a:spcAft>
                <a:spcPts val="0"/>
              </a:spcAft>
            </a:pPr>
            <a:r>
              <a:rPr sz="1650" b="1">
                <a:solidFill>
                  <a:srgbClr val="071A36"/>
                </a:solidFill>
                <a:latin typeface="Arial"/>
              </a:rPr>
              <a:t>2. Isi data teknis</a:t>
            </a:r>
          </a:p>
        </p:txBody>
      </p:sp>
      <p:sp>
        <p:nvSpPr>
          <p:cNvPr id="12" name="TextBox 11"/>
          <p:cNvSpPr txBox="1"/>
          <p:nvPr/>
        </p:nvSpPr>
        <p:spPr>
          <a:xfrm>
            <a:off x="812800" y="3416300"/>
            <a:ext cx="330200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Kategori, kapasitas kW, konektor, jam</a:t>
            </a:r>
          </a:p>
          <a:p>
            <a:pPr algn="l">
              <a:lnSpc>
                <a:spcPts val="1750"/>
              </a:lnSpc>
              <a:spcBef>
                <a:spcPts val="0"/>
              </a:spcBef>
              <a:spcAft>
                <a:spcPts val="0"/>
              </a:spcAft>
            </a:pPr>
            <a:r>
              <a:rPr sz="1250" b="0">
                <a:solidFill>
                  <a:srgbClr val="5B6B85"/>
                </a:solidFill>
                <a:latin typeface="Arial"/>
              </a:rPr>
              <a:t>operasional.</a:t>
            </a:r>
          </a:p>
        </p:txBody>
      </p:sp>
      <p:sp>
        <p:nvSpPr>
          <p:cNvPr id="13" name="Rectangle 12"/>
          <p:cNvSpPr/>
          <p:nvPr/>
        </p:nvSpPr>
        <p:spPr>
          <a:xfrm>
            <a:off x="609600" y="4025900"/>
            <a:ext cx="38100" cy="635000"/>
          </a:xfrm>
          <a:prstGeom prst="rect">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2800" y="4051300"/>
            <a:ext cx="3302000" cy="287338"/>
          </a:xfrm>
          <a:prstGeom prst="rect">
            <a:avLst/>
          </a:prstGeom>
          <a:noFill/>
        </p:spPr>
        <p:txBody>
          <a:bodyPr wrap="none" anchor="t" lIns="0" rIns="0" tIns="0" bIns="0">
            <a:noAutofit/>
          </a:bodyPr>
          <a:lstStyle/>
          <a:p>
            <a:pPr algn="l">
              <a:lnSpc>
                <a:spcPts val="2062"/>
              </a:lnSpc>
              <a:spcBef>
                <a:spcPts val="0"/>
              </a:spcBef>
              <a:spcAft>
                <a:spcPts val="0"/>
              </a:spcAft>
            </a:pPr>
            <a:r>
              <a:rPr sz="1650" b="1">
                <a:solidFill>
                  <a:srgbClr val="071A36"/>
                </a:solidFill>
                <a:latin typeface="Arial"/>
              </a:rPr>
              <a:t>3. Tentukan penanggung jawab</a:t>
            </a:r>
          </a:p>
        </p:txBody>
      </p:sp>
      <p:sp>
        <p:nvSpPr>
          <p:cNvPr id="15" name="TextBox 14"/>
          <p:cNvSpPr txBox="1"/>
          <p:nvPr/>
        </p:nvSpPr>
        <p:spPr>
          <a:xfrm>
            <a:off x="812800" y="4318000"/>
            <a:ext cx="3302000" cy="24765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Kontak petugas untuk survei lapangan DPW.</a:t>
            </a:r>
          </a:p>
        </p:txBody>
      </p:sp>
      <p:sp>
        <p:nvSpPr>
          <p:cNvPr id="16" name="Rectangle 15"/>
          <p:cNvSpPr/>
          <p:nvPr/>
        </p:nvSpPr>
        <p:spPr>
          <a:xfrm>
            <a:off x="609600" y="4927600"/>
            <a:ext cx="38100" cy="635000"/>
          </a:xfrm>
          <a:prstGeom prst="rect">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4953000"/>
            <a:ext cx="3302000" cy="287338"/>
          </a:xfrm>
          <a:prstGeom prst="rect">
            <a:avLst/>
          </a:prstGeom>
          <a:noFill/>
        </p:spPr>
        <p:txBody>
          <a:bodyPr wrap="none" anchor="t" lIns="0" rIns="0" tIns="0" bIns="0">
            <a:noAutofit/>
          </a:bodyPr>
          <a:lstStyle/>
          <a:p>
            <a:pPr algn="l">
              <a:lnSpc>
                <a:spcPts val="2062"/>
              </a:lnSpc>
              <a:spcBef>
                <a:spcPts val="0"/>
              </a:spcBef>
              <a:spcAft>
                <a:spcPts val="0"/>
              </a:spcAft>
            </a:pPr>
            <a:r>
              <a:rPr sz="1650" b="1">
                <a:solidFill>
                  <a:srgbClr val="071A36"/>
                </a:solidFill>
                <a:latin typeface="Arial"/>
              </a:rPr>
              <a:t>4. Kirim &amp; dapatkan kode</a:t>
            </a:r>
          </a:p>
        </p:txBody>
      </p:sp>
      <p:sp>
        <p:nvSpPr>
          <p:cNvPr id="18" name="TextBox 17"/>
          <p:cNvSpPr txBox="1"/>
          <p:nvPr/>
        </p:nvSpPr>
        <p:spPr>
          <a:xfrm>
            <a:off x="812800" y="5219700"/>
            <a:ext cx="330200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Status DIAJUKAN, notifikasi terkirim ke</a:t>
            </a:r>
          </a:p>
          <a:p>
            <a:pPr algn="l">
              <a:lnSpc>
                <a:spcPts val="1750"/>
              </a:lnSpc>
              <a:spcBef>
                <a:spcPts val="0"/>
              </a:spcBef>
              <a:spcAft>
                <a:spcPts val="0"/>
              </a:spcAft>
            </a:pPr>
            <a:r>
              <a:rPr sz="1250" b="0">
                <a:solidFill>
                  <a:srgbClr val="5B6B85"/>
                </a:solidFill>
                <a:latin typeface="Arial"/>
              </a:rPr>
              <a:t>DPW.</a:t>
            </a:r>
          </a:p>
        </p:txBody>
      </p:sp>
      <p:sp>
        <p:nvSpPr>
          <p:cNvPr id="19" name="Rounded Rectangle 18"/>
          <p:cNvSpPr/>
          <p:nvPr/>
        </p:nvSpPr>
        <p:spPr>
          <a:xfrm>
            <a:off x="4692650" y="946150"/>
            <a:ext cx="6896100" cy="5092700"/>
          </a:xfrm>
          <a:prstGeom prst="roundRect">
            <a:avLst>
              <a:gd name="adj" fmla="val 1745"/>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699000" y="952500"/>
            <a:ext cx="6883400" cy="304800"/>
          </a:xfrm>
          <a:prstGeom prst="roundRect">
            <a:avLst>
              <a:gd name="adj" fmla="val 27083"/>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699000" y="1155700"/>
            <a:ext cx="6883400" cy="101600"/>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800600" y="1028700"/>
            <a:ext cx="63500" cy="63500"/>
          </a:xfrm>
          <a:prstGeom prst="ellipse">
            <a:avLst/>
          </a:prstGeom>
          <a:solidFill>
            <a:srgbClr val="FF6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914900" y="1028700"/>
            <a:ext cx="63500" cy="635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029200" y="1028700"/>
            <a:ext cx="63500" cy="63500"/>
          </a:xfrm>
          <a:prstGeom prst="ellipse">
            <a:avLst/>
          </a:prstGeom>
          <a:solidFill>
            <a:srgbClr val="28C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5245100" y="996950"/>
            <a:ext cx="22860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321300" y="1009650"/>
            <a:ext cx="2159000" cy="144462"/>
          </a:xfrm>
          <a:prstGeom prst="rect">
            <a:avLst/>
          </a:prstGeom>
          <a:noFill/>
        </p:spPr>
        <p:txBody>
          <a:bodyPr wrap="none" anchor="t" lIns="0" rIns="0" tIns="0" bIns="0">
            <a:noAutofit/>
          </a:bodyPr>
          <a:lstStyle/>
          <a:p>
            <a:pPr algn="l">
              <a:lnSpc>
                <a:spcPts val="937"/>
              </a:lnSpc>
              <a:spcBef>
                <a:spcPts val="0"/>
              </a:spcBef>
              <a:spcAft>
                <a:spcPts val="0"/>
              </a:spcAft>
            </a:pPr>
            <a:r>
              <a:rPr sz="750" b="0">
                <a:solidFill>
                  <a:srgbClr val="5B6B85"/>
                </a:solidFill>
                <a:latin typeface="Arial"/>
              </a:rPr>
              <a:t>ahyo.github.io/gpn08/dashboard/pengajuan/baru</a:t>
            </a:r>
          </a:p>
        </p:txBody>
      </p:sp>
      <p:pic>
        <p:nvPicPr>
          <p:cNvPr id="27" name="Picture 26" descr="pengajuan_1084x766_-0-17-0-0-1-0-1-0-_-0-6-0-0-.jpg"/>
          <p:cNvPicPr>
            <a:picLocks noChangeAspect="1"/>
          </p:cNvPicPr>
          <p:nvPr/>
        </p:nvPicPr>
        <p:blipFill>
          <a:blip r:embed="rId2"/>
          <a:stretch>
            <a:fillRect/>
          </a:stretch>
        </p:blipFill>
        <p:spPr>
          <a:xfrm>
            <a:off x="4699000" y="1168400"/>
            <a:ext cx="6883400" cy="48641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ALUR DALAM APLIKASI · LANGKAH 2 &amp; 3</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11 / 18</a:t>
            </a:r>
          </a:p>
        </p:txBody>
      </p:sp>
      <p:sp>
        <p:nvSpPr>
          <p:cNvPr id="6" name="TextBox 5"/>
          <p:cNvSpPr txBox="1"/>
          <p:nvPr/>
        </p:nvSpPr>
        <p:spPr>
          <a:xfrm>
            <a:off x="609600" y="812800"/>
            <a:ext cx="101600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DPW memverifikasi, DPP memberi persetujuan akhir</a:t>
            </a:r>
          </a:p>
        </p:txBody>
      </p:sp>
      <p:sp>
        <p:nvSpPr>
          <p:cNvPr id="7" name="Rounded Rectangle 6"/>
          <p:cNvSpPr/>
          <p:nvPr/>
        </p:nvSpPr>
        <p:spPr>
          <a:xfrm>
            <a:off x="603250" y="1581150"/>
            <a:ext cx="5372100" cy="3314700"/>
          </a:xfrm>
          <a:prstGeom prst="roundRect">
            <a:avLst>
              <a:gd name="adj" fmla="val 2681"/>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09600" y="1587500"/>
            <a:ext cx="5359400" cy="304800"/>
          </a:xfrm>
          <a:prstGeom prst="roundRect">
            <a:avLst>
              <a:gd name="adj" fmla="val 27083"/>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9600" y="1790700"/>
            <a:ext cx="5359400" cy="101600"/>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11200" y="1663700"/>
            <a:ext cx="63500" cy="63500"/>
          </a:xfrm>
          <a:prstGeom prst="ellipse">
            <a:avLst/>
          </a:prstGeom>
          <a:solidFill>
            <a:srgbClr val="FF6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5500" y="1663700"/>
            <a:ext cx="63500" cy="635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39800" y="1663700"/>
            <a:ext cx="63500" cy="63500"/>
          </a:xfrm>
          <a:prstGeom prst="ellipse">
            <a:avLst/>
          </a:prstGeom>
          <a:solidFill>
            <a:srgbClr val="28C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155700" y="1631950"/>
            <a:ext cx="22860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31900" y="1644650"/>
            <a:ext cx="2159000" cy="144462"/>
          </a:xfrm>
          <a:prstGeom prst="rect">
            <a:avLst/>
          </a:prstGeom>
          <a:noFill/>
        </p:spPr>
        <p:txBody>
          <a:bodyPr wrap="none" anchor="t" lIns="0" rIns="0" tIns="0" bIns="0">
            <a:noAutofit/>
          </a:bodyPr>
          <a:lstStyle/>
          <a:p>
            <a:pPr algn="l">
              <a:lnSpc>
                <a:spcPts val="937"/>
              </a:lnSpc>
              <a:spcBef>
                <a:spcPts val="0"/>
              </a:spcBef>
              <a:spcAft>
                <a:spcPts val="0"/>
              </a:spcAft>
            </a:pPr>
            <a:r>
              <a:rPr sz="750" b="0">
                <a:solidFill>
                  <a:srgbClr val="5B6B85"/>
                </a:solidFill>
                <a:latin typeface="Arial"/>
              </a:rPr>
              <a:t>ahyo.github.io/gpn08</a:t>
            </a:r>
          </a:p>
        </p:txBody>
      </p:sp>
      <p:pic>
        <p:nvPicPr>
          <p:cNvPr id="15" name="Picture 14" descr="verifikasi-modal_844x486_-0-25-0-04-0-75-0-97-_-0-5-1-0-.jpg"/>
          <p:cNvPicPr>
            <a:picLocks noChangeAspect="1"/>
          </p:cNvPicPr>
          <p:nvPr/>
        </p:nvPicPr>
        <p:blipFill>
          <a:blip r:embed="rId2"/>
          <a:stretch>
            <a:fillRect/>
          </a:stretch>
        </p:blipFill>
        <p:spPr>
          <a:xfrm>
            <a:off x="609600" y="1803400"/>
            <a:ext cx="5359400" cy="3086100"/>
          </a:xfrm>
          <a:prstGeom prst="rect">
            <a:avLst/>
          </a:prstGeom>
        </p:spPr>
      </p:pic>
      <p:sp>
        <p:nvSpPr>
          <p:cNvPr id="16" name="Rounded Rectangle 15"/>
          <p:cNvSpPr/>
          <p:nvPr/>
        </p:nvSpPr>
        <p:spPr>
          <a:xfrm>
            <a:off x="609600" y="5080000"/>
            <a:ext cx="1094780" cy="1905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9600" y="5099844"/>
            <a:ext cx="1094780"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369A1"/>
                </a:solidFill>
                <a:latin typeface="Arial"/>
              </a:rPr>
              <a:t>DPW PROVINSI</a:t>
            </a:r>
          </a:p>
        </p:txBody>
      </p:sp>
      <p:sp>
        <p:nvSpPr>
          <p:cNvPr id="18" name="TextBox 17"/>
          <p:cNvSpPr txBox="1"/>
          <p:nvPr/>
        </p:nvSpPr>
        <p:spPr>
          <a:xfrm>
            <a:off x="609600" y="5372100"/>
            <a:ext cx="53594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Verifikasi wilayah</a:t>
            </a:r>
          </a:p>
        </p:txBody>
      </p:sp>
      <p:sp>
        <p:nvSpPr>
          <p:cNvPr id="19" name="TextBox 18"/>
          <p:cNvSpPr txBox="1"/>
          <p:nvPr/>
        </p:nvSpPr>
        <p:spPr>
          <a:xfrm>
            <a:off x="609600" y="5651500"/>
            <a:ext cx="5359400" cy="487680"/>
          </a:xfrm>
          <a:prstGeom prst="rect">
            <a:avLst/>
          </a:prstGeom>
          <a:noFill/>
        </p:spPr>
        <p:txBody>
          <a:bodyPr wrap="none" anchor="t" lIns="0" rIns="0" tIns="0" bIns="0">
            <a:noAutofit/>
          </a:bodyPr>
          <a:lstStyle/>
          <a:p>
            <a:pPr algn="l">
              <a:lnSpc>
                <a:spcPts val="1820"/>
              </a:lnSpc>
              <a:spcBef>
                <a:spcPts val="0"/>
              </a:spcBef>
              <a:spcAft>
                <a:spcPts val="0"/>
              </a:spcAft>
            </a:pPr>
            <a:r>
              <a:rPr sz="1300" b="0">
                <a:solidFill>
                  <a:srgbClr val="5B6B85"/>
                </a:solidFill>
                <a:latin typeface="Arial"/>
              </a:rPr>
              <a:t>Detail titik, peta mini, dan riwayat proses. DPW menekan "Verifikasi &amp;</a:t>
            </a:r>
          </a:p>
          <a:p>
            <a:pPr algn="l">
              <a:lnSpc>
                <a:spcPts val="1820"/>
              </a:lnSpc>
              <a:spcBef>
                <a:spcPts val="0"/>
              </a:spcBef>
              <a:spcAft>
                <a:spcPts val="0"/>
              </a:spcAft>
            </a:pPr>
            <a:r>
              <a:rPr sz="1300" b="0">
                <a:solidFill>
                  <a:srgbClr val="5B6B85"/>
                </a:solidFill>
                <a:latin typeface="Arial"/>
              </a:rPr>
              <a:t>Teruskan ke DPP".</a:t>
            </a:r>
          </a:p>
        </p:txBody>
      </p:sp>
      <p:sp>
        <p:nvSpPr>
          <p:cNvPr id="20" name="Rounded Rectangle 19"/>
          <p:cNvSpPr/>
          <p:nvPr/>
        </p:nvSpPr>
        <p:spPr>
          <a:xfrm>
            <a:off x="6216650" y="1581150"/>
            <a:ext cx="5372100" cy="3314700"/>
          </a:xfrm>
          <a:prstGeom prst="roundRect">
            <a:avLst>
              <a:gd name="adj" fmla="val 2681"/>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223000" y="1587500"/>
            <a:ext cx="5359400" cy="304800"/>
          </a:xfrm>
          <a:prstGeom prst="roundRect">
            <a:avLst>
              <a:gd name="adj" fmla="val 27083"/>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23000" y="1790700"/>
            <a:ext cx="5359400" cy="101600"/>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24600" y="1663700"/>
            <a:ext cx="63500" cy="63500"/>
          </a:xfrm>
          <a:prstGeom prst="ellipse">
            <a:avLst/>
          </a:prstGeom>
          <a:solidFill>
            <a:srgbClr val="FF6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38900" y="1663700"/>
            <a:ext cx="63500" cy="635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553200" y="1663700"/>
            <a:ext cx="63500" cy="63500"/>
          </a:xfrm>
          <a:prstGeom prst="ellipse">
            <a:avLst/>
          </a:prstGeom>
          <a:solidFill>
            <a:srgbClr val="28C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769100" y="1631950"/>
            <a:ext cx="22860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845300" y="1644650"/>
            <a:ext cx="2159000" cy="144462"/>
          </a:xfrm>
          <a:prstGeom prst="rect">
            <a:avLst/>
          </a:prstGeom>
          <a:noFill/>
        </p:spPr>
        <p:txBody>
          <a:bodyPr wrap="none" anchor="t" lIns="0" rIns="0" tIns="0" bIns="0">
            <a:noAutofit/>
          </a:bodyPr>
          <a:lstStyle/>
          <a:p>
            <a:pPr algn="l">
              <a:lnSpc>
                <a:spcPts val="937"/>
              </a:lnSpc>
              <a:spcBef>
                <a:spcPts val="0"/>
              </a:spcBef>
              <a:spcAft>
                <a:spcPts val="0"/>
              </a:spcAft>
            </a:pPr>
            <a:r>
              <a:rPr sz="750" b="0">
                <a:solidFill>
                  <a:srgbClr val="5B6B85"/>
                </a:solidFill>
                <a:latin typeface="Arial"/>
              </a:rPr>
              <a:t>ahyo.github.io/gpn08</a:t>
            </a:r>
          </a:p>
        </p:txBody>
      </p:sp>
      <p:pic>
        <p:nvPicPr>
          <p:cNvPr id="28" name="Picture 27" descr="persetujuan-modal_844x486_-0-25-0-04-0-75-0-97-_-0-5-1-0-.jpg"/>
          <p:cNvPicPr>
            <a:picLocks noChangeAspect="1"/>
          </p:cNvPicPr>
          <p:nvPr/>
        </p:nvPicPr>
        <p:blipFill>
          <a:blip r:embed="rId3"/>
          <a:stretch>
            <a:fillRect/>
          </a:stretch>
        </p:blipFill>
        <p:spPr>
          <a:xfrm>
            <a:off x="6223000" y="1803400"/>
            <a:ext cx="5359400" cy="3086100"/>
          </a:xfrm>
          <a:prstGeom prst="rect">
            <a:avLst/>
          </a:prstGeom>
        </p:spPr>
      </p:pic>
      <p:sp>
        <p:nvSpPr>
          <p:cNvPr id="29" name="Rounded Rectangle 28"/>
          <p:cNvSpPr/>
          <p:nvPr/>
        </p:nvSpPr>
        <p:spPr>
          <a:xfrm>
            <a:off x="6223000" y="5080000"/>
            <a:ext cx="882551" cy="19050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23000" y="5099844"/>
            <a:ext cx="882551"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47857"/>
                </a:solidFill>
                <a:latin typeface="Arial"/>
              </a:rPr>
              <a:t>DPP PUSAT</a:t>
            </a:r>
          </a:p>
        </p:txBody>
      </p:sp>
      <p:sp>
        <p:nvSpPr>
          <p:cNvPr id="31" name="TextBox 30"/>
          <p:cNvSpPr txBox="1"/>
          <p:nvPr/>
        </p:nvSpPr>
        <p:spPr>
          <a:xfrm>
            <a:off x="6223000" y="5372100"/>
            <a:ext cx="53594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Persetujuan akhir</a:t>
            </a:r>
          </a:p>
        </p:txBody>
      </p:sp>
      <p:sp>
        <p:nvSpPr>
          <p:cNvPr id="32" name="TextBox 31"/>
          <p:cNvSpPr txBox="1"/>
          <p:nvPr/>
        </p:nvSpPr>
        <p:spPr>
          <a:xfrm>
            <a:off x="6223000" y="5651500"/>
            <a:ext cx="5359400" cy="487680"/>
          </a:xfrm>
          <a:prstGeom prst="rect">
            <a:avLst/>
          </a:prstGeom>
          <a:noFill/>
        </p:spPr>
        <p:txBody>
          <a:bodyPr wrap="none" anchor="t" lIns="0" rIns="0" tIns="0" bIns="0">
            <a:noAutofit/>
          </a:bodyPr>
          <a:lstStyle/>
          <a:p>
            <a:pPr algn="l">
              <a:lnSpc>
                <a:spcPts val="1820"/>
              </a:lnSpc>
              <a:spcBef>
                <a:spcPts val="0"/>
              </a:spcBef>
              <a:spcAft>
                <a:spcPts val="0"/>
              </a:spcAft>
            </a:pPr>
            <a:r>
              <a:rPr sz="1300" b="0">
                <a:solidFill>
                  <a:srgbClr val="5B6B85"/>
                </a:solidFill>
                <a:latin typeface="Arial"/>
              </a:rPr>
              <a:t>Riwayat menunjukkan hasil verifikasi DPW. DPP menekan "Setujui &amp;</a:t>
            </a:r>
          </a:p>
          <a:p>
            <a:pPr algn="l">
              <a:lnSpc>
                <a:spcPts val="1820"/>
              </a:lnSpc>
              <a:spcBef>
                <a:spcPts val="0"/>
              </a:spcBef>
              <a:spcAft>
                <a:spcPts val="0"/>
              </a:spcAft>
            </a:pPr>
            <a:r>
              <a:rPr sz="1300" b="0">
                <a:solidFill>
                  <a:srgbClr val="5B6B85"/>
                </a:solidFill>
                <a:latin typeface="Arial"/>
              </a:rPr>
              <a:t>Tayangkan".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PEMBAGIAN KEWENANGAN</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12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Siapa melakukan apa dalam sistem</a:t>
            </a:r>
          </a:p>
        </p:txBody>
      </p:sp>
      <p:sp>
        <p:nvSpPr>
          <p:cNvPr id="7" name="TextBox 6"/>
          <p:cNvSpPr txBox="1"/>
          <p:nvPr/>
        </p:nvSpPr>
        <p:spPr>
          <a:xfrm>
            <a:off x="609600" y="1333500"/>
            <a:ext cx="8255000" cy="263525"/>
          </a:xfrm>
          <a:prstGeom prst="rect">
            <a:avLst/>
          </a:prstGeom>
          <a:noFill/>
        </p:spPr>
        <p:txBody>
          <a:bodyPr wrap="none" anchor="t" lIns="0" rIns="0" tIns="0" bIns="0">
            <a:noAutofit/>
          </a:bodyPr>
          <a:lstStyle/>
          <a:p>
            <a:pPr algn="l">
              <a:lnSpc>
                <a:spcPts val="1875"/>
              </a:lnSpc>
              <a:spcBef>
                <a:spcPts val="0"/>
              </a:spcBef>
              <a:spcAft>
                <a:spcPts val="0"/>
              </a:spcAft>
            </a:pPr>
            <a:r>
              <a:rPr sz="1500" b="0">
                <a:solidFill>
                  <a:srgbClr val="5B6B85"/>
                </a:solidFill>
                <a:latin typeface="Arial"/>
              </a:rPr>
              <a:t>Matriks ini menjadi dasar hak akses. Setiap akun hanya dapat bertindak sesuai jenjangnya.</a:t>
            </a:r>
          </a:p>
        </p:txBody>
      </p:sp>
      <p:sp>
        <p:nvSpPr>
          <p:cNvPr id="8" name="Rounded Rectangle 7"/>
          <p:cNvSpPr/>
          <p:nvPr/>
        </p:nvSpPr>
        <p:spPr>
          <a:xfrm>
            <a:off x="609600" y="1841500"/>
            <a:ext cx="10972800" cy="508000"/>
          </a:xfrm>
          <a:prstGeom prst="roundRect">
            <a:avLst>
              <a:gd name="adj" fmla="val 17500"/>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9600" y="2095500"/>
            <a:ext cx="10972800" cy="254000"/>
          </a:xfrm>
          <a:prstGeom prst="rect">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3600" y="2006600"/>
            <a:ext cx="55118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8A9AB5"/>
                </a:solidFill>
                <a:latin typeface="Arial"/>
              </a:rPr>
              <a:t>TINDAKAN</a:t>
            </a:r>
          </a:p>
        </p:txBody>
      </p:sp>
      <p:sp>
        <p:nvSpPr>
          <p:cNvPr id="11" name="TextBox 10"/>
          <p:cNvSpPr txBox="1"/>
          <p:nvPr/>
        </p:nvSpPr>
        <p:spPr>
          <a:xfrm>
            <a:off x="6629400" y="1930400"/>
            <a:ext cx="1651000" cy="279400"/>
          </a:xfrm>
          <a:prstGeom prst="rect">
            <a:avLst/>
          </a:prstGeom>
          <a:noFill/>
        </p:spPr>
        <p:txBody>
          <a:bodyPr wrap="none" anchor="t" lIns="0" rIns="0" tIns="0" bIns="0">
            <a:noAutofit/>
          </a:bodyPr>
          <a:lstStyle/>
          <a:p>
            <a:pPr algn="ctr">
              <a:lnSpc>
                <a:spcPts val="2000"/>
              </a:lnSpc>
              <a:spcBef>
                <a:spcPts val="0"/>
              </a:spcBef>
              <a:spcAft>
                <a:spcPts val="0"/>
              </a:spcAft>
            </a:pPr>
            <a:r>
              <a:rPr sz="1600" b="1">
                <a:solidFill>
                  <a:srgbClr val="FFFFFF"/>
                </a:solidFill>
                <a:latin typeface="Arial"/>
              </a:rPr>
              <a:t>DPD</a:t>
            </a:r>
          </a:p>
        </p:txBody>
      </p:sp>
      <p:sp>
        <p:nvSpPr>
          <p:cNvPr id="12" name="TextBox 11"/>
          <p:cNvSpPr txBox="1"/>
          <p:nvPr/>
        </p:nvSpPr>
        <p:spPr>
          <a:xfrm>
            <a:off x="6629400" y="2133600"/>
            <a:ext cx="1651000" cy="184150"/>
          </a:xfrm>
          <a:prstGeom prst="rect">
            <a:avLst/>
          </a:prstGeom>
          <a:noFill/>
        </p:spPr>
        <p:txBody>
          <a:bodyPr wrap="none" anchor="t" lIns="0" rIns="0" tIns="0" bIns="0">
            <a:noAutofit/>
          </a:bodyPr>
          <a:lstStyle/>
          <a:p>
            <a:pPr algn="ctr">
              <a:lnSpc>
                <a:spcPts val="1250"/>
              </a:lnSpc>
              <a:spcBef>
                <a:spcPts val="0"/>
              </a:spcBef>
              <a:spcAft>
                <a:spcPts val="0"/>
              </a:spcAft>
            </a:pPr>
            <a:r>
              <a:rPr sz="1000" b="0">
                <a:solidFill>
                  <a:srgbClr val="8A9AB5"/>
                </a:solidFill>
                <a:latin typeface="Arial"/>
              </a:rPr>
              <a:t>Kota/Kabupaten</a:t>
            </a:r>
          </a:p>
        </p:txBody>
      </p:sp>
      <p:sp>
        <p:nvSpPr>
          <p:cNvPr id="13" name="TextBox 12"/>
          <p:cNvSpPr txBox="1"/>
          <p:nvPr/>
        </p:nvSpPr>
        <p:spPr>
          <a:xfrm>
            <a:off x="8280400" y="1930400"/>
            <a:ext cx="1651000" cy="279400"/>
          </a:xfrm>
          <a:prstGeom prst="rect">
            <a:avLst/>
          </a:prstGeom>
          <a:noFill/>
        </p:spPr>
        <p:txBody>
          <a:bodyPr wrap="none" anchor="t" lIns="0" rIns="0" tIns="0" bIns="0">
            <a:noAutofit/>
          </a:bodyPr>
          <a:lstStyle/>
          <a:p>
            <a:pPr algn="ctr">
              <a:lnSpc>
                <a:spcPts val="2000"/>
              </a:lnSpc>
              <a:spcBef>
                <a:spcPts val="0"/>
              </a:spcBef>
              <a:spcAft>
                <a:spcPts val="0"/>
              </a:spcAft>
            </a:pPr>
            <a:r>
              <a:rPr sz="1600" b="1">
                <a:solidFill>
                  <a:srgbClr val="FFFFFF"/>
                </a:solidFill>
                <a:latin typeface="Arial"/>
              </a:rPr>
              <a:t>DPW</a:t>
            </a:r>
          </a:p>
        </p:txBody>
      </p:sp>
      <p:sp>
        <p:nvSpPr>
          <p:cNvPr id="14" name="TextBox 13"/>
          <p:cNvSpPr txBox="1"/>
          <p:nvPr/>
        </p:nvSpPr>
        <p:spPr>
          <a:xfrm>
            <a:off x="8280400" y="2133600"/>
            <a:ext cx="1651000" cy="184150"/>
          </a:xfrm>
          <a:prstGeom prst="rect">
            <a:avLst/>
          </a:prstGeom>
          <a:noFill/>
        </p:spPr>
        <p:txBody>
          <a:bodyPr wrap="none" anchor="t" lIns="0" rIns="0" tIns="0" bIns="0">
            <a:noAutofit/>
          </a:bodyPr>
          <a:lstStyle/>
          <a:p>
            <a:pPr algn="ctr">
              <a:lnSpc>
                <a:spcPts val="1250"/>
              </a:lnSpc>
              <a:spcBef>
                <a:spcPts val="0"/>
              </a:spcBef>
              <a:spcAft>
                <a:spcPts val="0"/>
              </a:spcAft>
            </a:pPr>
            <a:r>
              <a:rPr sz="1000" b="0">
                <a:solidFill>
                  <a:srgbClr val="8A9AB5"/>
                </a:solidFill>
                <a:latin typeface="Arial"/>
              </a:rPr>
              <a:t>Provinsi</a:t>
            </a:r>
          </a:p>
        </p:txBody>
      </p:sp>
      <p:sp>
        <p:nvSpPr>
          <p:cNvPr id="15" name="TextBox 14"/>
          <p:cNvSpPr txBox="1"/>
          <p:nvPr/>
        </p:nvSpPr>
        <p:spPr>
          <a:xfrm>
            <a:off x="9931400" y="1930400"/>
            <a:ext cx="1651000" cy="279400"/>
          </a:xfrm>
          <a:prstGeom prst="rect">
            <a:avLst/>
          </a:prstGeom>
          <a:noFill/>
        </p:spPr>
        <p:txBody>
          <a:bodyPr wrap="none" anchor="t" lIns="0" rIns="0" tIns="0" bIns="0">
            <a:noAutofit/>
          </a:bodyPr>
          <a:lstStyle/>
          <a:p>
            <a:pPr algn="ctr">
              <a:lnSpc>
                <a:spcPts val="2000"/>
              </a:lnSpc>
              <a:spcBef>
                <a:spcPts val="0"/>
              </a:spcBef>
              <a:spcAft>
                <a:spcPts val="0"/>
              </a:spcAft>
            </a:pPr>
            <a:r>
              <a:rPr sz="1600" b="1">
                <a:solidFill>
                  <a:srgbClr val="FFFFFF"/>
                </a:solidFill>
                <a:latin typeface="Arial"/>
              </a:rPr>
              <a:t>DPP</a:t>
            </a:r>
          </a:p>
        </p:txBody>
      </p:sp>
      <p:sp>
        <p:nvSpPr>
          <p:cNvPr id="16" name="TextBox 15"/>
          <p:cNvSpPr txBox="1"/>
          <p:nvPr/>
        </p:nvSpPr>
        <p:spPr>
          <a:xfrm>
            <a:off x="9931400" y="2133600"/>
            <a:ext cx="1651000" cy="184150"/>
          </a:xfrm>
          <a:prstGeom prst="rect">
            <a:avLst/>
          </a:prstGeom>
          <a:noFill/>
        </p:spPr>
        <p:txBody>
          <a:bodyPr wrap="none" anchor="t" lIns="0" rIns="0" tIns="0" bIns="0">
            <a:noAutofit/>
          </a:bodyPr>
          <a:lstStyle/>
          <a:p>
            <a:pPr algn="ctr">
              <a:lnSpc>
                <a:spcPts val="1250"/>
              </a:lnSpc>
              <a:spcBef>
                <a:spcPts val="0"/>
              </a:spcBef>
              <a:spcAft>
                <a:spcPts val="0"/>
              </a:spcAft>
            </a:pPr>
            <a:r>
              <a:rPr sz="1000" b="0">
                <a:solidFill>
                  <a:srgbClr val="8A9AB5"/>
                </a:solidFill>
                <a:latin typeface="Arial"/>
              </a:rPr>
              <a:t>Pusat</a:t>
            </a:r>
          </a:p>
        </p:txBody>
      </p:sp>
      <p:sp>
        <p:nvSpPr>
          <p:cNvPr id="17" name="Rectangle 16"/>
          <p:cNvSpPr/>
          <p:nvPr/>
        </p:nvSpPr>
        <p:spPr>
          <a:xfrm>
            <a:off x="609600" y="2349500"/>
            <a:ext cx="10972800" cy="5588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2527300"/>
            <a:ext cx="5511800" cy="263525"/>
          </a:xfrm>
          <a:prstGeom prst="rect">
            <a:avLst/>
          </a:prstGeom>
          <a:noFill/>
        </p:spPr>
        <p:txBody>
          <a:bodyPr wrap="none" anchor="t" lIns="0" rIns="0" tIns="0" bIns="0">
            <a:noAutofit/>
          </a:bodyPr>
          <a:lstStyle/>
          <a:p>
            <a:pPr algn="l">
              <a:lnSpc>
                <a:spcPts val="1875"/>
              </a:lnSpc>
              <a:spcBef>
                <a:spcPts val="0"/>
              </a:spcBef>
              <a:spcAft>
                <a:spcPts val="0"/>
              </a:spcAft>
            </a:pPr>
            <a:r>
              <a:rPr sz="1500" b="0">
                <a:solidFill>
                  <a:srgbClr val="071A36"/>
                </a:solidFill>
                <a:latin typeface="Arial"/>
              </a:rPr>
              <a:t>Mengusulkan titik CPSS baru</a:t>
            </a:r>
          </a:p>
        </p:txBody>
      </p:sp>
      <p:sp>
        <p:nvSpPr>
          <p:cNvPr id="19" name="Oval 18"/>
          <p:cNvSpPr/>
          <p:nvPr/>
        </p:nvSpPr>
        <p:spPr>
          <a:xfrm>
            <a:off x="7346950" y="25209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reeform 19"/>
          <p:cNvSpPr/>
          <p:nvPr/>
        </p:nvSpPr>
        <p:spPr>
          <a:xfrm>
            <a:off x="7388469" y="25873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997950" y="25209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062720" y="26202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648950" y="25209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0713720" y="26202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09600" y="2908300"/>
            <a:ext cx="10972800" cy="55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3600" y="3086100"/>
            <a:ext cx="5511800" cy="263525"/>
          </a:xfrm>
          <a:prstGeom prst="rect">
            <a:avLst/>
          </a:prstGeom>
          <a:noFill/>
        </p:spPr>
        <p:txBody>
          <a:bodyPr wrap="none" anchor="t" lIns="0" rIns="0" tIns="0" bIns="0">
            <a:noAutofit/>
          </a:bodyPr>
          <a:lstStyle/>
          <a:p>
            <a:pPr algn="l">
              <a:lnSpc>
                <a:spcPts val="1875"/>
              </a:lnSpc>
              <a:spcBef>
                <a:spcPts val="0"/>
              </a:spcBef>
              <a:spcAft>
                <a:spcPts val="0"/>
              </a:spcAft>
            </a:pPr>
            <a:r>
              <a:rPr sz="1500" b="0">
                <a:solidFill>
                  <a:srgbClr val="071A36"/>
                </a:solidFill>
                <a:latin typeface="Arial"/>
              </a:rPr>
              <a:t>Verifikasi kelayakan lapangan</a:t>
            </a:r>
          </a:p>
        </p:txBody>
      </p:sp>
      <p:sp>
        <p:nvSpPr>
          <p:cNvPr id="27" name="Oval 26"/>
          <p:cNvSpPr/>
          <p:nvPr/>
        </p:nvSpPr>
        <p:spPr>
          <a:xfrm>
            <a:off x="7346950" y="30797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411720" y="31790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997950" y="30797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Freeform 29"/>
          <p:cNvSpPr/>
          <p:nvPr/>
        </p:nvSpPr>
        <p:spPr>
          <a:xfrm>
            <a:off x="9039469" y="31461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0648950" y="30797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0713720" y="31790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09600" y="3467100"/>
            <a:ext cx="10972800" cy="5588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63600" y="3644900"/>
            <a:ext cx="5511800" cy="263525"/>
          </a:xfrm>
          <a:prstGeom prst="rect">
            <a:avLst/>
          </a:prstGeom>
          <a:noFill/>
        </p:spPr>
        <p:txBody>
          <a:bodyPr wrap="none" anchor="t" lIns="0" rIns="0" tIns="0" bIns="0">
            <a:noAutofit/>
          </a:bodyPr>
          <a:lstStyle/>
          <a:p>
            <a:pPr algn="l">
              <a:lnSpc>
                <a:spcPts val="1875"/>
              </a:lnSpc>
              <a:spcBef>
                <a:spcPts val="0"/>
              </a:spcBef>
              <a:spcAft>
                <a:spcPts val="0"/>
              </a:spcAft>
            </a:pPr>
            <a:r>
              <a:rPr sz="1500" b="0">
                <a:solidFill>
                  <a:srgbClr val="071A36"/>
                </a:solidFill>
                <a:latin typeface="Arial"/>
              </a:rPr>
              <a:t>Persetujuan akhir &amp; penayangan</a:t>
            </a:r>
          </a:p>
        </p:txBody>
      </p:sp>
      <p:sp>
        <p:nvSpPr>
          <p:cNvPr id="35" name="Oval 34"/>
          <p:cNvSpPr/>
          <p:nvPr/>
        </p:nvSpPr>
        <p:spPr>
          <a:xfrm>
            <a:off x="7346950" y="36385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411720" y="37378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997950" y="36385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9062720" y="37378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10648950" y="36385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Freeform 39"/>
          <p:cNvSpPr/>
          <p:nvPr/>
        </p:nvSpPr>
        <p:spPr>
          <a:xfrm>
            <a:off x="10690469" y="37049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09600" y="4025900"/>
            <a:ext cx="10972800" cy="55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63600" y="4203700"/>
            <a:ext cx="5511800" cy="263525"/>
          </a:xfrm>
          <a:prstGeom prst="rect">
            <a:avLst/>
          </a:prstGeom>
          <a:noFill/>
        </p:spPr>
        <p:txBody>
          <a:bodyPr wrap="none" anchor="t" lIns="0" rIns="0" tIns="0" bIns="0">
            <a:noAutofit/>
          </a:bodyPr>
          <a:lstStyle/>
          <a:p>
            <a:pPr algn="l">
              <a:lnSpc>
                <a:spcPts val="1875"/>
              </a:lnSpc>
              <a:spcBef>
                <a:spcPts val="0"/>
              </a:spcBef>
              <a:spcAft>
                <a:spcPts val="0"/>
              </a:spcAft>
            </a:pPr>
            <a:r>
              <a:rPr sz="1500" b="0">
                <a:solidFill>
                  <a:srgbClr val="071A36"/>
                </a:solidFill>
                <a:latin typeface="Arial"/>
              </a:rPr>
              <a:t>Menolak / mengembalikan pengajuan</a:t>
            </a:r>
          </a:p>
        </p:txBody>
      </p:sp>
      <p:sp>
        <p:nvSpPr>
          <p:cNvPr id="43" name="Oval 42"/>
          <p:cNvSpPr/>
          <p:nvPr/>
        </p:nvSpPr>
        <p:spPr>
          <a:xfrm>
            <a:off x="7346950" y="41973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411720" y="42966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997950" y="41973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Freeform 45"/>
          <p:cNvSpPr/>
          <p:nvPr/>
        </p:nvSpPr>
        <p:spPr>
          <a:xfrm>
            <a:off x="9039469" y="42637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0648950" y="41973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Freeform 47"/>
          <p:cNvSpPr/>
          <p:nvPr/>
        </p:nvSpPr>
        <p:spPr>
          <a:xfrm>
            <a:off x="10690469" y="42637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09600" y="4584700"/>
            <a:ext cx="10972800" cy="5588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63600" y="4762500"/>
            <a:ext cx="5511800" cy="263525"/>
          </a:xfrm>
          <a:prstGeom prst="rect">
            <a:avLst/>
          </a:prstGeom>
          <a:noFill/>
        </p:spPr>
        <p:txBody>
          <a:bodyPr wrap="none" anchor="t" lIns="0" rIns="0" tIns="0" bIns="0">
            <a:noAutofit/>
          </a:bodyPr>
          <a:lstStyle/>
          <a:p>
            <a:pPr algn="l">
              <a:lnSpc>
                <a:spcPts val="1875"/>
              </a:lnSpc>
              <a:spcBef>
                <a:spcPts val="0"/>
              </a:spcBef>
              <a:spcAft>
                <a:spcPts val="0"/>
              </a:spcAft>
            </a:pPr>
            <a:r>
              <a:rPr sz="1500" b="0">
                <a:solidFill>
                  <a:srgbClr val="071A36"/>
                </a:solidFill>
                <a:latin typeface="Arial"/>
              </a:rPr>
              <a:t>Verifikasi keanggotaan wilayah</a:t>
            </a:r>
          </a:p>
        </p:txBody>
      </p:sp>
      <p:sp>
        <p:nvSpPr>
          <p:cNvPr id="51" name="Oval 50"/>
          <p:cNvSpPr/>
          <p:nvPr/>
        </p:nvSpPr>
        <p:spPr>
          <a:xfrm>
            <a:off x="7346950" y="47561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7411720" y="48554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8997950" y="47561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Freeform 53"/>
          <p:cNvSpPr/>
          <p:nvPr/>
        </p:nvSpPr>
        <p:spPr>
          <a:xfrm>
            <a:off x="9039469" y="48225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10648950" y="47561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Freeform 55"/>
          <p:cNvSpPr/>
          <p:nvPr/>
        </p:nvSpPr>
        <p:spPr>
          <a:xfrm>
            <a:off x="10690469" y="48225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609600" y="5143500"/>
            <a:ext cx="10972800" cy="55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63600" y="5321300"/>
            <a:ext cx="5511800" cy="263525"/>
          </a:xfrm>
          <a:prstGeom prst="rect">
            <a:avLst/>
          </a:prstGeom>
          <a:noFill/>
        </p:spPr>
        <p:txBody>
          <a:bodyPr wrap="none" anchor="t" lIns="0" rIns="0" tIns="0" bIns="0">
            <a:noAutofit/>
          </a:bodyPr>
          <a:lstStyle/>
          <a:p>
            <a:pPr algn="l">
              <a:lnSpc>
                <a:spcPts val="1875"/>
              </a:lnSpc>
              <a:spcBef>
                <a:spcPts val="0"/>
              </a:spcBef>
              <a:spcAft>
                <a:spcPts val="0"/>
              </a:spcAft>
            </a:pPr>
            <a:r>
              <a:rPr sz="1500" b="0">
                <a:solidFill>
                  <a:srgbClr val="071A36"/>
                </a:solidFill>
                <a:latin typeface="Arial"/>
              </a:rPr>
              <a:t>Menetapkan standar teknis nasional</a:t>
            </a:r>
          </a:p>
        </p:txBody>
      </p:sp>
      <p:sp>
        <p:nvSpPr>
          <p:cNvPr id="59" name="Oval 58"/>
          <p:cNvSpPr/>
          <p:nvPr/>
        </p:nvSpPr>
        <p:spPr>
          <a:xfrm>
            <a:off x="7346950" y="53149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7411720" y="54142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8997950" y="5314950"/>
            <a:ext cx="215900" cy="215900"/>
          </a:xfrm>
          <a:prstGeom prst="ellipse">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9062720" y="5414264"/>
            <a:ext cx="86360" cy="19431"/>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10648950" y="531495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Freeform 63"/>
          <p:cNvSpPr/>
          <p:nvPr/>
        </p:nvSpPr>
        <p:spPr>
          <a:xfrm>
            <a:off x="10690469" y="538138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ounded Rectangle 64"/>
          <p:cNvSpPr/>
          <p:nvPr/>
        </p:nvSpPr>
        <p:spPr>
          <a:xfrm>
            <a:off x="609600" y="1841500"/>
            <a:ext cx="10972800" cy="3860800"/>
          </a:xfrm>
          <a:prstGeom prst="roundRect">
            <a:avLst>
              <a:gd name="adj" fmla="val 2302"/>
            </a:avLst>
          </a:prstGeom>
          <a:no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KEANGGOTAAN</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13 / 18</a:t>
            </a:r>
          </a:p>
        </p:txBody>
      </p:sp>
      <p:sp>
        <p:nvSpPr>
          <p:cNvPr id="6" name="TextBox 5"/>
          <p:cNvSpPr txBox="1"/>
          <p:nvPr/>
        </p:nvSpPr>
        <p:spPr>
          <a:xfrm>
            <a:off x="609600" y="812800"/>
            <a:ext cx="4064000" cy="784860"/>
          </a:xfrm>
          <a:prstGeom prst="rect">
            <a:avLst/>
          </a:prstGeom>
          <a:noFill/>
        </p:spPr>
        <p:txBody>
          <a:bodyPr wrap="none" anchor="t" lIns="0" rIns="0" tIns="0" bIns="0">
            <a:noAutofit/>
          </a:bodyPr>
          <a:lstStyle/>
          <a:p>
            <a:pPr algn="l">
              <a:lnSpc>
                <a:spcPts val="2990"/>
              </a:lnSpc>
              <a:spcBef>
                <a:spcPts val="0"/>
              </a:spcBef>
              <a:spcAft>
                <a:spcPts val="0"/>
              </a:spcAft>
            </a:pPr>
            <a:r>
              <a:rPr sz="2600" b="1">
                <a:solidFill>
                  <a:srgbClr val="071A36"/>
                </a:solidFill>
                <a:latin typeface="Arial"/>
              </a:rPr>
              <a:t>Pendaftaran anggota</a:t>
            </a:r>
          </a:p>
          <a:p>
            <a:pPr algn="l">
              <a:lnSpc>
                <a:spcPts val="2990"/>
              </a:lnSpc>
              <a:spcBef>
                <a:spcPts val="0"/>
              </a:spcBef>
              <a:spcAft>
                <a:spcPts val="0"/>
              </a:spcAft>
            </a:pPr>
            <a:r>
              <a:rPr sz="2600" b="1">
                <a:solidFill>
                  <a:srgbClr val="071A36"/>
                </a:solidFill>
                <a:latin typeface="Arial"/>
              </a:rPr>
              <a:t>yang tertib</a:t>
            </a:r>
          </a:p>
        </p:txBody>
      </p:sp>
      <p:sp>
        <p:nvSpPr>
          <p:cNvPr id="7" name="Oval 6"/>
          <p:cNvSpPr/>
          <p:nvPr/>
        </p:nvSpPr>
        <p:spPr>
          <a:xfrm>
            <a:off x="609600" y="229870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reeform 7"/>
          <p:cNvSpPr/>
          <p:nvPr/>
        </p:nvSpPr>
        <p:spPr>
          <a:xfrm>
            <a:off x="651119" y="236513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5200" y="2286000"/>
            <a:ext cx="3556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Formulir empat langkah</a:t>
            </a:r>
          </a:p>
        </p:txBody>
      </p:sp>
      <p:sp>
        <p:nvSpPr>
          <p:cNvPr id="10" name="TextBox 9"/>
          <p:cNvSpPr txBox="1"/>
          <p:nvPr/>
        </p:nvSpPr>
        <p:spPr>
          <a:xfrm>
            <a:off x="965200" y="2565400"/>
            <a:ext cx="3556000" cy="256540"/>
          </a:xfrm>
          <a:prstGeom prst="rect">
            <a:avLst/>
          </a:prstGeom>
          <a:noFill/>
        </p:spPr>
        <p:txBody>
          <a:bodyPr wrap="none" anchor="t" lIns="0" rIns="0" tIns="0" bIns="0">
            <a:noAutofit/>
          </a:bodyPr>
          <a:lstStyle/>
          <a:p>
            <a:pPr algn="l">
              <a:lnSpc>
                <a:spcPts val="1820"/>
              </a:lnSpc>
              <a:spcBef>
                <a:spcPts val="0"/>
              </a:spcBef>
              <a:spcAft>
                <a:spcPts val="0"/>
              </a:spcAft>
            </a:pPr>
            <a:r>
              <a:rPr sz="1300" b="0">
                <a:solidFill>
                  <a:srgbClr val="5B6B85"/>
                </a:solidFill>
                <a:latin typeface="Arial"/>
              </a:rPr>
              <a:t>Data pribadi, wilayah, minat, dan konfirmasi.</a:t>
            </a:r>
          </a:p>
        </p:txBody>
      </p:sp>
      <p:sp>
        <p:nvSpPr>
          <p:cNvPr id="11" name="Oval 10"/>
          <p:cNvSpPr/>
          <p:nvPr/>
        </p:nvSpPr>
        <p:spPr>
          <a:xfrm>
            <a:off x="609600" y="318770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reeform 11"/>
          <p:cNvSpPr/>
          <p:nvPr/>
        </p:nvSpPr>
        <p:spPr>
          <a:xfrm>
            <a:off x="651119" y="325413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5200" y="3175000"/>
            <a:ext cx="3556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Validasi otomatis</a:t>
            </a:r>
          </a:p>
        </p:txBody>
      </p:sp>
      <p:sp>
        <p:nvSpPr>
          <p:cNvPr id="14" name="TextBox 13"/>
          <p:cNvSpPr txBox="1"/>
          <p:nvPr/>
        </p:nvSpPr>
        <p:spPr>
          <a:xfrm>
            <a:off x="965200" y="3454400"/>
            <a:ext cx="3556000" cy="256540"/>
          </a:xfrm>
          <a:prstGeom prst="rect">
            <a:avLst/>
          </a:prstGeom>
          <a:noFill/>
        </p:spPr>
        <p:txBody>
          <a:bodyPr wrap="none" anchor="t" lIns="0" rIns="0" tIns="0" bIns="0">
            <a:noAutofit/>
          </a:bodyPr>
          <a:lstStyle/>
          <a:p>
            <a:pPr algn="l">
              <a:lnSpc>
                <a:spcPts val="1820"/>
              </a:lnSpc>
              <a:spcBef>
                <a:spcPts val="0"/>
              </a:spcBef>
              <a:spcAft>
                <a:spcPts val="0"/>
              </a:spcAft>
            </a:pPr>
            <a:r>
              <a:rPr sz="1300" b="0">
                <a:solidFill>
                  <a:srgbClr val="5B6B85"/>
                </a:solidFill>
                <a:latin typeface="Arial"/>
              </a:rPr>
              <a:t>NIK 16 digit, format email, dan nomor telepon.</a:t>
            </a:r>
          </a:p>
        </p:txBody>
      </p:sp>
      <p:sp>
        <p:nvSpPr>
          <p:cNvPr id="15" name="Oval 14"/>
          <p:cNvSpPr/>
          <p:nvPr/>
        </p:nvSpPr>
        <p:spPr>
          <a:xfrm>
            <a:off x="609600" y="407670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reeform 15"/>
          <p:cNvSpPr/>
          <p:nvPr/>
        </p:nvSpPr>
        <p:spPr>
          <a:xfrm>
            <a:off x="651119" y="414313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65200" y="4064000"/>
            <a:ext cx="3556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Diteruskan ke DPW domisili</a:t>
            </a:r>
          </a:p>
        </p:txBody>
      </p:sp>
      <p:sp>
        <p:nvSpPr>
          <p:cNvPr id="18" name="TextBox 17"/>
          <p:cNvSpPr txBox="1"/>
          <p:nvPr/>
        </p:nvSpPr>
        <p:spPr>
          <a:xfrm>
            <a:off x="965200" y="4343400"/>
            <a:ext cx="3556000" cy="487680"/>
          </a:xfrm>
          <a:prstGeom prst="rect">
            <a:avLst/>
          </a:prstGeom>
          <a:noFill/>
        </p:spPr>
        <p:txBody>
          <a:bodyPr wrap="none" anchor="t" lIns="0" rIns="0" tIns="0" bIns="0">
            <a:noAutofit/>
          </a:bodyPr>
          <a:lstStyle/>
          <a:p>
            <a:pPr algn="l">
              <a:lnSpc>
                <a:spcPts val="1820"/>
              </a:lnSpc>
              <a:spcBef>
                <a:spcPts val="0"/>
              </a:spcBef>
              <a:spcAft>
                <a:spcPts val="0"/>
              </a:spcAft>
            </a:pPr>
            <a:r>
              <a:rPr sz="1300" b="0">
                <a:solidFill>
                  <a:srgbClr val="5B6B85"/>
                </a:solidFill>
                <a:latin typeface="Arial"/>
              </a:rPr>
              <a:t>Berkas masuk ke pengurus wilayah yang</a:t>
            </a:r>
          </a:p>
          <a:p>
            <a:pPr algn="l">
              <a:lnSpc>
                <a:spcPts val="1820"/>
              </a:lnSpc>
              <a:spcBef>
                <a:spcPts val="0"/>
              </a:spcBef>
              <a:spcAft>
                <a:spcPts val="0"/>
              </a:spcAft>
            </a:pPr>
            <a:r>
              <a:rPr sz="1300" b="0">
                <a:solidFill>
                  <a:srgbClr val="5B6B85"/>
                </a:solidFill>
                <a:latin typeface="Arial"/>
              </a:rPr>
              <a:t>tepat.</a:t>
            </a:r>
          </a:p>
        </p:txBody>
      </p:sp>
      <p:sp>
        <p:nvSpPr>
          <p:cNvPr id="19" name="Oval 18"/>
          <p:cNvSpPr/>
          <p:nvPr/>
        </p:nvSpPr>
        <p:spPr>
          <a:xfrm>
            <a:off x="609600" y="4965700"/>
            <a:ext cx="215900" cy="2159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reeform 19"/>
          <p:cNvSpPr/>
          <p:nvPr/>
        </p:nvSpPr>
        <p:spPr>
          <a:xfrm>
            <a:off x="651119" y="5032131"/>
            <a:ext cx="132862" cy="107950"/>
          </a:xfrm>
          <a:custGeom>
            <a:avLst/>
            <a:gdLst/>
            <a:ahLst/>
            <a:cxnLst/>
            <a:rect l="l" t="t" r="r" b="b"/>
            <a:pathLst>
              <a:path w="132862" h="107950">
                <a:moveTo>
                  <a:pt x="16608" y="41519"/>
                </a:moveTo>
                <a:lnTo>
                  <a:pt x="49823" y="74734"/>
                </a:lnTo>
                <a:lnTo>
                  <a:pt x="116254" y="0"/>
                </a:lnTo>
                <a:lnTo>
                  <a:pt x="132862" y="16607"/>
                </a:lnTo>
                <a:lnTo>
                  <a:pt x="49823" y="107950"/>
                </a:lnTo>
                <a:lnTo>
                  <a:pt x="0" y="58127"/>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65200" y="4953000"/>
            <a:ext cx="35560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071A36"/>
                </a:solidFill>
                <a:latin typeface="Arial"/>
              </a:rPr>
              <a:t>Aktivasi &amp; nomor anggota</a:t>
            </a:r>
          </a:p>
        </p:txBody>
      </p:sp>
      <p:sp>
        <p:nvSpPr>
          <p:cNvPr id="22" name="TextBox 21"/>
          <p:cNvSpPr txBox="1"/>
          <p:nvPr/>
        </p:nvSpPr>
        <p:spPr>
          <a:xfrm>
            <a:off x="965200" y="5232400"/>
            <a:ext cx="3556000" cy="256540"/>
          </a:xfrm>
          <a:prstGeom prst="rect">
            <a:avLst/>
          </a:prstGeom>
          <a:noFill/>
        </p:spPr>
        <p:txBody>
          <a:bodyPr wrap="none" anchor="t" lIns="0" rIns="0" tIns="0" bIns="0">
            <a:noAutofit/>
          </a:bodyPr>
          <a:lstStyle/>
          <a:p>
            <a:pPr algn="l">
              <a:lnSpc>
                <a:spcPts val="1820"/>
              </a:lnSpc>
              <a:spcBef>
                <a:spcPts val="0"/>
              </a:spcBef>
              <a:spcAft>
                <a:spcPts val="0"/>
              </a:spcAft>
            </a:pPr>
            <a:r>
              <a:rPr sz="1300" b="0">
                <a:solidFill>
                  <a:srgbClr val="5B6B85"/>
                </a:solidFill>
                <a:latin typeface="Arial"/>
              </a:rPr>
              <a:t>DPW/DPP menyetujui, nomor anggota terbit.</a:t>
            </a:r>
          </a:p>
        </p:txBody>
      </p:sp>
      <p:sp>
        <p:nvSpPr>
          <p:cNvPr id="23" name="Rounded Rectangle 22"/>
          <p:cNvSpPr/>
          <p:nvPr/>
        </p:nvSpPr>
        <p:spPr>
          <a:xfrm>
            <a:off x="4819650" y="1073150"/>
            <a:ext cx="6769100" cy="4838700"/>
          </a:xfrm>
          <a:prstGeom prst="roundRect">
            <a:avLst>
              <a:gd name="adj" fmla="val 1837"/>
            </a:avLst>
          </a:prstGeom>
          <a:solidFill>
            <a:srgbClr val="D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4826000" y="1079500"/>
            <a:ext cx="6756400" cy="304800"/>
          </a:xfrm>
          <a:prstGeom prst="roundRect">
            <a:avLst>
              <a:gd name="adj" fmla="val 27083"/>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826000" y="1282700"/>
            <a:ext cx="6756400" cy="101600"/>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927600" y="1155700"/>
            <a:ext cx="63500" cy="63500"/>
          </a:xfrm>
          <a:prstGeom prst="ellipse">
            <a:avLst/>
          </a:prstGeom>
          <a:solidFill>
            <a:srgbClr val="FF6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041900" y="1155700"/>
            <a:ext cx="63500" cy="635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5156200" y="1155700"/>
            <a:ext cx="63500" cy="63500"/>
          </a:xfrm>
          <a:prstGeom prst="ellipse">
            <a:avLst/>
          </a:prstGeom>
          <a:solidFill>
            <a:srgbClr val="28C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5372100" y="1123950"/>
            <a:ext cx="22860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48300" y="1136650"/>
            <a:ext cx="2159000" cy="144462"/>
          </a:xfrm>
          <a:prstGeom prst="rect">
            <a:avLst/>
          </a:prstGeom>
          <a:noFill/>
        </p:spPr>
        <p:txBody>
          <a:bodyPr wrap="none" anchor="t" lIns="0" rIns="0" tIns="0" bIns="0">
            <a:noAutofit/>
          </a:bodyPr>
          <a:lstStyle/>
          <a:p>
            <a:pPr algn="l">
              <a:lnSpc>
                <a:spcPts val="937"/>
              </a:lnSpc>
              <a:spcBef>
                <a:spcPts val="0"/>
              </a:spcBef>
              <a:spcAft>
                <a:spcPts val="0"/>
              </a:spcAft>
            </a:pPr>
            <a:r>
              <a:rPr sz="750" b="0">
                <a:solidFill>
                  <a:srgbClr val="5B6B85"/>
                </a:solidFill>
                <a:latin typeface="Arial"/>
              </a:rPr>
              <a:t>ahyo.github.io/gpn08/pendaftaran</a:t>
            </a:r>
          </a:p>
        </p:txBody>
      </p:sp>
      <p:pic>
        <p:nvPicPr>
          <p:cNvPr id="31" name="Picture 30" descr="pendaftaran_1064x726_-0-13-0-12-0-87-1-0-_-0-5-0-0-.jpg"/>
          <p:cNvPicPr>
            <a:picLocks noChangeAspect="1"/>
          </p:cNvPicPr>
          <p:nvPr/>
        </p:nvPicPr>
        <p:blipFill>
          <a:blip r:embed="rId2"/>
          <a:stretch>
            <a:fillRect/>
          </a:stretch>
        </p:blipFill>
        <p:spPr>
          <a:xfrm>
            <a:off x="4826000" y="1295400"/>
            <a:ext cx="6756400" cy="46101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AKSES DI MANA SAJA</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14 / 18</a:t>
            </a:r>
          </a:p>
        </p:txBody>
      </p:sp>
      <p:sp>
        <p:nvSpPr>
          <p:cNvPr id="6" name="TextBox 5"/>
          <p:cNvSpPr txBox="1"/>
          <p:nvPr/>
        </p:nvSpPr>
        <p:spPr>
          <a:xfrm>
            <a:off x="609600" y="812800"/>
            <a:ext cx="54610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Nyaman dibuka dari ponsel</a:t>
            </a:r>
          </a:p>
        </p:txBody>
      </p:sp>
      <p:sp>
        <p:nvSpPr>
          <p:cNvPr id="7" name="TextBox 6"/>
          <p:cNvSpPr txBox="1"/>
          <p:nvPr/>
        </p:nvSpPr>
        <p:spPr>
          <a:xfrm>
            <a:off x="609600" y="1524000"/>
            <a:ext cx="4445000" cy="1244600"/>
          </a:xfrm>
          <a:prstGeom prst="rect">
            <a:avLst/>
          </a:prstGeom>
          <a:noFill/>
        </p:spPr>
        <p:txBody>
          <a:bodyPr wrap="none" anchor="t" lIns="0" rIns="0" tIns="0" bIns="0">
            <a:noAutofit/>
          </a:bodyPr>
          <a:lstStyle/>
          <a:p>
            <a:pPr algn="l">
              <a:lnSpc>
                <a:spcPts val="2400"/>
              </a:lnSpc>
              <a:spcBef>
                <a:spcPts val="0"/>
              </a:spcBef>
              <a:spcAft>
                <a:spcPts val="0"/>
              </a:spcAft>
            </a:pPr>
            <a:r>
              <a:rPr sz="1600" b="0">
                <a:solidFill>
                  <a:srgbClr val="5B6B85"/>
                </a:solidFill>
                <a:latin typeface="Arial"/>
              </a:rPr>
              <a:t>Tim lapangan bekerja di lokasi. Seluruh</a:t>
            </a:r>
          </a:p>
          <a:p>
            <a:pPr algn="l">
              <a:lnSpc>
                <a:spcPts val="2400"/>
              </a:lnSpc>
              <a:spcBef>
                <a:spcPts val="0"/>
              </a:spcBef>
              <a:spcAft>
                <a:spcPts val="0"/>
              </a:spcAft>
            </a:pPr>
            <a:r>
              <a:rPr sz="1600" b="0">
                <a:solidFill>
                  <a:srgbClr val="5B6B85"/>
                </a:solidFill>
                <a:latin typeface="Arial"/>
              </a:rPr>
              <a:t>halaman — termasuk peta dan dashboard —</a:t>
            </a:r>
          </a:p>
          <a:p>
            <a:pPr algn="l">
              <a:lnSpc>
                <a:spcPts val="2400"/>
              </a:lnSpc>
              <a:spcBef>
                <a:spcPts val="0"/>
              </a:spcBef>
              <a:spcAft>
                <a:spcPts val="0"/>
              </a:spcAft>
            </a:pPr>
            <a:r>
              <a:rPr sz="1600" b="0">
                <a:solidFill>
                  <a:srgbClr val="5B6B85"/>
                </a:solidFill>
                <a:latin typeface="Arial"/>
              </a:rPr>
              <a:t>menyesuaikan ukuran layar tanpa perlu</a:t>
            </a:r>
          </a:p>
          <a:p>
            <a:pPr algn="l">
              <a:lnSpc>
                <a:spcPts val="2400"/>
              </a:lnSpc>
              <a:spcBef>
                <a:spcPts val="0"/>
              </a:spcBef>
              <a:spcAft>
                <a:spcPts val="0"/>
              </a:spcAft>
            </a:pPr>
            <a:r>
              <a:rPr sz="1600" b="0">
                <a:solidFill>
                  <a:srgbClr val="5B6B85"/>
                </a:solidFill>
                <a:latin typeface="Arial"/>
              </a:rPr>
              <a:t>memasang aplikasi.</a:t>
            </a:r>
          </a:p>
        </p:txBody>
      </p:sp>
      <p:sp>
        <p:nvSpPr>
          <p:cNvPr id="8" name="Oval 7"/>
          <p:cNvSpPr/>
          <p:nvPr/>
        </p:nvSpPr>
        <p:spPr>
          <a:xfrm>
            <a:off x="609600" y="2984500"/>
            <a:ext cx="203200" cy="2032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reeform 8"/>
          <p:cNvSpPr/>
          <p:nvPr/>
        </p:nvSpPr>
        <p:spPr>
          <a:xfrm>
            <a:off x="648677" y="3047023"/>
            <a:ext cx="125046" cy="101600"/>
          </a:xfrm>
          <a:custGeom>
            <a:avLst/>
            <a:gdLst/>
            <a:ahLst/>
            <a:cxnLst/>
            <a:rect l="l" t="t" r="r" b="b"/>
            <a:pathLst>
              <a:path w="125046" h="101600">
                <a:moveTo>
                  <a:pt x="15631" y="39077"/>
                </a:moveTo>
                <a:lnTo>
                  <a:pt x="46892" y="70339"/>
                </a:lnTo>
                <a:lnTo>
                  <a:pt x="109415" y="0"/>
                </a:lnTo>
                <a:lnTo>
                  <a:pt x="125046" y="15631"/>
                </a:lnTo>
                <a:lnTo>
                  <a:pt x="46892" y="101600"/>
                </a:lnTo>
                <a:lnTo>
                  <a:pt x="0" y="54708"/>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9800" y="2997200"/>
            <a:ext cx="4064000" cy="279400"/>
          </a:xfrm>
          <a:prstGeom prst="rect">
            <a:avLst/>
          </a:prstGeom>
          <a:noFill/>
        </p:spPr>
        <p:txBody>
          <a:bodyPr wrap="none" anchor="t" lIns="0" rIns="0" tIns="0" bIns="0">
            <a:noAutofit/>
          </a:bodyPr>
          <a:lstStyle/>
          <a:p>
            <a:pPr algn="l">
              <a:lnSpc>
                <a:spcPts val="2000"/>
              </a:lnSpc>
              <a:spcBef>
                <a:spcPts val="0"/>
              </a:spcBef>
              <a:spcAft>
                <a:spcPts val="0"/>
              </a:spcAft>
            </a:pPr>
            <a:r>
              <a:rPr sz="1600" b="0">
                <a:solidFill>
                  <a:srgbClr val="071A36"/>
                </a:solidFill>
                <a:latin typeface="Arial"/>
              </a:rPr>
              <a:t>Cukup buka lewat peramban ponsel</a:t>
            </a:r>
          </a:p>
        </p:txBody>
      </p:sp>
      <p:sp>
        <p:nvSpPr>
          <p:cNvPr id="11" name="Oval 10"/>
          <p:cNvSpPr/>
          <p:nvPr/>
        </p:nvSpPr>
        <p:spPr>
          <a:xfrm>
            <a:off x="609600" y="3429000"/>
            <a:ext cx="203200" cy="2032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reeform 11"/>
          <p:cNvSpPr/>
          <p:nvPr/>
        </p:nvSpPr>
        <p:spPr>
          <a:xfrm>
            <a:off x="648677" y="3491523"/>
            <a:ext cx="125046" cy="101600"/>
          </a:xfrm>
          <a:custGeom>
            <a:avLst/>
            <a:gdLst/>
            <a:ahLst/>
            <a:cxnLst/>
            <a:rect l="l" t="t" r="r" b="b"/>
            <a:pathLst>
              <a:path w="125046" h="101600">
                <a:moveTo>
                  <a:pt x="15631" y="39077"/>
                </a:moveTo>
                <a:lnTo>
                  <a:pt x="46892" y="70339"/>
                </a:lnTo>
                <a:lnTo>
                  <a:pt x="109415" y="0"/>
                </a:lnTo>
                <a:lnTo>
                  <a:pt x="125046" y="15631"/>
                </a:lnTo>
                <a:lnTo>
                  <a:pt x="46892" y="101600"/>
                </a:lnTo>
                <a:lnTo>
                  <a:pt x="0" y="54708"/>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9800" y="3441700"/>
            <a:ext cx="4064000" cy="279400"/>
          </a:xfrm>
          <a:prstGeom prst="rect">
            <a:avLst/>
          </a:prstGeom>
          <a:noFill/>
        </p:spPr>
        <p:txBody>
          <a:bodyPr wrap="none" anchor="t" lIns="0" rIns="0" tIns="0" bIns="0">
            <a:noAutofit/>
          </a:bodyPr>
          <a:lstStyle/>
          <a:p>
            <a:pPr algn="l">
              <a:lnSpc>
                <a:spcPts val="2000"/>
              </a:lnSpc>
              <a:spcBef>
                <a:spcPts val="0"/>
              </a:spcBef>
              <a:spcAft>
                <a:spcPts val="0"/>
              </a:spcAft>
            </a:pPr>
            <a:r>
              <a:rPr sz="1600" b="0">
                <a:solidFill>
                  <a:srgbClr val="071A36"/>
                </a:solidFill>
                <a:latin typeface="Arial"/>
              </a:rPr>
              <a:t>Pencarian dan filter peta tetap lengkap</a:t>
            </a:r>
          </a:p>
        </p:txBody>
      </p:sp>
      <p:sp>
        <p:nvSpPr>
          <p:cNvPr id="14" name="Oval 13"/>
          <p:cNvSpPr/>
          <p:nvPr/>
        </p:nvSpPr>
        <p:spPr>
          <a:xfrm>
            <a:off x="609600" y="3873500"/>
            <a:ext cx="203200" cy="2032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reeform 14"/>
          <p:cNvSpPr/>
          <p:nvPr/>
        </p:nvSpPr>
        <p:spPr>
          <a:xfrm>
            <a:off x="648677" y="3936023"/>
            <a:ext cx="125046" cy="101600"/>
          </a:xfrm>
          <a:custGeom>
            <a:avLst/>
            <a:gdLst/>
            <a:ahLst/>
            <a:cxnLst/>
            <a:rect l="l" t="t" r="r" b="b"/>
            <a:pathLst>
              <a:path w="125046" h="101600">
                <a:moveTo>
                  <a:pt x="15631" y="39077"/>
                </a:moveTo>
                <a:lnTo>
                  <a:pt x="46892" y="70339"/>
                </a:lnTo>
                <a:lnTo>
                  <a:pt x="109415" y="0"/>
                </a:lnTo>
                <a:lnTo>
                  <a:pt x="125046" y="15631"/>
                </a:lnTo>
                <a:lnTo>
                  <a:pt x="46892" y="101600"/>
                </a:lnTo>
                <a:lnTo>
                  <a:pt x="0" y="54708"/>
                </a:lnTo>
                <a:close/>
              </a:path>
            </a:pathLst>
          </a:cu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9800" y="3886200"/>
            <a:ext cx="4064000" cy="279400"/>
          </a:xfrm>
          <a:prstGeom prst="rect">
            <a:avLst/>
          </a:prstGeom>
          <a:noFill/>
        </p:spPr>
        <p:txBody>
          <a:bodyPr wrap="none" anchor="t" lIns="0" rIns="0" tIns="0" bIns="0">
            <a:noAutofit/>
          </a:bodyPr>
          <a:lstStyle/>
          <a:p>
            <a:pPr algn="l">
              <a:lnSpc>
                <a:spcPts val="2000"/>
              </a:lnSpc>
              <a:spcBef>
                <a:spcPts val="0"/>
              </a:spcBef>
              <a:spcAft>
                <a:spcPts val="0"/>
              </a:spcAft>
            </a:pPr>
            <a:r>
              <a:rPr sz="1600" b="0">
                <a:solidFill>
                  <a:srgbClr val="071A36"/>
                </a:solidFill>
                <a:latin typeface="Arial"/>
              </a:rPr>
              <a:t>Koordinat diambil dari GPS perangkat</a:t>
            </a:r>
          </a:p>
        </p:txBody>
      </p:sp>
      <p:sp>
        <p:nvSpPr>
          <p:cNvPr id="17" name="Rounded Rectangle 16"/>
          <p:cNvSpPr/>
          <p:nvPr/>
        </p:nvSpPr>
        <p:spPr>
          <a:xfrm>
            <a:off x="6337300" y="1130300"/>
            <a:ext cx="2374900" cy="4965700"/>
          </a:xfrm>
          <a:prstGeom prst="roundRect">
            <a:avLst>
              <a:gd name="adj" fmla="val 11229"/>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337300" y="1130300"/>
            <a:ext cx="2374900" cy="4965700"/>
          </a:xfrm>
          <a:prstGeom prst="roundRect">
            <a:avLst>
              <a:gd name="adj" fmla="val 11229"/>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mobile-home_350x758_None_-0-5-0-0-.jpg"/>
          <p:cNvPicPr>
            <a:picLocks noChangeAspect="1"/>
          </p:cNvPicPr>
          <p:nvPr/>
        </p:nvPicPr>
        <p:blipFill>
          <a:blip r:embed="rId2"/>
          <a:stretch>
            <a:fillRect/>
          </a:stretch>
        </p:blipFill>
        <p:spPr>
          <a:xfrm>
            <a:off x="6413500" y="1206500"/>
            <a:ext cx="2222500" cy="4813300"/>
          </a:xfrm>
          <a:prstGeom prst="rect">
            <a:avLst/>
          </a:prstGeom>
        </p:spPr>
      </p:pic>
      <p:sp>
        <p:nvSpPr>
          <p:cNvPr id="20" name="Rounded Rectangle 19"/>
          <p:cNvSpPr/>
          <p:nvPr/>
        </p:nvSpPr>
        <p:spPr>
          <a:xfrm>
            <a:off x="7207250" y="1181100"/>
            <a:ext cx="635000" cy="114300"/>
          </a:xfrm>
          <a:prstGeom prst="roundRect">
            <a:avLst>
              <a:gd name="adj" fmla="val 50000"/>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131300" y="1130300"/>
            <a:ext cx="2374900" cy="4965700"/>
          </a:xfrm>
          <a:prstGeom prst="roundRect">
            <a:avLst>
              <a:gd name="adj" fmla="val 11229"/>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131300" y="1130300"/>
            <a:ext cx="2374900" cy="4965700"/>
          </a:xfrm>
          <a:prstGeom prst="roundRect">
            <a:avLst>
              <a:gd name="adj" fmla="val 11229"/>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obile-cpss_350x758_None_-0-5-0-0-.jpg"/>
          <p:cNvPicPr>
            <a:picLocks noChangeAspect="1"/>
          </p:cNvPicPr>
          <p:nvPr/>
        </p:nvPicPr>
        <p:blipFill>
          <a:blip r:embed="rId3"/>
          <a:stretch>
            <a:fillRect/>
          </a:stretch>
        </p:blipFill>
        <p:spPr>
          <a:xfrm>
            <a:off x="9207500" y="1206500"/>
            <a:ext cx="2222500" cy="4813300"/>
          </a:xfrm>
          <a:prstGeom prst="rect">
            <a:avLst/>
          </a:prstGeom>
        </p:spPr>
      </p:pic>
      <p:sp>
        <p:nvSpPr>
          <p:cNvPr id="24" name="Rounded Rectangle 23"/>
          <p:cNvSpPr/>
          <p:nvPr/>
        </p:nvSpPr>
        <p:spPr>
          <a:xfrm>
            <a:off x="10001250" y="1181100"/>
            <a:ext cx="635000" cy="114300"/>
          </a:xfrm>
          <a:prstGeom prst="roundRect">
            <a:avLst>
              <a:gd name="adj" fmla="val 50000"/>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TEKNOLOGI</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15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Arsitektur modern dan siap dikembangkan</a:t>
            </a:r>
          </a:p>
        </p:txBody>
      </p:sp>
      <p:sp>
        <p:nvSpPr>
          <p:cNvPr id="7" name="Rounded Rectangle 6"/>
          <p:cNvSpPr/>
          <p:nvPr/>
        </p:nvSpPr>
        <p:spPr>
          <a:xfrm>
            <a:off x="609600" y="1714500"/>
            <a:ext cx="2457450" cy="1587500"/>
          </a:xfrm>
          <a:prstGeom prst="roundRect">
            <a:avLst>
              <a:gd name="adj" fmla="val 7199"/>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2800" y="1917700"/>
            <a:ext cx="205105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E01729"/>
                </a:solidFill>
                <a:latin typeface="Arial"/>
              </a:rPr>
              <a:t>PENGGUNA</a:t>
            </a:r>
          </a:p>
        </p:txBody>
      </p:sp>
      <p:sp>
        <p:nvSpPr>
          <p:cNvPr id="9" name="TextBox 8"/>
          <p:cNvSpPr txBox="1"/>
          <p:nvPr/>
        </p:nvSpPr>
        <p:spPr>
          <a:xfrm>
            <a:off x="812800" y="2159000"/>
            <a:ext cx="205105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Pengguna</a:t>
            </a:r>
          </a:p>
        </p:txBody>
      </p:sp>
      <p:sp>
        <p:nvSpPr>
          <p:cNvPr id="10" name="TextBox 9"/>
          <p:cNvSpPr txBox="1"/>
          <p:nvPr/>
        </p:nvSpPr>
        <p:spPr>
          <a:xfrm>
            <a:off x="812800" y="2540000"/>
            <a:ext cx="205105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Publik dan pengurus, lewat</a:t>
            </a:r>
          </a:p>
          <a:p>
            <a:pPr algn="l">
              <a:lnSpc>
                <a:spcPts val="1750"/>
              </a:lnSpc>
              <a:spcBef>
                <a:spcPts val="0"/>
              </a:spcBef>
              <a:spcAft>
                <a:spcPts val="0"/>
              </a:spcAft>
            </a:pPr>
            <a:r>
              <a:rPr sz="1250" b="0">
                <a:solidFill>
                  <a:srgbClr val="5B6B85"/>
                </a:solidFill>
                <a:latin typeface="Arial"/>
              </a:rPr>
              <a:t>desktop maupun ponsel</a:t>
            </a:r>
          </a:p>
        </p:txBody>
      </p:sp>
      <p:sp>
        <p:nvSpPr>
          <p:cNvPr id="11" name="Rectangle 10"/>
          <p:cNvSpPr/>
          <p:nvPr/>
        </p:nvSpPr>
        <p:spPr>
          <a:xfrm>
            <a:off x="3130550" y="2495550"/>
            <a:ext cx="165100" cy="25400"/>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reeform 11"/>
          <p:cNvSpPr/>
          <p:nvPr/>
        </p:nvSpPr>
        <p:spPr>
          <a:xfrm>
            <a:off x="3282950" y="2444750"/>
            <a:ext cx="101600" cy="127000"/>
          </a:xfrm>
          <a:custGeom>
            <a:avLst/>
            <a:gdLst/>
            <a:ahLst/>
            <a:cxnLst/>
            <a:rect l="l" t="t" r="r" b="b"/>
            <a:pathLst>
              <a:path w="101600" h="127000">
                <a:moveTo>
                  <a:pt x="0" y="0"/>
                </a:moveTo>
                <a:lnTo>
                  <a:pt x="101600" y="63500"/>
                </a:lnTo>
                <a:lnTo>
                  <a:pt x="0" y="127000"/>
                </a:lnTo>
                <a:close/>
              </a:path>
            </a:pathLst>
          </a:cu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3448050" y="1714500"/>
            <a:ext cx="2457450" cy="1587500"/>
          </a:xfrm>
          <a:prstGeom prst="roundRect">
            <a:avLst>
              <a:gd name="adj" fmla="val 7199"/>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51250" y="1917700"/>
            <a:ext cx="205105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F5C451"/>
                </a:solidFill>
                <a:latin typeface="Arial"/>
              </a:rPr>
              <a:t>FRONTEND</a:t>
            </a:r>
          </a:p>
        </p:txBody>
      </p:sp>
      <p:sp>
        <p:nvSpPr>
          <p:cNvPr id="15" name="TextBox 14"/>
          <p:cNvSpPr txBox="1"/>
          <p:nvPr/>
        </p:nvSpPr>
        <p:spPr>
          <a:xfrm>
            <a:off x="3651250" y="2159000"/>
            <a:ext cx="205105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FFFFFF"/>
                </a:solidFill>
                <a:latin typeface="Arial"/>
              </a:rPr>
              <a:t>Next.js 15</a:t>
            </a:r>
          </a:p>
        </p:txBody>
      </p:sp>
      <p:sp>
        <p:nvSpPr>
          <p:cNvPr id="16" name="TextBox 15"/>
          <p:cNvSpPr txBox="1"/>
          <p:nvPr/>
        </p:nvSpPr>
        <p:spPr>
          <a:xfrm>
            <a:off x="3651250" y="2540000"/>
            <a:ext cx="205105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B8C4D8"/>
                </a:solidFill>
                <a:latin typeface="Arial"/>
              </a:rPr>
              <a:t>TypeScript · Tailwind CSS ·</a:t>
            </a:r>
          </a:p>
          <a:p>
            <a:pPr algn="l">
              <a:lnSpc>
                <a:spcPts val="1750"/>
              </a:lnSpc>
              <a:spcBef>
                <a:spcPts val="0"/>
              </a:spcBef>
              <a:spcAft>
                <a:spcPts val="0"/>
              </a:spcAft>
            </a:pPr>
            <a:r>
              <a:rPr sz="1250" b="0">
                <a:solidFill>
                  <a:srgbClr val="B8C4D8"/>
                </a:solidFill>
                <a:latin typeface="Arial"/>
              </a:rPr>
              <a:t>peta Leaflet</a:t>
            </a:r>
          </a:p>
        </p:txBody>
      </p:sp>
      <p:sp>
        <p:nvSpPr>
          <p:cNvPr id="17" name="Rectangle 16"/>
          <p:cNvSpPr/>
          <p:nvPr/>
        </p:nvSpPr>
        <p:spPr>
          <a:xfrm>
            <a:off x="5969000" y="2495550"/>
            <a:ext cx="165100" cy="25400"/>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reeform 17"/>
          <p:cNvSpPr/>
          <p:nvPr/>
        </p:nvSpPr>
        <p:spPr>
          <a:xfrm>
            <a:off x="6121400" y="2444750"/>
            <a:ext cx="101600" cy="127000"/>
          </a:xfrm>
          <a:custGeom>
            <a:avLst/>
            <a:gdLst/>
            <a:ahLst/>
            <a:cxnLst/>
            <a:rect l="l" t="t" r="r" b="b"/>
            <a:pathLst>
              <a:path w="101600" h="127000">
                <a:moveTo>
                  <a:pt x="0" y="0"/>
                </a:moveTo>
                <a:lnTo>
                  <a:pt x="101600" y="63500"/>
                </a:lnTo>
                <a:lnTo>
                  <a:pt x="0" y="127000"/>
                </a:lnTo>
                <a:close/>
              </a:path>
            </a:pathLst>
          </a:cu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286500" y="1714500"/>
            <a:ext cx="2457450" cy="1587500"/>
          </a:xfrm>
          <a:prstGeom prst="roundRect">
            <a:avLst>
              <a:gd name="adj" fmla="val 7199"/>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89700" y="1917700"/>
            <a:ext cx="205105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F5C451"/>
                </a:solidFill>
                <a:latin typeface="Arial"/>
              </a:rPr>
              <a:t>BACKEND API</a:t>
            </a:r>
          </a:p>
        </p:txBody>
      </p:sp>
      <p:sp>
        <p:nvSpPr>
          <p:cNvPr id="21" name="TextBox 20"/>
          <p:cNvSpPr txBox="1"/>
          <p:nvPr/>
        </p:nvSpPr>
        <p:spPr>
          <a:xfrm>
            <a:off x="6489700" y="2159000"/>
            <a:ext cx="205105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FFFFFF"/>
                </a:solidFill>
                <a:latin typeface="Arial"/>
              </a:rPr>
              <a:t>FastAPI</a:t>
            </a:r>
          </a:p>
        </p:txBody>
      </p:sp>
      <p:sp>
        <p:nvSpPr>
          <p:cNvPr id="22" name="TextBox 21"/>
          <p:cNvSpPr txBox="1"/>
          <p:nvPr/>
        </p:nvSpPr>
        <p:spPr>
          <a:xfrm>
            <a:off x="6489700" y="2540000"/>
            <a:ext cx="205105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B8C4D8"/>
                </a:solidFill>
                <a:latin typeface="Arial"/>
              </a:rPr>
              <a:t>JWT · kewenangan</a:t>
            </a:r>
          </a:p>
          <a:p>
            <a:pPr algn="l">
              <a:lnSpc>
                <a:spcPts val="1750"/>
              </a:lnSpc>
              <a:spcBef>
                <a:spcPts val="0"/>
              </a:spcBef>
              <a:spcAft>
                <a:spcPts val="0"/>
              </a:spcAft>
            </a:pPr>
            <a:r>
              <a:rPr sz="1250" b="0">
                <a:solidFill>
                  <a:srgbClr val="B8C4D8"/>
                </a:solidFill>
                <a:latin typeface="Arial"/>
              </a:rPr>
              <a:t>berjenjang · Python</a:t>
            </a:r>
          </a:p>
        </p:txBody>
      </p:sp>
      <p:sp>
        <p:nvSpPr>
          <p:cNvPr id="23" name="Rectangle 22"/>
          <p:cNvSpPr/>
          <p:nvPr/>
        </p:nvSpPr>
        <p:spPr>
          <a:xfrm>
            <a:off x="8807450" y="2495550"/>
            <a:ext cx="165100" cy="25400"/>
          </a:xfrm>
          <a:prstGeom prst="rect">
            <a:avLst/>
          </a:pr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reeform 23"/>
          <p:cNvSpPr/>
          <p:nvPr/>
        </p:nvSpPr>
        <p:spPr>
          <a:xfrm>
            <a:off x="8959850" y="2444750"/>
            <a:ext cx="101600" cy="127000"/>
          </a:xfrm>
          <a:custGeom>
            <a:avLst/>
            <a:gdLst/>
            <a:ahLst/>
            <a:cxnLst/>
            <a:rect l="l" t="t" r="r" b="b"/>
            <a:pathLst>
              <a:path w="101600" h="127000">
                <a:moveTo>
                  <a:pt x="0" y="0"/>
                </a:moveTo>
                <a:lnTo>
                  <a:pt x="101600" y="63500"/>
                </a:lnTo>
                <a:lnTo>
                  <a:pt x="0" y="127000"/>
                </a:lnTo>
                <a:close/>
              </a:path>
            </a:pathLst>
          </a:custGeom>
          <a:solidFill>
            <a:srgbClr val="8A9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9124950" y="1714500"/>
            <a:ext cx="2457450" cy="1587500"/>
          </a:xfrm>
          <a:prstGeom prst="roundRect">
            <a:avLst>
              <a:gd name="adj" fmla="val 7199"/>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8150" y="1917700"/>
            <a:ext cx="2051050" cy="192088"/>
          </a:xfrm>
          <a:prstGeom prst="rect">
            <a:avLst/>
          </a:prstGeom>
          <a:noFill/>
        </p:spPr>
        <p:txBody>
          <a:bodyPr wrap="none" anchor="t" lIns="0" rIns="0" tIns="0" bIns="0">
            <a:noAutofit/>
          </a:bodyPr>
          <a:lstStyle/>
          <a:p>
            <a:pPr algn="l">
              <a:lnSpc>
                <a:spcPts val="1312"/>
              </a:lnSpc>
              <a:spcBef>
                <a:spcPts val="0"/>
              </a:spcBef>
              <a:spcAft>
                <a:spcPts val="0"/>
              </a:spcAft>
            </a:pPr>
            <a:r>
              <a:rPr sz="1050" b="1">
                <a:solidFill>
                  <a:srgbClr val="E01729"/>
                </a:solidFill>
                <a:latin typeface="Arial"/>
              </a:rPr>
              <a:t>BASIS DATA</a:t>
            </a:r>
          </a:p>
        </p:txBody>
      </p:sp>
      <p:sp>
        <p:nvSpPr>
          <p:cNvPr id="27" name="TextBox 26"/>
          <p:cNvSpPr txBox="1"/>
          <p:nvPr/>
        </p:nvSpPr>
        <p:spPr>
          <a:xfrm>
            <a:off x="9328150" y="2159000"/>
            <a:ext cx="205105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071A36"/>
                </a:solidFill>
                <a:latin typeface="Arial"/>
              </a:rPr>
              <a:t>PostgreSQL</a:t>
            </a:r>
          </a:p>
        </p:txBody>
      </p:sp>
      <p:sp>
        <p:nvSpPr>
          <p:cNvPr id="28" name="TextBox 27"/>
          <p:cNvSpPr txBox="1"/>
          <p:nvPr/>
        </p:nvSpPr>
        <p:spPr>
          <a:xfrm>
            <a:off x="9328150" y="2540000"/>
            <a:ext cx="2051050" cy="469900"/>
          </a:xfrm>
          <a:prstGeom prst="rect">
            <a:avLst/>
          </a:prstGeom>
          <a:noFill/>
        </p:spPr>
        <p:txBody>
          <a:bodyPr wrap="none" anchor="t" lIns="0" rIns="0" tIns="0" bIns="0">
            <a:noAutofit/>
          </a:bodyPr>
          <a:lstStyle/>
          <a:p>
            <a:pPr algn="l">
              <a:lnSpc>
                <a:spcPts val="1750"/>
              </a:lnSpc>
              <a:spcBef>
                <a:spcPts val="0"/>
              </a:spcBef>
              <a:spcAft>
                <a:spcPts val="0"/>
              </a:spcAft>
            </a:pPr>
            <a:r>
              <a:rPr sz="1250" b="0">
                <a:solidFill>
                  <a:srgbClr val="5B6B85"/>
                </a:solidFill>
                <a:latin typeface="Arial"/>
              </a:rPr>
              <a:t>Titik, anggota, riwayat,</a:t>
            </a:r>
          </a:p>
          <a:p>
            <a:pPr algn="l">
              <a:lnSpc>
                <a:spcPts val="1750"/>
              </a:lnSpc>
              <a:spcBef>
                <a:spcPts val="0"/>
              </a:spcBef>
              <a:spcAft>
                <a:spcPts val="0"/>
              </a:spcAft>
            </a:pPr>
            <a:r>
              <a:rPr sz="1250" b="0">
                <a:solidFill>
                  <a:srgbClr val="5B6B85"/>
                </a:solidFill>
                <a:latin typeface="Arial"/>
              </a:rPr>
              <a:t>notifikasi</a:t>
            </a:r>
          </a:p>
        </p:txBody>
      </p:sp>
      <p:sp>
        <p:nvSpPr>
          <p:cNvPr id="29" name="Rounded Rectangle 28"/>
          <p:cNvSpPr/>
          <p:nvPr/>
        </p:nvSpPr>
        <p:spPr>
          <a:xfrm>
            <a:off x="609600" y="3619500"/>
            <a:ext cx="5384800" cy="2222500"/>
          </a:xfrm>
          <a:prstGeom prst="roundRect">
            <a:avLst>
              <a:gd name="adj" fmla="val 5142"/>
            </a:avLst>
          </a:prstGeom>
          <a:solidFill>
            <a:srgbClr val="FFFFFF"/>
          </a:solidFill>
          <a:ln w="12700">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63600" y="3848100"/>
            <a:ext cx="710406" cy="19050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63600" y="3867944"/>
            <a:ext cx="710406"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47857"/>
                </a:solidFill>
                <a:latin typeface="Arial"/>
              </a:rPr>
              <a:t>SAAT INI</a:t>
            </a:r>
          </a:p>
        </p:txBody>
      </p:sp>
      <p:sp>
        <p:nvSpPr>
          <p:cNvPr id="32" name="TextBox 31"/>
          <p:cNvSpPr txBox="1"/>
          <p:nvPr/>
        </p:nvSpPr>
        <p:spPr>
          <a:xfrm>
            <a:off x="863600" y="4191000"/>
            <a:ext cx="4876800" cy="374650"/>
          </a:xfrm>
          <a:prstGeom prst="rect">
            <a:avLst/>
          </a:prstGeom>
          <a:noFill/>
        </p:spPr>
        <p:txBody>
          <a:bodyPr wrap="none" anchor="t" lIns="0" rIns="0" tIns="0" bIns="0">
            <a:noAutofit/>
          </a:bodyPr>
          <a:lstStyle/>
          <a:p>
            <a:pPr algn="l">
              <a:lnSpc>
                <a:spcPts val="2750"/>
              </a:lnSpc>
              <a:spcBef>
                <a:spcPts val="0"/>
              </a:spcBef>
              <a:spcAft>
                <a:spcPts val="0"/>
              </a:spcAft>
            </a:pPr>
            <a:r>
              <a:rPr sz="2200" b="1">
                <a:solidFill>
                  <a:srgbClr val="071A36"/>
                </a:solidFill>
                <a:latin typeface="Arial"/>
              </a:rPr>
              <a:t>Mode Demo</a:t>
            </a:r>
          </a:p>
        </p:txBody>
      </p:sp>
      <p:sp>
        <p:nvSpPr>
          <p:cNvPr id="33" name="Oval 32"/>
          <p:cNvSpPr/>
          <p:nvPr/>
        </p:nvSpPr>
        <p:spPr>
          <a:xfrm>
            <a:off x="876300" y="465455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54100" y="4597400"/>
            <a:ext cx="46863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5B6B85"/>
                </a:solidFill>
                <a:latin typeface="Arial"/>
              </a:rPr>
              <a:t>Dihosting gratis di GitHub Pages</a:t>
            </a:r>
          </a:p>
        </p:txBody>
      </p:sp>
      <p:sp>
        <p:nvSpPr>
          <p:cNvPr id="35" name="Oval 34"/>
          <p:cNvSpPr/>
          <p:nvPr/>
        </p:nvSpPr>
        <p:spPr>
          <a:xfrm>
            <a:off x="876300" y="501015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54100" y="4953000"/>
            <a:ext cx="46863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5B6B85"/>
                </a:solidFill>
                <a:latin typeface="Arial"/>
              </a:rPr>
              <a:t>Data tersimpan di peramban masing-masing</a:t>
            </a:r>
          </a:p>
        </p:txBody>
      </p:sp>
      <p:sp>
        <p:nvSpPr>
          <p:cNvPr id="37" name="Oval 36"/>
          <p:cNvSpPr/>
          <p:nvPr/>
        </p:nvSpPr>
        <p:spPr>
          <a:xfrm>
            <a:off x="876300" y="536575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54100" y="5308600"/>
            <a:ext cx="46863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5B6B85"/>
                </a:solidFill>
                <a:latin typeface="Arial"/>
              </a:rPr>
              <a:t>Ideal untuk presentasi dan uji coba alur</a:t>
            </a:r>
          </a:p>
        </p:txBody>
      </p:sp>
      <p:sp>
        <p:nvSpPr>
          <p:cNvPr id="39" name="Rounded Rectangle 38"/>
          <p:cNvSpPr/>
          <p:nvPr/>
        </p:nvSpPr>
        <p:spPr>
          <a:xfrm>
            <a:off x="6197600" y="3619500"/>
            <a:ext cx="5384800" cy="2222500"/>
          </a:xfrm>
          <a:prstGeom prst="roundRect">
            <a:avLst>
              <a:gd name="adj" fmla="val 5142"/>
            </a:avLst>
          </a:prstGeom>
          <a:solidFill>
            <a:srgbClr val="FFFFFF"/>
          </a:solidFill>
          <a:ln w="12700">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6451600" y="3848100"/>
            <a:ext cx="1420912" cy="1905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51600" y="3867944"/>
            <a:ext cx="1420912"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369A1"/>
                </a:solidFill>
                <a:latin typeface="Arial"/>
              </a:rPr>
              <a:t>TAHAP BERIKUTNYA</a:t>
            </a:r>
          </a:p>
        </p:txBody>
      </p:sp>
      <p:sp>
        <p:nvSpPr>
          <p:cNvPr id="42" name="TextBox 41"/>
          <p:cNvSpPr txBox="1"/>
          <p:nvPr/>
        </p:nvSpPr>
        <p:spPr>
          <a:xfrm>
            <a:off x="6451600" y="4191000"/>
            <a:ext cx="4876800" cy="374650"/>
          </a:xfrm>
          <a:prstGeom prst="rect">
            <a:avLst/>
          </a:prstGeom>
          <a:noFill/>
        </p:spPr>
        <p:txBody>
          <a:bodyPr wrap="none" anchor="t" lIns="0" rIns="0" tIns="0" bIns="0">
            <a:noAutofit/>
          </a:bodyPr>
          <a:lstStyle/>
          <a:p>
            <a:pPr algn="l">
              <a:lnSpc>
                <a:spcPts val="2750"/>
              </a:lnSpc>
              <a:spcBef>
                <a:spcPts val="0"/>
              </a:spcBef>
              <a:spcAft>
                <a:spcPts val="0"/>
              </a:spcAft>
            </a:pPr>
            <a:r>
              <a:rPr sz="2200" b="1">
                <a:solidFill>
                  <a:srgbClr val="071A36"/>
                </a:solidFill>
                <a:latin typeface="Arial"/>
              </a:rPr>
              <a:t>Mode Produksi</a:t>
            </a:r>
          </a:p>
        </p:txBody>
      </p:sp>
      <p:sp>
        <p:nvSpPr>
          <p:cNvPr id="43" name="Oval 42"/>
          <p:cNvSpPr/>
          <p:nvPr/>
        </p:nvSpPr>
        <p:spPr>
          <a:xfrm>
            <a:off x="6464300" y="465455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642100" y="4597400"/>
            <a:ext cx="46863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5B6B85"/>
                </a:solidFill>
                <a:latin typeface="Arial"/>
              </a:rPr>
              <a:t>Server API dan basis data PostgreSQL</a:t>
            </a:r>
          </a:p>
        </p:txBody>
      </p:sp>
      <p:sp>
        <p:nvSpPr>
          <p:cNvPr id="45" name="Oval 44"/>
          <p:cNvSpPr/>
          <p:nvPr/>
        </p:nvSpPr>
        <p:spPr>
          <a:xfrm>
            <a:off x="6464300" y="501015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642100" y="4953000"/>
            <a:ext cx="46863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5B6B85"/>
                </a:solidFill>
                <a:latin typeface="Arial"/>
              </a:rPr>
              <a:t>Data terpusat untuk seluruh pengurus</a:t>
            </a:r>
          </a:p>
        </p:txBody>
      </p:sp>
      <p:sp>
        <p:nvSpPr>
          <p:cNvPr id="47" name="Oval 46"/>
          <p:cNvSpPr/>
          <p:nvPr/>
        </p:nvSpPr>
        <p:spPr>
          <a:xfrm>
            <a:off x="6464300" y="536575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642100" y="5308600"/>
            <a:ext cx="46863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5B6B85"/>
                </a:solidFill>
                <a:latin typeface="Arial"/>
              </a:rPr>
              <a:t>Kode backend sudah tersedia dan teruji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1A36"/>
        </a:solidFill>
        <a:effectLst/>
      </p:bgPr>
    </p:bg>
    <p:spTree>
      <p:nvGrpSpPr>
        <p:cNvPr id="1" name=""/>
        <p:cNvGrpSpPr/>
        <p:nvPr/>
      </p:nvGrpSpPr>
      <p:grpSpPr/>
      <p:sp>
        <p:nvSpPr>
          <p:cNvPr id="2" name="Oval 1"/>
          <p:cNvSpPr/>
          <p:nvPr/>
        </p:nvSpPr>
        <p:spPr>
          <a:xfrm>
            <a:off x="-1905000" y="3175000"/>
            <a:ext cx="5080000" cy="5080000"/>
          </a:xfrm>
          <a:prstGeom prst="ellipse">
            <a:avLst/>
          </a:prstGeom>
          <a:solidFill>
            <a:srgbClr val="E01729">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F5C451"/>
                </a:solidFill>
                <a:latin typeface="Arial"/>
              </a:rPr>
              <a:t>KESIAPAN &amp; KUALITAS</a:t>
            </a:r>
          </a:p>
        </p:txBody>
      </p:sp>
      <p:sp>
        <p:nvSpPr>
          <p:cNvPr id="5" name="TextBox 4"/>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6" name="TextBox 5"/>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16 / 18</a:t>
            </a:r>
          </a:p>
        </p:txBody>
      </p:sp>
      <p:sp>
        <p:nvSpPr>
          <p:cNvPr id="7" name="TextBox 6"/>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FFFFFF"/>
                </a:solidFill>
                <a:latin typeface="Arial"/>
              </a:rPr>
              <a:t>Sudah diuji, bukan sekadar desain</a:t>
            </a:r>
          </a:p>
        </p:txBody>
      </p:sp>
      <p:sp>
        <p:nvSpPr>
          <p:cNvPr id="8" name="Rounded Rectangle 7"/>
          <p:cNvSpPr/>
          <p:nvPr/>
        </p:nvSpPr>
        <p:spPr>
          <a:xfrm>
            <a:off x="609600" y="1778000"/>
            <a:ext cx="2609850" cy="1905000"/>
          </a:xfrm>
          <a:prstGeom prst="roundRect">
            <a:avLst>
              <a:gd name="adj" fmla="val 6666"/>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09600" y="1778000"/>
            <a:ext cx="2609850" cy="1905000"/>
          </a:xfrm>
          <a:prstGeom prst="roundRect">
            <a:avLst>
              <a:gd name="adj" fmla="val 6666"/>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8200" y="2006600"/>
            <a:ext cx="2152650" cy="787400"/>
          </a:xfrm>
          <a:prstGeom prst="rect">
            <a:avLst/>
          </a:prstGeom>
          <a:noFill/>
        </p:spPr>
        <p:txBody>
          <a:bodyPr wrap="none" anchor="t" lIns="0" rIns="0" tIns="0" bIns="0">
            <a:noAutofit/>
          </a:bodyPr>
          <a:lstStyle/>
          <a:p>
            <a:pPr algn="l">
              <a:lnSpc>
                <a:spcPts val="6000"/>
              </a:lnSpc>
              <a:spcBef>
                <a:spcPts val="0"/>
              </a:spcBef>
              <a:spcAft>
                <a:spcPts val="0"/>
              </a:spcAft>
            </a:pPr>
            <a:r>
              <a:rPr sz="4800" b="1">
                <a:solidFill>
                  <a:srgbClr val="F5C451"/>
                </a:solidFill>
                <a:latin typeface="Arial"/>
              </a:rPr>
              <a:t>26</a:t>
            </a:r>
          </a:p>
        </p:txBody>
      </p:sp>
      <p:sp>
        <p:nvSpPr>
          <p:cNvPr id="11" name="TextBox 10"/>
          <p:cNvSpPr txBox="1"/>
          <p:nvPr/>
        </p:nvSpPr>
        <p:spPr>
          <a:xfrm>
            <a:off x="838200" y="2755900"/>
            <a:ext cx="2152650" cy="279400"/>
          </a:xfrm>
          <a:prstGeom prst="rect">
            <a:avLst/>
          </a:prstGeom>
          <a:noFill/>
        </p:spPr>
        <p:txBody>
          <a:bodyPr wrap="none" anchor="t" lIns="0" rIns="0" tIns="0" bIns="0">
            <a:noAutofit/>
          </a:bodyPr>
          <a:lstStyle/>
          <a:p>
            <a:pPr algn="l">
              <a:lnSpc>
                <a:spcPts val="2000"/>
              </a:lnSpc>
              <a:spcBef>
                <a:spcPts val="0"/>
              </a:spcBef>
              <a:spcAft>
                <a:spcPts val="0"/>
              </a:spcAft>
            </a:pPr>
            <a:r>
              <a:rPr sz="1600" b="1">
                <a:solidFill>
                  <a:srgbClr val="FFFFFF"/>
                </a:solidFill>
                <a:latin typeface="Arial"/>
              </a:rPr>
              <a:t>halaman siap pakai</a:t>
            </a:r>
          </a:p>
        </p:txBody>
      </p:sp>
      <p:sp>
        <p:nvSpPr>
          <p:cNvPr id="12" name="TextBox 11"/>
          <p:cNvSpPr txBox="1"/>
          <p:nvPr/>
        </p:nvSpPr>
        <p:spPr>
          <a:xfrm>
            <a:off x="838200" y="3302000"/>
            <a:ext cx="2152650"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8A9AB5"/>
                </a:solidFill>
                <a:latin typeface="Arial"/>
              </a:rPr>
              <a:t>Publik dan dashboard internal</a:t>
            </a:r>
          </a:p>
        </p:txBody>
      </p:sp>
      <p:sp>
        <p:nvSpPr>
          <p:cNvPr id="13" name="Rounded Rectangle 12"/>
          <p:cNvSpPr/>
          <p:nvPr/>
        </p:nvSpPr>
        <p:spPr>
          <a:xfrm>
            <a:off x="3397250" y="1778000"/>
            <a:ext cx="2609850" cy="1905000"/>
          </a:xfrm>
          <a:prstGeom prst="roundRect">
            <a:avLst>
              <a:gd name="adj" fmla="val 6666"/>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397250" y="1778000"/>
            <a:ext cx="2609850" cy="1905000"/>
          </a:xfrm>
          <a:prstGeom prst="roundRect">
            <a:avLst>
              <a:gd name="adj" fmla="val 6666"/>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25850" y="2006600"/>
            <a:ext cx="2152650" cy="787400"/>
          </a:xfrm>
          <a:prstGeom prst="rect">
            <a:avLst/>
          </a:prstGeom>
          <a:noFill/>
        </p:spPr>
        <p:txBody>
          <a:bodyPr wrap="none" anchor="t" lIns="0" rIns="0" tIns="0" bIns="0">
            <a:noAutofit/>
          </a:bodyPr>
          <a:lstStyle/>
          <a:p>
            <a:pPr algn="l">
              <a:lnSpc>
                <a:spcPts val="6000"/>
              </a:lnSpc>
              <a:spcBef>
                <a:spcPts val="0"/>
              </a:spcBef>
              <a:spcAft>
                <a:spcPts val="0"/>
              </a:spcAft>
            </a:pPr>
            <a:r>
              <a:rPr sz="4800" b="1">
                <a:solidFill>
                  <a:srgbClr val="F5C451"/>
                </a:solidFill>
                <a:latin typeface="Arial"/>
              </a:rPr>
              <a:t>18/18</a:t>
            </a:r>
          </a:p>
        </p:txBody>
      </p:sp>
      <p:sp>
        <p:nvSpPr>
          <p:cNvPr id="16" name="TextBox 15"/>
          <p:cNvSpPr txBox="1"/>
          <p:nvPr/>
        </p:nvSpPr>
        <p:spPr>
          <a:xfrm>
            <a:off x="3625850" y="2755900"/>
            <a:ext cx="2152650" cy="533400"/>
          </a:xfrm>
          <a:prstGeom prst="rect">
            <a:avLst/>
          </a:prstGeom>
          <a:noFill/>
        </p:spPr>
        <p:txBody>
          <a:bodyPr wrap="none" anchor="t" lIns="0" rIns="0" tIns="0" bIns="0">
            <a:noAutofit/>
          </a:bodyPr>
          <a:lstStyle/>
          <a:p>
            <a:pPr algn="l">
              <a:lnSpc>
                <a:spcPts val="2000"/>
              </a:lnSpc>
              <a:spcBef>
                <a:spcPts val="0"/>
              </a:spcBef>
              <a:spcAft>
                <a:spcPts val="0"/>
              </a:spcAft>
            </a:pPr>
            <a:r>
              <a:rPr sz="1600" b="1">
                <a:solidFill>
                  <a:srgbClr val="FFFFFF"/>
                </a:solidFill>
                <a:latin typeface="Arial"/>
              </a:rPr>
              <a:t>skenario uji browser</a:t>
            </a:r>
          </a:p>
          <a:p>
            <a:pPr algn="l">
              <a:lnSpc>
                <a:spcPts val="2000"/>
              </a:lnSpc>
              <a:spcBef>
                <a:spcPts val="0"/>
              </a:spcBef>
              <a:spcAft>
                <a:spcPts val="0"/>
              </a:spcAft>
            </a:pPr>
            <a:r>
              <a:rPr sz="1600" b="1">
                <a:solidFill>
                  <a:srgbClr val="FFFFFF"/>
                </a:solidFill>
                <a:latin typeface="Arial"/>
              </a:rPr>
              <a:t>lolos</a:t>
            </a:r>
          </a:p>
        </p:txBody>
      </p:sp>
      <p:sp>
        <p:nvSpPr>
          <p:cNvPr id="17" name="TextBox 16"/>
          <p:cNvSpPr txBox="1"/>
          <p:nvPr/>
        </p:nvSpPr>
        <p:spPr>
          <a:xfrm>
            <a:off x="3625850" y="3302000"/>
            <a:ext cx="2152650"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8A9AB5"/>
                </a:solidFill>
                <a:latin typeface="Arial"/>
              </a:rPr>
              <a:t>Alur DPD → DPW → DPP</a:t>
            </a:r>
          </a:p>
        </p:txBody>
      </p:sp>
      <p:sp>
        <p:nvSpPr>
          <p:cNvPr id="18" name="Rounded Rectangle 17"/>
          <p:cNvSpPr/>
          <p:nvPr/>
        </p:nvSpPr>
        <p:spPr>
          <a:xfrm>
            <a:off x="6184900" y="1778000"/>
            <a:ext cx="2609850" cy="1905000"/>
          </a:xfrm>
          <a:prstGeom prst="roundRect">
            <a:avLst>
              <a:gd name="adj" fmla="val 6666"/>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184900" y="1778000"/>
            <a:ext cx="2609850" cy="1905000"/>
          </a:xfrm>
          <a:prstGeom prst="roundRect">
            <a:avLst>
              <a:gd name="adj" fmla="val 6666"/>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3500" y="2006600"/>
            <a:ext cx="2152650" cy="787400"/>
          </a:xfrm>
          <a:prstGeom prst="rect">
            <a:avLst/>
          </a:prstGeom>
          <a:noFill/>
        </p:spPr>
        <p:txBody>
          <a:bodyPr wrap="none" anchor="t" lIns="0" rIns="0" tIns="0" bIns="0">
            <a:noAutofit/>
          </a:bodyPr>
          <a:lstStyle/>
          <a:p>
            <a:pPr algn="l">
              <a:lnSpc>
                <a:spcPts val="6000"/>
              </a:lnSpc>
              <a:spcBef>
                <a:spcPts val="0"/>
              </a:spcBef>
              <a:spcAft>
                <a:spcPts val="0"/>
              </a:spcAft>
            </a:pPr>
            <a:r>
              <a:rPr sz="4800" b="1">
                <a:solidFill>
                  <a:srgbClr val="F5C451"/>
                </a:solidFill>
                <a:latin typeface="Arial"/>
              </a:rPr>
              <a:t>10/10</a:t>
            </a:r>
          </a:p>
        </p:txBody>
      </p:sp>
      <p:sp>
        <p:nvSpPr>
          <p:cNvPr id="21" name="TextBox 20"/>
          <p:cNvSpPr txBox="1"/>
          <p:nvPr/>
        </p:nvSpPr>
        <p:spPr>
          <a:xfrm>
            <a:off x="6413500" y="2755900"/>
            <a:ext cx="2152650" cy="279400"/>
          </a:xfrm>
          <a:prstGeom prst="rect">
            <a:avLst/>
          </a:prstGeom>
          <a:noFill/>
        </p:spPr>
        <p:txBody>
          <a:bodyPr wrap="none" anchor="t" lIns="0" rIns="0" tIns="0" bIns="0">
            <a:noAutofit/>
          </a:bodyPr>
          <a:lstStyle/>
          <a:p>
            <a:pPr algn="l">
              <a:lnSpc>
                <a:spcPts val="2000"/>
              </a:lnSpc>
              <a:spcBef>
                <a:spcPts val="0"/>
              </a:spcBef>
              <a:spcAft>
                <a:spcPts val="0"/>
              </a:spcAft>
            </a:pPr>
            <a:r>
              <a:rPr sz="1600" b="1">
                <a:solidFill>
                  <a:srgbClr val="FFFFFF"/>
                </a:solidFill>
                <a:latin typeface="Arial"/>
              </a:rPr>
              <a:t>uji otomatis API lolos</a:t>
            </a:r>
          </a:p>
        </p:txBody>
      </p:sp>
      <p:sp>
        <p:nvSpPr>
          <p:cNvPr id="22" name="TextBox 21"/>
          <p:cNvSpPr txBox="1"/>
          <p:nvPr/>
        </p:nvSpPr>
        <p:spPr>
          <a:xfrm>
            <a:off x="6413500" y="3302000"/>
            <a:ext cx="2152650"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8A9AB5"/>
                </a:solidFill>
                <a:latin typeface="Arial"/>
              </a:rPr>
              <a:t>Kewenangan &amp; status titik</a:t>
            </a:r>
          </a:p>
        </p:txBody>
      </p:sp>
      <p:sp>
        <p:nvSpPr>
          <p:cNvPr id="23" name="Rounded Rectangle 22"/>
          <p:cNvSpPr/>
          <p:nvPr/>
        </p:nvSpPr>
        <p:spPr>
          <a:xfrm>
            <a:off x="8972550" y="1778000"/>
            <a:ext cx="2609850" cy="1905000"/>
          </a:xfrm>
          <a:prstGeom prst="roundRect">
            <a:avLst>
              <a:gd name="adj" fmla="val 6666"/>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972550" y="1778000"/>
            <a:ext cx="2609850" cy="1905000"/>
          </a:xfrm>
          <a:prstGeom prst="roundRect">
            <a:avLst>
              <a:gd name="adj" fmla="val 6666"/>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201150" y="2006600"/>
            <a:ext cx="2152650" cy="787400"/>
          </a:xfrm>
          <a:prstGeom prst="rect">
            <a:avLst/>
          </a:prstGeom>
          <a:noFill/>
        </p:spPr>
        <p:txBody>
          <a:bodyPr wrap="none" anchor="t" lIns="0" rIns="0" tIns="0" bIns="0">
            <a:noAutofit/>
          </a:bodyPr>
          <a:lstStyle/>
          <a:p>
            <a:pPr algn="l">
              <a:lnSpc>
                <a:spcPts val="6000"/>
              </a:lnSpc>
              <a:spcBef>
                <a:spcPts val="0"/>
              </a:spcBef>
              <a:spcAft>
                <a:spcPts val="0"/>
              </a:spcAft>
            </a:pPr>
            <a:r>
              <a:rPr sz="4800" b="1">
                <a:solidFill>
                  <a:srgbClr val="F5C451"/>
                </a:solidFill>
                <a:latin typeface="Arial"/>
              </a:rPr>
              <a:t>38</a:t>
            </a:r>
          </a:p>
        </p:txBody>
      </p:sp>
      <p:sp>
        <p:nvSpPr>
          <p:cNvPr id="26" name="TextBox 25"/>
          <p:cNvSpPr txBox="1"/>
          <p:nvPr/>
        </p:nvSpPr>
        <p:spPr>
          <a:xfrm>
            <a:off x="9201150" y="2755900"/>
            <a:ext cx="2152650" cy="533400"/>
          </a:xfrm>
          <a:prstGeom prst="rect">
            <a:avLst/>
          </a:prstGeom>
          <a:noFill/>
        </p:spPr>
        <p:txBody>
          <a:bodyPr wrap="none" anchor="t" lIns="0" rIns="0" tIns="0" bIns="0">
            <a:noAutofit/>
          </a:bodyPr>
          <a:lstStyle/>
          <a:p>
            <a:pPr algn="l">
              <a:lnSpc>
                <a:spcPts val="2000"/>
              </a:lnSpc>
              <a:spcBef>
                <a:spcPts val="0"/>
              </a:spcBef>
              <a:spcAft>
                <a:spcPts val="0"/>
              </a:spcAft>
            </a:pPr>
            <a:r>
              <a:rPr sz="1600" b="1">
                <a:solidFill>
                  <a:srgbClr val="FFFFFF"/>
                </a:solidFill>
                <a:latin typeface="Arial"/>
              </a:rPr>
              <a:t>provinsi dalam</a:t>
            </a:r>
          </a:p>
          <a:p>
            <a:pPr algn="l">
              <a:lnSpc>
                <a:spcPts val="2000"/>
              </a:lnSpc>
              <a:spcBef>
                <a:spcPts val="0"/>
              </a:spcBef>
              <a:spcAft>
                <a:spcPts val="0"/>
              </a:spcAft>
            </a:pPr>
            <a:r>
              <a:rPr sz="1600" b="1">
                <a:solidFill>
                  <a:srgbClr val="FFFFFF"/>
                </a:solidFill>
                <a:latin typeface="Arial"/>
              </a:rPr>
              <a:t>sistem</a:t>
            </a:r>
          </a:p>
        </p:txBody>
      </p:sp>
      <p:sp>
        <p:nvSpPr>
          <p:cNvPr id="27" name="TextBox 26"/>
          <p:cNvSpPr txBox="1"/>
          <p:nvPr/>
        </p:nvSpPr>
        <p:spPr>
          <a:xfrm>
            <a:off x="9201150" y="3302000"/>
            <a:ext cx="2152650"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8A9AB5"/>
                </a:solidFill>
                <a:latin typeface="Arial"/>
              </a:rPr>
              <a:t>Siap diisi data resmi</a:t>
            </a:r>
          </a:p>
        </p:txBody>
      </p:sp>
      <p:sp>
        <p:nvSpPr>
          <p:cNvPr id="28" name="Rounded Rectangle 27"/>
          <p:cNvSpPr/>
          <p:nvPr/>
        </p:nvSpPr>
        <p:spPr>
          <a:xfrm>
            <a:off x="609600" y="4064000"/>
            <a:ext cx="5384800" cy="482600"/>
          </a:xfrm>
          <a:prstGeom prst="roundRect">
            <a:avLst>
              <a:gd name="adj" fmla="val 18421"/>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87400" y="4216400"/>
            <a:ext cx="177800" cy="1778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Freeform 29"/>
          <p:cNvSpPr/>
          <p:nvPr/>
        </p:nvSpPr>
        <p:spPr>
          <a:xfrm>
            <a:off x="819150" y="4273550"/>
            <a:ext cx="114300" cy="88900"/>
          </a:xfrm>
          <a:custGeom>
            <a:avLst/>
            <a:gdLst/>
            <a:ahLst/>
            <a:cxnLst/>
            <a:rect l="l" t="t" r="r" b="b"/>
            <a:pathLst>
              <a:path w="114300" h="88900">
                <a:moveTo>
                  <a:pt x="12700" y="31750"/>
                </a:moveTo>
                <a:lnTo>
                  <a:pt x="44450" y="63500"/>
                </a:lnTo>
                <a:lnTo>
                  <a:pt x="101600" y="0"/>
                </a:lnTo>
                <a:lnTo>
                  <a:pt x="114300" y="12700"/>
                </a:lnTo>
                <a:lnTo>
                  <a:pt x="44450" y="88900"/>
                </a:lnTo>
                <a:lnTo>
                  <a:pt x="0" y="4445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2200" y="4216400"/>
            <a:ext cx="4749800" cy="255588"/>
          </a:xfrm>
          <a:prstGeom prst="rect">
            <a:avLst/>
          </a:prstGeom>
          <a:noFill/>
        </p:spPr>
        <p:txBody>
          <a:bodyPr wrap="none" anchor="t" lIns="0" rIns="0" tIns="0" bIns="0">
            <a:noAutofit/>
          </a:bodyPr>
          <a:lstStyle/>
          <a:p>
            <a:pPr algn="l">
              <a:lnSpc>
                <a:spcPts val="1812"/>
              </a:lnSpc>
              <a:spcBef>
                <a:spcPts val="0"/>
              </a:spcBef>
              <a:spcAft>
                <a:spcPts val="0"/>
              </a:spcAft>
            </a:pPr>
            <a:r>
              <a:rPr sz="1450" b="0">
                <a:solidFill>
                  <a:srgbClr val="FFFFFF"/>
                </a:solidFill>
                <a:latin typeface="Arial"/>
              </a:rPr>
              <a:t>Demo publik aktif di ahyo.github.io/gpn08</a:t>
            </a:r>
          </a:p>
        </p:txBody>
      </p:sp>
      <p:sp>
        <p:nvSpPr>
          <p:cNvPr id="32" name="Rounded Rectangle 31"/>
          <p:cNvSpPr/>
          <p:nvPr/>
        </p:nvSpPr>
        <p:spPr>
          <a:xfrm>
            <a:off x="6197600" y="4064000"/>
            <a:ext cx="5384800" cy="482600"/>
          </a:xfrm>
          <a:prstGeom prst="roundRect">
            <a:avLst>
              <a:gd name="adj" fmla="val 18421"/>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375400" y="4216400"/>
            <a:ext cx="177800" cy="1778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Freeform 33"/>
          <p:cNvSpPr/>
          <p:nvPr/>
        </p:nvSpPr>
        <p:spPr>
          <a:xfrm>
            <a:off x="6407150" y="4273550"/>
            <a:ext cx="114300" cy="88900"/>
          </a:xfrm>
          <a:custGeom>
            <a:avLst/>
            <a:gdLst/>
            <a:ahLst/>
            <a:cxnLst/>
            <a:rect l="l" t="t" r="r" b="b"/>
            <a:pathLst>
              <a:path w="114300" h="88900">
                <a:moveTo>
                  <a:pt x="12700" y="31750"/>
                </a:moveTo>
                <a:lnTo>
                  <a:pt x="44450" y="63500"/>
                </a:lnTo>
                <a:lnTo>
                  <a:pt x="101600" y="0"/>
                </a:lnTo>
                <a:lnTo>
                  <a:pt x="114300" y="12700"/>
                </a:lnTo>
                <a:lnTo>
                  <a:pt x="44450" y="88900"/>
                </a:lnTo>
                <a:lnTo>
                  <a:pt x="0" y="4445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680200" y="4216400"/>
            <a:ext cx="4749800" cy="255588"/>
          </a:xfrm>
          <a:prstGeom prst="rect">
            <a:avLst/>
          </a:prstGeom>
          <a:noFill/>
        </p:spPr>
        <p:txBody>
          <a:bodyPr wrap="none" anchor="t" lIns="0" rIns="0" tIns="0" bIns="0">
            <a:noAutofit/>
          </a:bodyPr>
          <a:lstStyle/>
          <a:p>
            <a:pPr algn="l">
              <a:lnSpc>
                <a:spcPts val="1812"/>
              </a:lnSpc>
              <a:spcBef>
                <a:spcPts val="0"/>
              </a:spcBef>
              <a:spcAft>
                <a:spcPts val="0"/>
              </a:spcAft>
            </a:pPr>
            <a:r>
              <a:rPr sz="1450" b="0">
                <a:solidFill>
                  <a:srgbClr val="FFFFFF"/>
                </a:solidFill>
                <a:latin typeface="Arial"/>
              </a:rPr>
              <a:t>Deploy otomatis setiap ada pembaruan kode</a:t>
            </a:r>
          </a:p>
        </p:txBody>
      </p:sp>
      <p:sp>
        <p:nvSpPr>
          <p:cNvPr id="36" name="Rounded Rectangle 35"/>
          <p:cNvSpPr/>
          <p:nvPr/>
        </p:nvSpPr>
        <p:spPr>
          <a:xfrm>
            <a:off x="609600" y="4673600"/>
            <a:ext cx="5384800" cy="482600"/>
          </a:xfrm>
          <a:prstGeom prst="roundRect">
            <a:avLst>
              <a:gd name="adj" fmla="val 18421"/>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787400" y="4826000"/>
            <a:ext cx="177800" cy="1778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Freeform 37"/>
          <p:cNvSpPr/>
          <p:nvPr/>
        </p:nvSpPr>
        <p:spPr>
          <a:xfrm>
            <a:off x="819150" y="4883150"/>
            <a:ext cx="114300" cy="88900"/>
          </a:xfrm>
          <a:custGeom>
            <a:avLst/>
            <a:gdLst/>
            <a:ahLst/>
            <a:cxnLst/>
            <a:rect l="l" t="t" r="r" b="b"/>
            <a:pathLst>
              <a:path w="114300" h="88900">
                <a:moveTo>
                  <a:pt x="12700" y="31750"/>
                </a:moveTo>
                <a:lnTo>
                  <a:pt x="44450" y="63500"/>
                </a:lnTo>
                <a:lnTo>
                  <a:pt x="101600" y="0"/>
                </a:lnTo>
                <a:lnTo>
                  <a:pt x="114300" y="12700"/>
                </a:lnTo>
                <a:lnTo>
                  <a:pt x="44450" y="88900"/>
                </a:lnTo>
                <a:lnTo>
                  <a:pt x="0" y="4445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92200" y="4826000"/>
            <a:ext cx="4749800" cy="255588"/>
          </a:xfrm>
          <a:prstGeom prst="rect">
            <a:avLst/>
          </a:prstGeom>
          <a:noFill/>
        </p:spPr>
        <p:txBody>
          <a:bodyPr wrap="none" anchor="t" lIns="0" rIns="0" tIns="0" bIns="0">
            <a:noAutofit/>
          </a:bodyPr>
          <a:lstStyle/>
          <a:p>
            <a:pPr algn="l">
              <a:lnSpc>
                <a:spcPts val="1812"/>
              </a:lnSpc>
              <a:spcBef>
                <a:spcPts val="0"/>
              </a:spcBef>
              <a:spcAft>
                <a:spcPts val="0"/>
              </a:spcAft>
            </a:pPr>
            <a:r>
              <a:rPr sz="1450" b="0">
                <a:solidFill>
                  <a:srgbClr val="FFFFFF"/>
                </a:solidFill>
                <a:latin typeface="Arial"/>
              </a:rPr>
              <a:t>Pemeriksaan otomatis (CI) pada setiap perubahan</a:t>
            </a:r>
          </a:p>
        </p:txBody>
      </p:sp>
      <p:sp>
        <p:nvSpPr>
          <p:cNvPr id="40" name="Rounded Rectangle 39"/>
          <p:cNvSpPr/>
          <p:nvPr/>
        </p:nvSpPr>
        <p:spPr>
          <a:xfrm>
            <a:off x="6197600" y="4673600"/>
            <a:ext cx="5384800" cy="482600"/>
          </a:xfrm>
          <a:prstGeom prst="roundRect">
            <a:avLst>
              <a:gd name="adj" fmla="val 18421"/>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375400" y="4826000"/>
            <a:ext cx="177800" cy="1778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Freeform 41"/>
          <p:cNvSpPr/>
          <p:nvPr/>
        </p:nvSpPr>
        <p:spPr>
          <a:xfrm>
            <a:off x="6407150" y="4883150"/>
            <a:ext cx="114300" cy="88900"/>
          </a:xfrm>
          <a:custGeom>
            <a:avLst/>
            <a:gdLst/>
            <a:ahLst/>
            <a:cxnLst/>
            <a:rect l="l" t="t" r="r" b="b"/>
            <a:pathLst>
              <a:path w="114300" h="88900">
                <a:moveTo>
                  <a:pt x="12700" y="31750"/>
                </a:moveTo>
                <a:lnTo>
                  <a:pt x="44450" y="63500"/>
                </a:lnTo>
                <a:lnTo>
                  <a:pt x="101600" y="0"/>
                </a:lnTo>
                <a:lnTo>
                  <a:pt x="114300" y="12700"/>
                </a:lnTo>
                <a:lnTo>
                  <a:pt x="44450" y="88900"/>
                </a:lnTo>
                <a:lnTo>
                  <a:pt x="0" y="4445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680200" y="4826000"/>
            <a:ext cx="4749800" cy="255588"/>
          </a:xfrm>
          <a:prstGeom prst="rect">
            <a:avLst/>
          </a:prstGeom>
          <a:noFill/>
        </p:spPr>
        <p:txBody>
          <a:bodyPr wrap="none" anchor="t" lIns="0" rIns="0" tIns="0" bIns="0">
            <a:noAutofit/>
          </a:bodyPr>
          <a:lstStyle/>
          <a:p>
            <a:pPr algn="l">
              <a:lnSpc>
                <a:spcPts val="1812"/>
              </a:lnSpc>
              <a:spcBef>
                <a:spcPts val="0"/>
              </a:spcBef>
              <a:spcAft>
                <a:spcPts val="0"/>
              </a:spcAft>
            </a:pPr>
            <a:r>
              <a:rPr sz="1450" b="0">
                <a:solidFill>
                  <a:srgbClr val="FFFFFF"/>
                </a:solidFill>
                <a:latin typeface="Arial"/>
              </a:rPr>
              <a:t>Dokumentasi &amp; panduan presentasi tersedia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533400"/>
            <a:ext cx="38100" cy="165100"/>
          </a:xfrm>
          <a:prstGeom prst="rect">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6600" y="533400"/>
            <a:ext cx="5715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E01729"/>
                </a:solidFill>
                <a:latin typeface="Arial"/>
              </a:rPr>
              <a:t>PETA JALAN</a:t>
            </a:r>
          </a:p>
        </p:txBody>
      </p:sp>
      <p:sp>
        <p:nvSpPr>
          <p:cNvPr id="4" name="TextBox 3"/>
          <p:cNvSpPr txBox="1"/>
          <p:nvPr/>
        </p:nvSpPr>
        <p:spPr>
          <a:xfrm>
            <a:off x="609600" y="6489700"/>
            <a:ext cx="5715000" cy="168275"/>
          </a:xfrm>
          <a:prstGeom prst="rect">
            <a:avLst/>
          </a:prstGeom>
          <a:noFill/>
        </p:spPr>
        <p:txBody>
          <a:bodyPr wrap="none" anchor="t" lIns="0" rIns="0" tIns="0" bIns="0">
            <a:noAutofit/>
          </a:bodyPr>
          <a:lstStyle/>
          <a:p>
            <a:pPr algn="l">
              <a:lnSpc>
                <a:spcPts val="1125"/>
              </a:lnSpc>
              <a:spcBef>
                <a:spcPts val="0"/>
              </a:spcBef>
              <a:spcAft>
                <a:spcPts val="0"/>
              </a:spcAft>
            </a:pPr>
            <a:r>
              <a:rPr sz="900" b="0">
                <a:solidFill>
                  <a:srgbClr val="8A9AB5"/>
                </a:solidFill>
                <a:latin typeface="Arial"/>
              </a:rPr>
              <a:t>GPN 08 · Gerakan Persatuan Nasional 08</a:t>
            </a:r>
          </a:p>
        </p:txBody>
      </p:sp>
      <p:sp>
        <p:nvSpPr>
          <p:cNvPr id="5" name="TextBox 4"/>
          <p:cNvSpPr txBox="1"/>
          <p:nvPr/>
        </p:nvSpPr>
        <p:spPr>
          <a:xfrm>
            <a:off x="10312400" y="6489700"/>
            <a:ext cx="1270000" cy="168275"/>
          </a:xfrm>
          <a:prstGeom prst="rect">
            <a:avLst/>
          </a:prstGeom>
          <a:noFill/>
        </p:spPr>
        <p:txBody>
          <a:bodyPr wrap="none" anchor="t" lIns="0" rIns="0" tIns="0" bIns="0">
            <a:noAutofit/>
          </a:bodyPr>
          <a:lstStyle/>
          <a:p>
            <a:pPr algn="r">
              <a:lnSpc>
                <a:spcPts val="1125"/>
              </a:lnSpc>
              <a:spcBef>
                <a:spcPts val="0"/>
              </a:spcBef>
              <a:spcAft>
                <a:spcPts val="0"/>
              </a:spcAft>
            </a:pPr>
            <a:r>
              <a:rPr sz="900" b="1">
                <a:solidFill>
                  <a:srgbClr val="8A9AB5"/>
                </a:solidFill>
                <a:latin typeface="Arial"/>
              </a:rPr>
              <a:t>17 / 18</a:t>
            </a:r>
          </a:p>
        </p:txBody>
      </p:sp>
      <p:sp>
        <p:nvSpPr>
          <p:cNvPr id="6" name="TextBox 5"/>
          <p:cNvSpPr txBox="1"/>
          <p:nvPr/>
        </p:nvSpPr>
        <p:spPr>
          <a:xfrm>
            <a:off x="609600" y="812800"/>
            <a:ext cx="10972800" cy="463550"/>
          </a:xfrm>
          <a:prstGeom prst="rect">
            <a:avLst/>
          </a:prstGeom>
          <a:noFill/>
        </p:spPr>
        <p:txBody>
          <a:bodyPr wrap="none" anchor="t" lIns="0" rIns="0" tIns="0" bIns="0">
            <a:noAutofit/>
          </a:bodyPr>
          <a:lstStyle/>
          <a:p>
            <a:pPr algn="l">
              <a:lnSpc>
                <a:spcPts val="3450"/>
              </a:lnSpc>
              <a:spcBef>
                <a:spcPts val="0"/>
              </a:spcBef>
              <a:spcAft>
                <a:spcPts val="0"/>
              </a:spcAft>
            </a:pPr>
            <a:r>
              <a:rPr sz="3000" b="1">
                <a:solidFill>
                  <a:srgbClr val="071A36"/>
                </a:solidFill>
                <a:latin typeface="Arial"/>
              </a:rPr>
              <a:t>Langkah menuju penggunaan sungguhan</a:t>
            </a:r>
          </a:p>
        </p:txBody>
      </p:sp>
      <p:cxnSp>
        <p:nvCxnSpPr>
          <p:cNvPr id="7" name="Connector 6"/>
          <p:cNvCxnSpPr/>
          <p:nvPr/>
        </p:nvCxnSpPr>
        <p:spPr>
          <a:xfrm>
            <a:off x="863600" y="2019300"/>
            <a:ext cx="10464800" cy="0"/>
          </a:xfrm>
          <a:prstGeom prst="line">
            <a:avLst/>
          </a:prstGeom>
          <a:ln w="19050">
            <a:solidFill>
              <a:srgbClr val="DCE4EF"/>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4700" y="1930400"/>
            <a:ext cx="177800" cy="1778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09600" y="2349500"/>
            <a:ext cx="3522133" cy="3556000"/>
          </a:xfrm>
          <a:prstGeom prst="roundRect">
            <a:avLst>
              <a:gd name="adj" fmla="val 3605"/>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3600" y="2603500"/>
            <a:ext cx="1270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8A9AB5"/>
                </a:solidFill>
                <a:latin typeface="Arial"/>
              </a:rPr>
              <a:t>TAHAP 1</a:t>
            </a:r>
          </a:p>
        </p:txBody>
      </p:sp>
      <p:sp>
        <p:nvSpPr>
          <p:cNvPr id="11" name="Rounded Rectangle 10"/>
          <p:cNvSpPr/>
          <p:nvPr/>
        </p:nvSpPr>
        <p:spPr>
          <a:xfrm>
            <a:off x="2925233" y="2565400"/>
            <a:ext cx="719435" cy="19050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925233" y="2585244"/>
            <a:ext cx="719435"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47857"/>
                </a:solidFill>
                <a:latin typeface="Arial"/>
              </a:rPr>
              <a:t>SELESAI</a:t>
            </a:r>
          </a:p>
        </p:txBody>
      </p:sp>
      <p:sp>
        <p:nvSpPr>
          <p:cNvPr id="13" name="TextBox 12"/>
          <p:cNvSpPr txBox="1"/>
          <p:nvPr/>
        </p:nvSpPr>
        <p:spPr>
          <a:xfrm>
            <a:off x="863600" y="2870200"/>
            <a:ext cx="3014133" cy="438150"/>
          </a:xfrm>
          <a:prstGeom prst="rect">
            <a:avLst/>
          </a:prstGeom>
          <a:noFill/>
        </p:spPr>
        <p:txBody>
          <a:bodyPr wrap="none" anchor="t" lIns="0" rIns="0" tIns="0" bIns="0">
            <a:noAutofit/>
          </a:bodyPr>
          <a:lstStyle/>
          <a:p>
            <a:pPr algn="l">
              <a:lnSpc>
                <a:spcPts val="3250"/>
              </a:lnSpc>
              <a:spcBef>
                <a:spcPts val="0"/>
              </a:spcBef>
              <a:spcAft>
                <a:spcPts val="0"/>
              </a:spcAft>
            </a:pPr>
            <a:r>
              <a:rPr sz="2600" b="1">
                <a:solidFill>
                  <a:srgbClr val="071A36"/>
                </a:solidFill>
                <a:latin typeface="Arial"/>
              </a:rPr>
              <a:t>Demo &amp; Validasi</a:t>
            </a:r>
          </a:p>
        </p:txBody>
      </p:sp>
      <p:sp>
        <p:nvSpPr>
          <p:cNvPr id="14" name="Rounded Rectangle 13"/>
          <p:cNvSpPr/>
          <p:nvPr/>
        </p:nvSpPr>
        <p:spPr>
          <a:xfrm>
            <a:off x="863600" y="34671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016000" y="365125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06500" y="36068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Portal publik &amp; profil organisasi</a:t>
            </a:r>
          </a:p>
        </p:txBody>
      </p:sp>
      <p:sp>
        <p:nvSpPr>
          <p:cNvPr id="17" name="Rounded Rectangle 16"/>
          <p:cNvSpPr/>
          <p:nvPr/>
        </p:nvSpPr>
        <p:spPr>
          <a:xfrm>
            <a:off x="863600" y="40259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6000" y="421005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06500" y="41656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Peta nasional CPSS</a:t>
            </a:r>
          </a:p>
        </p:txBody>
      </p:sp>
      <p:sp>
        <p:nvSpPr>
          <p:cNvPr id="20" name="Rounded Rectangle 19"/>
          <p:cNvSpPr/>
          <p:nvPr/>
        </p:nvSpPr>
        <p:spPr>
          <a:xfrm>
            <a:off x="863600" y="45847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16000" y="476885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06500" y="47244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Alur persetujuan berjenjang</a:t>
            </a:r>
          </a:p>
        </p:txBody>
      </p:sp>
      <p:sp>
        <p:nvSpPr>
          <p:cNvPr id="23" name="Rounded Rectangle 22"/>
          <p:cNvSpPr/>
          <p:nvPr/>
        </p:nvSpPr>
        <p:spPr>
          <a:xfrm>
            <a:off x="863600" y="51435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16000" y="5327650"/>
            <a:ext cx="76200" cy="76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06500" y="52832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Uji coba di GitHub Pages</a:t>
            </a:r>
          </a:p>
        </p:txBody>
      </p:sp>
      <p:sp>
        <p:nvSpPr>
          <p:cNvPr id="26" name="Oval 25"/>
          <p:cNvSpPr/>
          <p:nvPr/>
        </p:nvSpPr>
        <p:spPr>
          <a:xfrm>
            <a:off x="4500033" y="1930400"/>
            <a:ext cx="177800" cy="1778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4334933" y="2349500"/>
            <a:ext cx="3522133" cy="3556000"/>
          </a:xfrm>
          <a:prstGeom prst="roundRect">
            <a:avLst>
              <a:gd name="adj" fmla="val 3605"/>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588933" y="2603500"/>
            <a:ext cx="1270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8A9AB5"/>
                </a:solidFill>
                <a:latin typeface="Arial"/>
              </a:rPr>
              <a:t>TAHAP 2</a:t>
            </a:r>
          </a:p>
        </p:txBody>
      </p:sp>
      <p:sp>
        <p:nvSpPr>
          <p:cNvPr id="29" name="Rounded Rectangle 28"/>
          <p:cNvSpPr/>
          <p:nvPr/>
        </p:nvSpPr>
        <p:spPr>
          <a:xfrm>
            <a:off x="6650567" y="2565400"/>
            <a:ext cx="982960" cy="1905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650567" y="2585244"/>
            <a:ext cx="982960"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0369A1"/>
                </a:solidFill>
                <a:latin typeface="Arial"/>
              </a:rPr>
              <a:t>BERIKUTNYA</a:t>
            </a:r>
          </a:p>
        </p:txBody>
      </p:sp>
      <p:sp>
        <p:nvSpPr>
          <p:cNvPr id="31" name="TextBox 30"/>
          <p:cNvSpPr txBox="1"/>
          <p:nvPr/>
        </p:nvSpPr>
        <p:spPr>
          <a:xfrm>
            <a:off x="4588933" y="2870200"/>
            <a:ext cx="3014133" cy="438150"/>
          </a:xfrm>
          <a:prstGeom prst="rect">
            <a:avLst/>
          </a:prstGeom>
          <a:noFill/>
        </p:spPr>
        <p:txBody>
          <a:bodyPr wrap="none" anchor="t" lIns="0" rIns="0" tIns="0" bIns="0">
            <a:noAutofit/>
          </a:bodyPr>
          <a:lstStyle/>
          <a:p>
            <a:pPr algn="l">
              <a:lnSpc>
                <a:spcPts val="3250"/>
              </a:lnSpc>
              <a:spcBef>
                <a:spcPts val="0"/>
              </a:spcBef>
              <a:spcAft>
                <a:spcPts val="0"/>
              </a:spcAft>
            </a:pPr>
            <a:r>
              <a:rPr sz="2600" b="1">
                <a:solidFill>
                  <a:srgbClr val="071A36"/>
                </a:solidFill>
                <a:latin typeface="Arial"/>
              </a:rPr>
              <a:t>Produksi</a:t>
            </a:r>
          </a:p>
        </p:txBody>
      </p:sp>
      <p:sp>
        <p:nvSpPr>
          <p:cNvPr id="32" name="Rounded Rectangle 31"/>
          <p:cNvSpPr/>
          <p:nvPr/>
        </p:nvSpPr>
        <p:spPr>
          <a:xfrm>
            <a:off x="4588933" y="34671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741333" y="365125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931833" y="36068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Server, domain resmi &amp; HTTPS</a:t>
            </a:r>
          </a:p>
        </p:txBody>
      </p:sp>
      <p:sp>
        <p:nvSpPr>
          <p:cNvPr id="35" name="Rounded Rectangle 34"/>
          <p:cNvSpPr/>
          <p:nvPr/>
        </p:nvSpPr>
        <p:spPr>
          <a:xfrm>
            <a:off x="4588933" y="40259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4741333" y="421005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931833" y="41656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Basis data PostgreSQL terpusat</a:t>
            </a:r>
          </a:p>
        </p:txBody>
      </p:sp>
      <p:sp>
        <p:nvSpPr>
          <p:cNvPr id="38" name="Rounded Rectangle 37"/>
          <p:cNvSpPr/>
          <p:nvPr/>
        </p:nvSpPr>
        <p:spPr>
          <a:xfrm>
            <a:off x="4588933" y="45847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4741333" y="476885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931833" y="47244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Input data resmi pengurus &amp; titik</a:t>
            </a:r>
          </a:p>
        </p:txBody>
      </p:sp>
      <p:sp>
        <p:nvSpPr>
          <p:cNvPr id="41" name="Rounded Rectangle 40"/>
          <p:cNvSpPr/>
          <p:nvPr/>
        </p:nvSpPr>
        <p:spPr>
          <a:xfrm>
            <a:off x="4588933" y="51435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4741333" y="5327650"/>
            <a:ext cx="76200" cy="7620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931833" y="52832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Pelatihan admin DPW dan DPP</a:t>
            </a:r>
          </a:p>
        </p:txBody>
      </p:sp>
      <p:sp>
        <p:nvSpPr>
          <p:cNvPr id="44" name="Oval 43"/>
          <p:cNvSpPr/>
          <p:nvPr/>
        </p:nvSpPr>
        <p:spPr>
          <a:xfrm>
            <a:off x="8225367" y="1930400"/>
            <a:ext cx="177800" cy="1778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8060267" y="2349500"/>
            <a:ext cx="3522133" cy="3556000"/>
          </a:xfrm>
          <a:prstGeom prst="roundRect">
            <a:avLst>
              <a:gd name="adj" fmla="val 3605"/>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314267" y="2603500"/>
            <a:ext cx="1270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8A9AB5"/>
                </a:solidFill>
                <a:latin typeface="Arial"/>
              </a:rPr>
              <a:t>TAHAP 3</a:t>
            </a:r>
          </a:p>
        </p:txBody>
      </p:sp>
      <p:sp>
        <p:nvSpPr>
          <p:cNvPr id="47" name="Rounded Rectangle 46"/>
          <p:cNvSpPr/>
          <p:nvPr/>
        </p:nvSpPr>
        <p:spPr>
          <a:xfrm>
            <a:off x="10375900" y="2565400"/>
            <a:ext cx="806351" cy="1905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375900" y="2585244"/>
            <a:ext cx="806351" cy="176212"/>
          </a:xfrm>
          <a:prstGeom prst="rect">
            <a:avLst/>
          </a:prstGeom>
          <a:noFill/>
        </p:spPr>
        <p:txBody>
          <a:bodyPr wrap="none" anchor="t" lIns="0" rIns="0" tIns="0" bIns="0">
            <a:noAutofit/>
          </a:bodyPr>
          <a:lstStyle/>
          <a:p>
            <a:pPr algn="ctr">
              <a:lnSpc>
                <a:spcPts val="1187"/>
              </a:lnSpc>
              <a:spcBef>
                <a:spcPts val="0"/>
              </a:spcBef>
              <a:spcAft>
                <a:spcPts val="0"/>
              </a:spcAft>
            </a:pPr>
            <a:r>
              <a:rPr sz="950" b="1">
                <a:solidFill>
                  <a:srgbClr val="B45309"/>
                </a:solidFill>
                <a:latin typeface="Arial"/>
              </a:rPr>
              <a:t>RENCANA</a:t>
            </a:r>
          </a:p>
        </p:txBody>
      </p:sp>
      <p:sp>
        <p:nvSpPr>
          <p:cNvPr id="49" name="TextBox 48"/>
          <p:cNvSpPr txBox="1"/>
          <p:nvPr/>
        </p:nvSpPr>
        <p:spPr>
          <a:xfrm>
            <a:off x="8314267" y="2870200"/>
            <a:ext cx="3014133" cy="438150"/>
          </a:xfrm>
          <a:prstGeom prst="rect">
            <a:avLst/>
          </a:prstGeom>
          <a:noFill/>
        </p:spPr>
        <p:txBody>
          <a:bodyPr wrap="none" anchor="t" lIns="0" rIns="0" tIns="0" bIns="0">
            <a:noAutofit/>
          </a:bodyPr>
          <a:lstStyle/>
          <a:p>
            <a:pPr algn="l">
              <a:lnSpc>
                <a:spcPts val="3250"/>
              </a:lnSpc>
              <a:spcBef>
                <a:spcPts val="0"/>
              </a:spcBef>
              <a:spcAft>
                <a:spcPts val="0"/>
              </a:spcAft>
            </a:pPr>
            <a:r>
              <a:rPr sz="2600" b="1">
                <a:solidFill>
                  <a:srgbClr val="071A36"/>
                </a:solidFill>
                <a:latin typeface="Arial"/>
              </a:rPr>
              <a:t>Pengembangan</a:t>
            </a:r>
          </a:p>
        </p:txBody>
      </p:sp>
      <p:sp>
        <p:nvSpPr>
          <p:cNvPr id="50" name="Rounded Rectangle 49"/>
          <p:cNvSpPr/>
          <p:nvPr/>
        </p:nvSpPr>
        <p:spPr>
          <a:xfrm>
            <a:off x="8314267" y="34671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8466667" y="3651250"/>
            <a:ext cx="76200" cy="76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657167" y="36068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Unggah foto lokasi pengajuan</a:t>
            </a:r>
          </a:p>
        </p:txBody>
      </p:sp>
      <p:sp>
        <p:nvSpPr>
          <p:cNvPr id="53" name="Rounded Rectangle 52"/>
          <p:cNvSpPr/>
          <p:nvPr/>
        </p:nvSpPr>
        <p:spPr>
          <a:xfrm>
            <a:off x="8314267" y="40259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8466667" y="4210050"/>
            <a:ext cx="76200" cy="76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8657167" y="41656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Akun login untuk anggota aktif</a:t>
            </a:r>
          </a:p>
        </p:txBody>
      </p:sp>
      <p:sp>
        <p:nvSpPr>
          <p:cNvPr id="56" name="Rounded Rectangle 55"/>
          <p:cNvSpPr/>
          <p:nvPr/>
        </p:nvSpPr>
        <p:spPr>
          <a:xfrm>
            <a:off x="8314267" y="45847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466667" y="4768850"/>
            <a:ext cx="76200" cy="76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657167" y="47244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Laporan &amp; ekspor data</a:t>
            </a:r>
          </a:p>
        </p:txBody>
      </p:sp>
      <p:sp>
        <p:nvSpPr>
          <p:cNvPr id="59" name="Rounded Rectangle 58"/>
          <p:cNvSpPr/>
          <p:nvPr/>
        </p:nvSpPr>
        <p:spPr>
          <a:xfrm>
            <a:off x="8314267" y="5143500"/>
            <a:ext cx="3014133" cy="4445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8466667" y="5327650"/>
            <a:ext cx="76200" cy="76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8657167" y="5283200"/>
            <a:ext cx="2569633" cy="239712"/>
          </a:xfrm>
          <a:prstGeom prst="rect">
            <a:avLst/>
          </a:prstGeom>
          <a:noFill/>
        </p:spPr>
        <p:txBody>
          <a:bodyPr wrap="none" anchor="t" lIns="0" rIns="0" tIns="0" bIns="0">
            <a:noAutofit/>
          </a:bodyPr>
          <a:lstStyle/>
          <a:p>
            <a:pPr algn="l">
              <a:lnSpc>
                <a:spcPts val="1687"/>
              </a:lnSpc>
              <a:spcBef>
                <a:spcPts val="0"/>
              </a:spcBef>
              <a:spcAft>
                <a:spcPts val="0"/>
              </a:spcAft>
            </a:pPr>
            <a:r>
              <a:rPr sz="1350" b="0">
                <a:solidFill>
                  <a:srgbClr val="071A36"/>
                </a:solidFill>
                <a:latin typeface="Arial"/>
              </a:rPr>
              <a:t>Pemantauan operasional titik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1A36"/>
        </a:solidFill>
        <a:effectLst/>
      </p:bgPr>
    </p:bg>
    <p:spTree>
      <p:nvGrpSpPr>
        <p:cNvPr id="1" name=""/>
        <p:cNvGrpSpPr/>
        <p:nvPr/>
      </p:nvGrpSpPr>
      <p:grpSpPr/>
      <p:sp>
        <p:nvSpPr>
          <p:cNvPr id="2" name="Oval 1"/>
          <p:cNvSpPr/>
          <p:nvPr/>
        </p:nvSpPr>
        <p:spPr>
          <a:xfrm>
            <a:off x="-1651000" y="-1905000"/>
            <a:ext cx="5715000" cy="5715000"/>
          </a:xfrm>
          <a:prstGeom prst="ellipse">
            <a:avLst/>
          </a:prstGeom>
          <a:solidFill>
            <a:srgbClr val="E01729">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017000" y="4064000"/>
            <a:ext cx="4826000" cy="4826000"/>
          </a:xfrm>
          <a:prstGeom prst="ellipse">
            <a:avLst/>
          </a:prstGeom>
          <a:solidFill>
            <a:srgbClr val="0EA5E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reeform 3"/>
          <p:cNvSpPr/>
          <p:nvPr/>
        </p:nvSpPr>
        <p:spPr>
          <a:xfrm>
            <a:off x="660400" y="558800"/>
            <a:ext cx="304800" cy="355600"/>
          </a:xfrm>
          <a:custGeom>
            <a:avLst/>
            <a:gdLst/>
            <a:ahLst/>
            <a:cxnLst/>
            <a:rect l="l" t="t" r="r" b="b"/>
            <a:pathLst>
              <a:path w="304800" h="355600">
                <a:moveTo>
                  <a:pt x="152400" y="0"/>
                </a:moveTo>
                <a:lnTo>
                  <a:pt x="304800" y="55880"/>
                </a:lnTo>
                <a:lnTo>
                  <a:pt x="304800" y="165100"/>
                </a:lnTo>
                <a:lnTo>
                  <a:pt x="287867" y="237067"/>
                </a:lnTo>
                <a:lnTo>
                  <a:pt x="237067" y="304800"/>
                </a:lnTo>
                <a:lnTo>
                  <a:pt x="152400" y="355600"/>
                </a:lnTo>
                <a:lnTo>
                  <a:pt x="67733" y="304800"/>
                </a:lnTo>
                <a:lnTo>
                  <a:pt x="16933" y="237067"/>
                </a:lnTo>
                <a:lnTo>
                  <a:pt x="0" y="165100"/>
                </a:lnTo>
                <a:lnTo>
                  <a:pt x="0" y="55880"/>
                </a:lnTo>
                <a:close/>
              </a:path>
            </a:pathLst>
          </a:cu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753533" y="639233"/>
            <a:ext cx="116840" cy="194734"/>
          </a:xfrm>
          <a:custGeom>
            <a:avLst/>
            <a:gdLst/>
            <a:ahLst/>
            <a:cxnLst/>
            <a:rect l="l" t="t" r="r" b="b"/>
            <a:pathLst>
              <a:path w="116840" h="194734">
                <a:moveTo>
                  <a:pt x="75354" y="0"/>
                </a:moveTo>
                <a:lnTo>
                  <a:pt x="0" y="115994"/>
                </a:lnTo>
                <a:lnTo>
                  <a:pt x="49954" y="115994"/>
                </a:lnTo>
                <a:lnTo>
                  <a:pt x="39794" y="194734"/>
                </a:lnTo>
                <a:lnTo>
                  <a:pt x="116840" y="74507"/>
                </a:lnTo>
                <a:lnTo>
                  <a:pt x="64347" y="74507"/>
                </a:lnTo>
                <a:close/>
              </a:path>
            </a:pathLst>
          </a:cu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17600" y="571500"/>
            <a:ext cx="2540000" cy="342900"/>
          </a:xfrm>
          <a:prstGeom prst="rect">
            <a:avLst/>
          </a:prstGeom>
          <a:noFill/>
        </p:spPr>
        <p:txBody>
          <a:bodyPr wrap="none" anchor="t" lIns="0" rIns="0" tIns="0" bIns="0">
            <a:noAutofit/>
          </a:bodyPr>
          <a:lstStyle/>
          <a:p>
            <a:pPr algn="l">
              <a:lnSpc>
                <a:spcPts val="2500"/>
              </a:lnSpc>
              <a:spcBef>
                <a:spcPts val="0"/>
              </a:spcBef>
              <a:spcAft>
                <a:spcPts val="0"/>
              </a:spcAft>
            </a:pPr>
            <a:r>
              <a:rPr sz="2000" b="1">
                <a:solidFill>
                  <a:srgbClr val="FFFFFF"/>
                </a:solidFill>
                <a:latin typeface="Arial"/>
              </a:rPr>
              <a:t>GPN 08</a:t>
            </a:r>
          </a:p>
        </p:txBody>
      </p:sp>
      <p:sp>
        <p:nvSpPr>
          <p:cNvPr id="7" name="TextBox 6"/>
          <p:cNvSpPr txBox="1"/>
          <p:nvPr/>
        </p:nvSpPr>
        <p:spPr>
          <a:xfrm>
            <a:off x="1117600" y="812800"/>
            <a:ext cx="3175000" cy="168275"/>
          </a:xfrm>
          <a:prstGeom prst="rect">
            <a:avLst/>
          </a:prstGeom>
          <a:noFill/>
        </p:spPr>
        <p:txBody>
          <a:bodyPr wrap="none" anchor="t" lIns="0" rIns="0" tIns="0" bIns="0">
            <a:noAutofit/>
          </a:bodyPr>
          <a:lstStyle/>
          <a:p>
            <a:pPr algn="l">
              <a:lnSpc>
                <a:spcPts val="1125"/>
              </a:lnSpc>
              <a:spcBef>
                <a:spcPts val="0"/>
              </a:spcBef>
              <a:spcAft>
                <a:spcPts val="0"/>
              </a:spcAft>
            </a:pPr>
            <a:r>
              <a:rPr sz="900" b="1">
                <a:solidFill>
                  <a:srgbClr val="8A9AB5"/>
                </a:solidFill>
                <a:latin typeface="Arial"/>
              </a:rPr>
              <a:t>GERAKAN PERSATUAN NASIONAL</a:t>
            </a:r>
          </a:p>
        </p:txBody>
      </p:sp>
      <p:sp>
        <p:nvSpPr>
          <p:cNvPr id="8" name="TextBox 7"/>
          <p:cNvSpPr txBox="1"/>
          <p:nvPr/>
        </p:nvSpPr>
        <p:spPr>
          <a:xfrm>
            <a:off x="609600" y="1841500"/>
            <a:ext cx="5461000" cy="807720"/>
          </a:xfrm>
          <a:prstGeom prst="rect">
            <a:avLst/>
          </a:prstGeom>
          <a:noFill/>
        </p:spPr>
        <p:txBody>
          <a:bodyPr wrap="none" anchor="t" lIns="0" rIns="0" tIns="0" bIns="0">
            <a:noAutofit/>
          </a:bodyPr>
          <a:lstStyle/>
          <a:p>
            <a:pPr algn="l">
              <a:lnSpc>
                <a:spcPts val="6160"/>
              </a:lnSpc>
              <a:spcBef>
                <a:spcPts val="0"/>
              </a:spcBef>
              <a:spcAft>
                <a:spcPts val="0"/>
              </a:spcAft>
            </a:pPr>
            <a:r>
              <a:rPr sz="5600" b="1">
                <a:solidFill>
                  <a:srgbClr val="FFFFFF"/>
                </a:solidFill>
                <a:latin typeface="Arial"/>
              </a:rPr>
              <a:t>Terima kasih.</a:t>
            </a:r>
          </a:p>
        </p:txBody>
      </p:sp>
      <p:sp>
        <p:nvSpPr>
          <p:cNvPr id="9" name="TextBox 8"/>
          <p:cNvSpPr txBox="1"/>
          <p:nvPr/>
        </p:nvSpPr>
        <p:spPr>
          <a:xfrm>
            <a:off x="609600" y="2921000"/>
            <a:ext cx="4826000" cy="651510"/>
          </a:xfrm>
          <a:prstGeom prst="rect">
            <a:avLst/>
          </a:prstGeom>
          <a:noFill/>
        </p:spPr>
        <p:txBody>
          <a:bodyPr wrap="none" anchor="t" lIns="0" rIns="0" tIns="0" bIns="0">
            <a:noAutofit/>
          </a:bodyPr>
          <a:lstStyle/>
          <a:p>
            <a:pPr algn="l">
              <a:lnSpc>
                <a:spcPts val="2465"/>
              </a:lnSpc>
              <a:spcBef>
                <a:spcPts val="0"/>
              </a:spcBef>
              <a:spcAft>
                <a:spcPts val="0"/>
              </a:spcAft>
            </a:pPr>
            <a:r>
              <a:rPr sz="1700" b="0">
                <a:solidFill>
                  <a:srgbClr val="B8C4D8"/>
                </a:solidFill>
                <a:latin typeface="Arial"/>
              </a:rPr>
              <a:t>Silakan coba demo langsung dan sampaikan</a:t>
            </a:r>
          </a:p>
          <a:p>
            <a:pPr algn="l">
              <a:lnSpc>
                <a:spcPts val="2465"/>
              </a:lnSpc>
              <a:spcBef>
                <a:spcPts val="0"/>
              </a:spcBef>
              <a:spcAft>
                <a:spcPts val="0"/>
              </a:spcAft>
            </a:pPr>
            <a:r>
              <a:rPr sz="1700" b="0">
                <a:solidFill>
                  <a:srgbClr val="B8C4D8"/>
                </a:solidFill>
                <a:latin typeface="Arial"/>
              </a:rPr>
              <a:t>masukan untuk tahap berikutnya.</a:t>
            </a:r>
          </a:p>
        </p:txBody>
      </p:sp>
      <p:sp>
        <p:nvSpPr>
          <p:cNvPr id="10" name="Rounded Rectangle 9"/>
          <p:cNvSpPr/>
          <p:nvPr/>
        </p:nvSpPr>
        <p:spPr>
          <a:xfrm>
            <a:off x="609600" y="3810000"/>
            <a:ext cx="4826000" cy="952500"/>
          </a:xfrm>
          <a:prstGeom prst="roundRect">
            <a:avLst>
              <a:gd name="adj" fmla="val 13333"/>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9000" y="4000500"/>
            <a:ext cx="38100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FFD5D9"/>
                </a:solidFill>
                <a:latin typeface="Arial"/>
              </a:rPr>
              <a:t>BUKA DEMO</a:t>
            </a:r>
          </a:p>
        </p:txBody>
      </p:sp>
      <p:sp>
        <p:nvSpPr>
          <p:cNvPr id="12" name="TextBox 11"/>
          <p:cNvSpPr txBox="1"/>
          <p:nvPr/>
        </p:nvSpPr>
        <p:spPr>
          <a:xfrm>
            <a:off x="889000" y="4229100"/>
            <a:ext cx="4445000" cy="501650"/>
          </a:xfrm>
          <a:prstGeom prst="rect">
            <a:avLst/>
          </a:prstGeom>
          <a:noFill/>
        </p:spPr>
        <p:txBody>
          <a:bodyPr wrap="none" anchor="t" lIns="0" rIns="0" tIns="0" bIns="0">
            <a:noAutofit/>
          </a:bodyPr>
          <a:lstStyle/>
          <a:p>
            <a:pPr algn="l">
              <a:lnSpc>
                <a:spcPts val="3750"/>
              </a:lnSpc>
              <a:spcBef>
                <a:spcPts val="0"/>
              </a:spcBef>
              <a:spcAft>
                <a:spcPts val="0"/>
              </a:spcAft>
            </a:pPr>
            <a:r>
              <a:rPr sz="3000" b="1">
                <a:solidFill>
                  <a:srgbClr val="FFFFFF"/>
                </a:solidFill>
                <a:latin typeface="Arial"/>
              </a:rPr>
              <a:t>ahyo.github.io/gpn08</a:t>
            </a:r>
          </a:p>
        </p:txBody>
      </p:sp>
      <p:sp>
        <p:nvSpPr>
          <p:cNvPr id="13" name="TextBox 12"/>
          <p:cNvSpPr txBox="1"/>
          <p:nvPr/>
        </p:nvSpPr>
        <p:spPr>
          <a:xfrm>
            <a:off x="609600" y="5080000"/>
            <a:ext cx="4826000" cy="231775"/>
          </a:xfrm>
          <a:prstGeom prst="rect">
            <a:avLst/>
          </a:prstGeom>
          <a:noFill/>
        </p:spPr>
        <p:txBody>
          <a:bodyPr wrap="none" anchor="t" lIns="0" rIns="0" tIns="0" bIns="0">
            <a:noAutofit/>
          </a:bodyPr>
          <a:lstStyle/>
          <a:p>
            <a:pPr algn="l">
              <a:lnSpc>
                <a:spcPts val="1625"/>
              </a:lnSpc>
              <a:spcBef>
                <a:spcPts val="0"/>
              </a:spcBef>
              <a:spcAft>
                <a:spcPts val="0"/>
              </a:spcAft>
            </a:pPr>
            <a:r>
              <a:rPr sz="1300" b="0">
                <a:solidFill>
                  <a:srgbClr val="8A9AB5"/>
                </a:solidFill>
                <a:latin typeface="Arial"/>
              </a:rPr>
              <a:t>Kode sumber: github.com/ahyo/gpn08</a:t>
            </a:r>
          </a:p>
        </p:txBody>
      </p:sp>
      <p:sp>
        <p:nvSpPr>
          <p:cNvPr id="14" name="Rounded Rectangle 13"/>
          <p:cNvSpPr/>
          <p:nvPr/>
        </p:nvSpPr>
        <p:spPr>
          <a:xfrm>
            <a:off x="6413500" y="1460500"/>
            <a:ext cx="5168900" cy="4445000"/>
          </a:xfrm>
          <a:prstGeom prst="roundRect">
            <a:avLst>
              <a:gd name="adj" fmla="val 3142"/>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13500" y="1460500"/>
            <a:ext cx="5168900" cy="4445000"/>
          </a:xfrm>
          <a:prstGeom prst="roundRect">
            <a:avLst>
              <a:gd name="adj" fmla="val 3142"/>
            </a:avLst>
          </a:prstGeom>
          <a:noFill/>
          <a:ln w="12700">
            <a:solidFill>
              <a:srgbClr val="1D3B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18300" y="1752600"/>
            <a:ext cx="4559300" cy="200025"/>
          </a:xfrm>
          <a:prstGeom prst="rect">
            <a:avLst/>
          </a:prstGeom>
          <a:noFill/>
        </p:spPr>
        <p:txBody>
          <a:bodyPr wrap="none" anchor="t" lIns="0" rIns="0" tIns="0" bIns="0">
            <a:noAutofit/>
          </a:bodyPr>
          <a:lstStyle/>
          <a:p>
            <a:pPr algn="l">
              <a:lnSpc>
                <a:spcPts val="1375"/>
              </a:lnSpc>
              <a:spcBef>
                <a:spcPts val="0"/>
              </a:spcBef>
              <a:spcAft>
                <a:spcPts val="0"/>
              </a:spcAft>
            </a:pPr>
            <a:r>
              <a:rPr sz="1100" b="1">
                <a:solidFill>
                  <a:srgbClr val="F5C451"/>
                </a:solidFill>
                <a:latin typeface="Arial"/>
              </a:rPr>
              <a:t>AKUN DEMO</a:t>
            </a:r>
          </a:p>
        </p:txBody>
      </p:sp>
      <p:sp>
        <p:nvSpPr>
          <p:cNvPr id="17" name="TextBox 16"/>
          <p:cNvSpPr txBox="1"/>
          <p:nvPr/>
        </p:nvSpPr>
        <p:spPr>
          <a:xfrm>
            <a:off x="6718300" y="1981200"/>
            <a:ext cx="45593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FFFFFF"/>
                </a:solidFill>
                <a:latin typeface="Arial"/>
              </a:rPr>
              <a:t>Kata sandi semua akun: demo1234</a:t>
            </a:r>
          </a:p>
        </p:txBody>
      </p:sp>
      <p:sp>
        <p:nvSpPr>
          <p:cNvPr id="18" name="Rounded Rectangle 17"/>
          <p:cNvSpPr/>
          <p:nvPr/>
        </p:nvSpPr>
        <p:spPr>
          <a:xfrm>
            <a:off x="6718300" y="2476500"/>
            <a:ext cx="4559300" cy="927100"/>
          </a:xfrm>
          <a:prstGeom prst="roundRect">
            <a:avLst>
              <a:gd name="adj" fmla="val 10958"/>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896100" y="2686050"/>
            <a:ext cx="508000" cy="508000"/>
          </a:xfrm>
          <a:prstGeom prst="roundRect">
            <a:avLst>
              <a:gd name="adj" fmla="val 20000"/>
            </a:avLst>
          </a:prstGeom>
          <a:solidFill>
            <a:srgbClr val="E0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96100" y="2851150"/>
            <a:ext cx="508000" cy="263525"/>
          </a:xfrm>
          <a:prstGeom prst="rect">
            <a:avLst/>
          </a:prstGeom>
          <a:noFill/>
        </p:spPr>
        <p:txBody>
          <a:bodyPr wrap="none" anchor="t" lIns="0" rIns="0" tIns="0" bIns="0">
            <a:noAutofit/>
          </a:bodyPr>
          <a:lstStyle/>
          <a:p>
            <a:pPr algn="ctr">
              <a:lnSpc>
                <a:spcPts val="1875"/>
              </a:lnSpc>
              <a:spcBef>
                <a:spcPts val="0"/>
              </a:spcBef>
              <a:spcAft>
                <a:spcPts val="0"/>
              </a:spcAft>
            </a:pPr>
            <a:r>
              <a:rPr sz="1500" b="1">
                <a:solidFill>
                  <a:srgbClr val="FFFFFF"/>
                </a:solidFill>
                <a:latin typeface="Arial"/>
              </a:rPr>
              <a:t>DPP</a:t>
            </a:r>
          </a:p>
        </p:txBody>
      </p:sp>
      <p:sp>
        <p:nvSpPr>
          <p:cNvPr id="21" name="TextBox 20"/>
          <p:cNvSpPr txBox="1"/>
          <p:nvPr/>
        </p:nvSpPr>
        <p:spPr>
          <a:xfrm>
            <a:off x="7607300" y="2654300"/>
            <a:ext cx="32639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FFFFFF"/>
                </a:solidFill>
                <a:latin typeface="Arial"/>
              </a:rPr>
              <a:t>GPN 08 Pusat</a:t>
            </a:r>
          </a:p>
        </p:txBody>
      </p:sp>
      <p:sp>
        <p:nvSpPr>
          <p:cNvPr id="22" name="TextBox 21"/>
          <p:cNvSpPr txBox="1"/>
          <p:nvPr/>
        </p:nvSpPr>
        <p:spPr>
          <a:xfrm>
            <a:off x="7607300" y="2895600"/>
            <a:ext cx="32639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F5C451"/>
                </a:solidFill>
                <a:latin typeface="Arial"/>
              </a:rPr>
              <a:t>pusat@gpn08.id</a:t>
            </a:r>
          </a:p>
        </p:txBody>
      </p:sp>
      <p:sp>
        <p:nvSpPr>
          <p:cNvPr id="23" name="TextBox 22"/>
          <p:cNvSpPr txBox="1"/>
          <p:nvPr/>
        </p:nvSpPr>
        <p:spPr>
          <a:xfrm>
            <a:off x="7607300" y="3111500"/>
            <a:ext cx="3263900"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8A9AB5"/>
                </a:solidFill>
                <a:latin typeface="Arial"/>
              </a:rPr>
              <a:t>Persetujuan akhir</a:t>
            </a:r>
          </a:p>
        </p:txBody>
      </p:sp>
      <p:sp>
        <p:nvSpPr>
          <p:cNvPr id="24" name="Rounded Rectangle 23"/>
          <p:cNvSpPr/>
          <p:nvPr/>
        </p:nvSpPr>
        <p:spPr>
          <a:xfrm>
            <a:off x="6718300" y="3556000"/>
            <a:ext cx="4559300" cy="927100"/>
          </a:xfrm>
          <a:prstGeom prst="roundRect">
            <a:avLst>
              <a:gd name="adj" fmla="val 10958"/>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896100" y="3765550"/>
            <a:ext cx="508000" cy="508000"/>
          </a:xfrm>
          <a:prstGeom prst="roundRect">
            <a:avLst>
              <a:gd name="adj" fmla="val 20000"/>
            </a:avLst>
          </a:prstGeom>
          <a:solidFill>
            <a:srgbClr val="1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96100" y="3930650"/>
            <a:ext cx="508000" cy="263525"/>
          </a:xfrm>
          <a:prstGeom prst="rect">
            <a:avLst/>
          </a:prstGeom>
          <a:noFill/>
        </p:spPr>
        <p:txBody>
          <a:bodyPr wrap="none" anchor="t" lIns="0" rIns="0" tIns="0" bIns="0">
            <a:noAutofit/>
          </a:bodyPr>
          <a:lstStyle/>
          <a:p>
            <a:pPr algn="ctr">
              <a:lnSpc>
                <a:spcPts val="1875"/>
              </a:lnSpc>
              <a:spcBef>
                <a:spcPts val="0"/>
              </a:spcBef>
              <a:spcAft>
                <a:spcPts val="0"/>
              </a:spcAft>
            </a:pPr>
            <a:r>
              <a:rPr sz="1500" b="1">
                <a:solidFill>
                  <a:srgbClr val="FFFFFF"/>
                </a:solidFill>
                <a:latin typeface="Arial"/>
              </a:rPr>
              <a:t>DPW</a:t>
            </a:r>
          </a:p>
        </p:txBody>
      </p:sp>
      <p:sp>
        <p:nvSpPr>
          <p:cNvPr id="27" name="TextBox 26"/>
          <p:cNvSpPr txBox="1"/>
          <p:nvPr/>
        </p:nvSpPr>
        <p:spPr>
          <a:xfrm>
            <a:off x="7607300" y="3733800"/>
            <a:ext cx="32639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FFFFFF"/>
                </a:solidFill>
                <a:latin typeface="Arial"/>
              </a:rPr>
              <a:t>Provinsi Jawa Barat</a:t>
            </a:r>
          </a:p>
        </p:txBody>
      </p:sp>
      <p:sp>
        <p:nvSpPr>
          <p:cNvPr id="28" name="TextBox 27"/>
          <p:cNvSpPr txBox="1"/>
          <p:nvPr/>
        </p:nvSpPr>
        <p:spPr>
          <a:xfrm>
            <a:off x="7607300" y="3975100"/>
            <a:ext cx="32639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F5C451"/>
                </a:solidFill>
                <a:latin typeface="Arial"/>
              </a:rPr>
              <a:t>provinsi@gpn08.id</a:t>
            </a:r>
          </a:p>
        </p:txBody>
      </p:sp>
      <p:sp>
        <p:nvSpPr>
          <p:cNvPr id="29" name="TextBox 28"/>
          <p:cNvSpPr txBox="1"/>
          <p:nvPr/>
        </p:nvSpPr>
        <p:spPr>
          <a:xfrm>
            <a:off x="7607300" y="4191000"/>
            <a:ext cx="3263900"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8A9AB5"/>
                </a:solidFill>
                <a:latin typeface="Arial"/>
              </a:rPr>
              <a:t>Verifikasi wilayah</a:t>
            </a:r>
          </a:p>
        </p:txBody>
      </p:sp>
      <p:sp>
        <p:nvSpPr>
          <p:cNvPr id="30" name="Rounded Rectangle 29"/>
          <p:cNvSpPr/>
          <p:nvPr/>
        </p:nvSpPr>
        <p:spPr>
          <a:xfrm>
            <a:off x="6718300" y="4635500"/>
            <a:ext cx="4559300" cy="927100"/>
          </a:xfrm>
          <a:prstGeom prst="roundRect">
            <a:avLst>
              <a:gd name="adj" fmla="val 10958"/>
            </a:avLst>
          </a:prstGeom>
          <a:solidFill>
            <a:srgbClr val="071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896100" y="4845050"/>
            <a:ext cx="508000" cy="508000"/>
          </a:xfrm>
          <a:prstGeom prst="roundRect">
            <a:avLst>
              <a:gd name="adj" fmla="val 20000"/>
            </a:avLst>
          </a:prstGeom>
          <a:solidFill>
            <a:srgbClr val="1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96100" y="5010150"/>
            <a:ext cx="508000" cy="263525"/>
          </a:xfrm>
          <a:prstGeom prst="rect">
            <a:avLst/>
          </a:prstGeom>
          <a:noFill/>
        </p:spPr>
        <p:txBody>
          <a:bodyPr wrap="none" anchor="t" lIns="0" rIns="0" tIns="0" bIns="0">
            <a:noAutofit/>
          </a:bodyPr>
          <a:lstStyle/>
          <a:p>
            <a:pPr algn="ctr">
              <a:lnSpc>
                <a:spcPts val="1875"/>
              </a:lnSpc>
              <a:spcBef>
                <a:spcPts val="0"/>
              </a:spcBef>
              <a:spcAft>
                <a:spcPts val="0"/>
              </a:spcAft>
            </a:pPr>
            <a:r>
              <a:rPr sz="1500" b="1">
                <a:solidFill>
                  <a:srgbClr val="FFFFFF"/>
                </a:solidFill>
                <a:latin typeface="Arial"/>
              </a:rPr>
              <a:t>DPD</a:t>
            </a:r>
          </a:p>
        </p:txBody>
      </p:sp>
      <p:sp>
        <p:nvSpPr>
          <p:cNvPr id="33" name="TextBox 32"/>
          <p:cNvSpPr txBox="1"/>
          <p:nvPr/>
        </p:nvSpPr>
        <p:spPr>
          <a:xfrm>
            <a:off x="7607300" y="4813300"/>
            <a:ext cx="3263900" cy="295275"/>
          </a:xfrm>
          <a:prstGeom prst="rect">
            <a:avLst/>
          </a:prstGeom>
          <a:noFill/>
        </p:spPr>
        <p:txBody>
          <a:bodyPr wrap="none" anchor="t" lIns="0" rIns="0" tIns="0" bIns="0">
            <a:noAutofit/>
          </a:bodyPr>
          <a:lstStyle/>
          <a:p>
            <a:pPr algn="l">
              <a:lnSpc>
                <a:spcPts val="2125"/>
              </a:lnSpc>
              <a:spcBef>
                <a:spcPts val="0"/>
              </a:spcBef>
              <a:spcAft>
                <a:spcPts val="0"/>
              </a:spcAft>
            </a:pPr>
            <a:r>
              <a:rPr sz="1700" b="1">
                <a:solidFill>
                  <a:srgbClr val="FFFFFF"/>
                </a:solidFill>
                <a:latin typeface="Arial"/>
              </a:rPr>
              <a:t>Kota Bandung</a:t>
            </a:r>
          </a:p>
        </p:txBody>
      </p:sp>
      <p:sp>
        <p:nvSpPr>
          <p:cNvPr id="34" name="TextBox 33"/>
          <p:cNvSpPr txBox="1"/>
          <p:nvPr/>
        </p:nvSpPr>
        <p:spPr>
          <a:xfrm>
            <a:off x="7607300" y="5054600"/>
            <a:ext cx="3263900" cy="247650"/>
          </a:xfrm>
          <a:prstGeom prst="rect">
            <a:avLst/>
          </a:prstGeom>
          <a:noFill/>
        </p:spPr>
        <p:txBody>
          <a:bodyPr wrap="none" anchor="t" lIns="0" rIns="0" tIns="0" bIns="0">
            <a:noAutofit/>
          </a:bodyPr>
          <a:lstStyle/>
          <a:p>
            <a:pPr algn="l">
              <a:lnSpc>
                <a:spcPts val="1750"/>
              </a:lnSpc>
              <a:spcBef>
                <a:spcPts val="0"/>
              </a:spcBef>
              <a:spcAft>
                <a:spcPts val="0"/>
              </a:spcAft>
            </a:pPr>
            <a:r>
              <a:rPr sz="1400" b="0">
                <a:solidFill>
                  <a:srgbClr val="F5C451"/>
                </a:solidFill>
                <a:latin typeface="Arial"/>
              </a:rPr>
              <a:t>kota@gpn08.id</a:t>
            </a:r>
          </a:p>
        </p:txBody>
      </p:sp>
      <p:sp>
        <p:nvSpPr>
          <p:cNvPr id="35" name="TextBox 34"/>
          <p:cNvSpPr txBox="1"/>
          <p:nvPr/>
        </p:nvSpPr>
        <p:spPr>
          <a:xfrm>
            <a:off x="7607300" y="5270500"/>
            <a:ext cx="3263900" cy="215900"/>
          </a:xfrm>
          <a:prstGeom prst="rect">
            <a:avLst/>
          </a:prstGeom>
          <a:noFill/>
        </p:spPr>
        <p:txBody>
          <a:bodyPr wrap="none" anchor="t" lIns="0" rIns="0" tIns="0" bIns="0">
            <a:noAutofit/>
          </a:bodyPr>
          <a:lstStyle/>
          <a:p>
            <a:pPr algn="l">
              <a:lnSpc>
                <a:spcPts val="1500"/>
              </a:lnSpc>
              <a:spcBef>
                <a:spcPts val="0"/>
              </a:spcBef>
              <a:spcAft>
                <a:spcPts val="0"/>
              </a:spcAft>
            </a:pPr>
            <a:r>
              <a:rPr sz="1200" b="0">
                <a:solidFill>
                  <a:srgbClr val="8A9AB5"/>
                </a:solidFill>
                <a:latin typeface="Arial"/>
              </a:rPr>
              <a:t>Pengajuan titik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